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7"/>
    <p:sldId id="287" r:id="rId38"/>
  </p:sldIdLst>
  <p:notesMasterIdLst>
    <p:notesMasterId r:id="rId3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slide" Target="slides/slide31.xml"/><Relationship Id="rId38"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口頭: 「今日は麻雀ゲームを題材に、SQLインジェクション、保存型XSS、IDORの三つを扱います。麻雀のルールを知っている必要は一切ありません。コードとDevToolsだけが頼りです。」
- 参加者規模や部屋名を伝える。ネットワークのSSIDや接続手順が特殊ならここで言及。
- 「このスライドに書かれているのはドラフトです — 開催日・講師名・実施回数は開催前に書き換えてください」と添える。
- 副題に挙げた3つの脆弱性名は、この後順に触れます。先に全部名は出さない派なら簡略化し、今日は「3つの課題」とだけ言って先へ進む。
- 右側の麻雀牌の大きい装飾は雰囲気を出すためのもので、麻雀の知識を前提にしません。「雰囲気だけ、牌の種類は気にしないでください」と1行添えるか、不要ならこの場を飛ばして問題に進んで構いません。
- 所要時間40分は目安で、当日の進み具合で±5分の幅を持たせて運用する旨を伝える。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「3つの課題をやります」と一回だけ宣言して、詳細は01〜03カードに分散。
- 「修了判定や認定証は今回ありません」と注意。完了報告を義務化しないことで心理ハードルを下げる。
- 講師から追加で「実プロダクトには一切触らない」「別Supabase」「一人で黙々と解く時間もある」と口頭で補足するとよい。
- 「観測できる成功条件」を参加者に意識させる重要性を強調 — 闇雲にクエリを叩くのではなく、何をもって成功とするかを最初に置く。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全体を3ブロック（SQLi / XSS / IDOR）に分けて見せる。各ブロックの左側の濃い帯が「個人が手を動かす時間」、右側の薄い帯が「講師が解説する時間」と伝える。
- 「提出してください」「提出UI」という言い回しはアプリ内に存在しないため使わない。講師は口頭で進捗をうかがい、必要なら補助する。
- 「事前試行で調整」と仕様にあった通り、時間の配分は目安。SQLiの実装で進捗が遅れそうなら、個別の補助を先にするか、XSSの段階ヒント公開を遅らせる。
- 「IDORは余裕がある参加者向け」「講師が前で実演」と明示しておく。当日の様子を見て、デモだけにするか・参加者に解かせるかも短時間で決めるとよい。
- 時間に余裕がある／ない場合のそれぞれの運用はスライド31（講師用：通信障害代替案）の隣に補足があるので参照。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「触ってよい範囲／触らないもの」を最初に口頭で読み合わせる。普段の業務と同じ感覚で踏み込まないよう、心理的な枠を最初に切る。
- 「Supabaseが別環境であること」「同じコードでも参加者ごとに状態分離」を強調。これにより、誰かが変な入力をしても他者の演習を壊さない。
- DevTools 3パネルを口頭で一度示すと後で楽。Mac の ⌥⌘I / Win の Ctrl+Shift+I をメモする参加者用に伝える。
- 「登録後、最初に DevTools を開いて 通信を見てみる」よう促す。別SupabaseのURL・トークンの出方を各自で確認しておくと、後の演習で楽。
- ここから先は問題スライドでは「アプリ内に問題文・ヒント・解答はない。スライドで提示する」と明示する。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「3つ並べます。この後05の問題スライドは開かず、06から順に進めます」と進行の動線を示す。
- 「問題3は余裕がある方向け」と一度だけ言い、必要なら「前半で詰まる参加者は、まず01と02に集中」と誘導。
- 「提出UIはありません」「講師が後ろで進捗を見て補助します」と心理的ハードルを下げる。
- 「事前試行で難易度を調整する予定」と口頭で一言添えると、想定外でも焦らない空気が出る。
- 難易度の判定は実装を見て最終的に調整。実装して感触が違うようなら、このカードの色（左上の帯）をその場で書き換えて構わない。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- 5秒で済ませてよい。「これから01をやります」と宣言し、黒板のように4つのカードを一度示すだけに留める。
- 「着手前に、現行UIの検索欄の名前と公開設定の実装状況を必ず確認する」と強調。これは参加者への戒めでもあるが、SQLiが実装に無く別の問題（例：API パラメータ名のtypoで何の脆弱性でもない）だった場合の保険にもなる。
- 提出UIがないことを繰り返さない（重複を避ける）。代わりに「10分で一区切り、詰まったら口頭で」とだけ伝える。
- 後方のDevToolsパネルで「着手前の確認」を強調するのは、参加者が闇雲に試み始めると「それ保全側でブロックされる系」の脆弱性でないことに気付けないリスクがあるため。観察のうえ始める。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このスライドは「問題文だけ」。解答や具体的な試入力、例は載せない。
- 「再現できたら講師を呼んで見せてください」と柔らかく伝える。参加者同士の競争ではなく観察を共有する時間。
- 「再現できたら」のあとは闇雲に試さず、1件見えたら止めて振り返りに進むよう促す。
— 答える側の動き：
- 着手した参加者が「検索欄のname属性が●●」と言ったらメモしてOK。あとで講師用スライドに反映するため。
- 数人が固まったらヒント1へ、固まらなければ数分待ち、口頭で「絞り込み条件を1つ加えてみましょうか」とだけ補助する。
— 講師が事前にローカル実装と実URLを開いておくこと。現場で確認できない入力・出力は、このスライドにも解答スライドにも書かない（モードで確認した場合は「模式図」と注記する）。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ヒント1はまだ答えに踏み込まない。「リクエストの形を見るだけ」
- 本文がBase64で送られるケースについて軽く触れる。これは本セッション外でも見られるため、暗号化のつもりで実装されたAPIと誤解されないよう口頭で「これは難読化であって暗号化ではない」と一言添える。
- 「参加者の状況を見て順次公開」とだけ書き、待つ時間を作る。あまり長く置きすぎず、固まったら次へ。
- DevToolsパネルの名称はNetworkタブが標準。ModesによってはHeaders/Payload/Responseの3点を最低限確認させたい。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ヒント2は答えに近づく。「常に真になる条件」「絞り込み条件が曲がるか」「フィールド名で」など、概念だけ示す。具体的なクエリ文字列はまだ載せない。
- Console でfetchを投げる手順を推奨。これは教材目的・同じリクエストを反復するため。アプリ画面の検索欄だけだと一回性が高く、観察しにくい。
- 「トークンをスライドに書き写さず、ご自身のDevToolsで確認した値を使う」と何度も繰り返すのは、本物のアクセストークンをここに書かないため。書くと漏洩事故になるので注意。
- 「500を返すかどうかは問わない」と注意。脆弱な実装では成功でフィールドが増えるのであって、エラーを観測することが目的ではない。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ヒント3は「WHERE句の外側から介入できれば」という概念だけ示す。具体的なクエリ例はまだ出さない。完全な答えは次スライド以降で。
- 解答は次のスライド11へ置くので、ここでは答えを書かない。
- 「1件取れたら一度止める」「大量取得は趣旨と外れる」と釘を刺す。攻撃の実演ではなく観察・理解が目的なので。
- 解けなくても次に進むと安心させる。ただし進行の途中で数人が終わりそうなら、残っている人が一人で噛めるよう隣で補助する。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どの値が「成功」と見えたかを示してから、入力を一つ示してConsoleでの再現手順を見せる。
- 「トークンは自分の通信から」と注意書きを毎回添える。教材URL上の本物のトークンをここに貼らないため。
- 教材実装の細部（実際のフィールド名、URL、ペイロード形）は開催日前に必ず実環境で確認し、このスライドに反映する。「試して見つけた一例」と言い切らず「一例」とまで留める。
- 画面にJSON例を出すときは模式的にしてよいが、「模式」かどうかで迷ったら注記する。
- 終わった人の補助は口頭で。次のコード比較へ。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左右に並べ、同じ画面で語句だけ変えて説明する。2〜3分の比較時間。
- 「連結 → パラメータ化」の本質は「値とコードを分離する」。テーマを一つ選んで、5回くらい言い換えてよい。
- 修正版は encodeURIComponent で示したが、本来 ORM/RPC がパラメータを取り扱う方法を推奨する。教材SDKがRPCを持っている場合はそちらを示してもよい。
- 「連結する前に直す」「URLに値を埋め込む前にエンコードする」「値を文字列として隔離する」と何度も別表現で言い換える。
— 発表中：参加者に「本番コードではどちらが許されるか？」と短く質問してから次に進む。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「同じ操作を入力しても、修正版では件数が増えない、確認できる」と挙動を対比。
- 「値とコードの境界がはっきりしている」を言い切りとして残す。
- パターン化：「連結は危ない」ではなく、「連結→コードと値の境界が崩れる」と表現する。
- ここで「確認したのは一例」と弱めないよう、観察された範囲として言い切る一方、別の絞り込み条件が書かれていればそれで挙動が変わる点も短く触れる。
- 次の実務観点（14）にそのまま流す。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実務観点：レビュー観点（左）と回帰テストパタン例（右）。
- 「フレームワークが守っているはずと思い込んでいないか」は強調。これは受講者の日常業務にも刺さる一文。
- パターンA/B/Cはあくまで例。教材実装に依存しすぎる例は避け、「概念的なパターン」を短く並べる。最重要は「公開フラグ付きユーザー件数で観測する」こと。
- 回帰テストは手動で十分だが、回帰スイートに1〜2件入れておくと後でも活きると伝える。
- 時間を1分だけ使い、15（XSS課題）へ。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「紙吹雪」をキーワードに、観察と1リクエストで再現する回と伝える。
- 教材に celebrate() 関数が用意されているため、本物の alert() や prompt()、location.href=などは使わない。celebrate() のみで再現することを確認する。
- XSS で「クリックして」「隣接ユーザーが踏む」のような他者起点の表現は避ける — 同一ブラウザ内で「あなたの環境で」動くことを確認する。
- 扱う範囲に注意 — XSSと一口に言っても外部スクリプト埋め込みは観察から外す、と短く伝える。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解答を書かない。celebrate() という関数名だけを伝える。
- 「プレビューで何が起きて、保存で何が起きて、ランキングで何が起きるかを分けて観察」と、各場面で分けて考えるよう促す。
- 「提出UIは無い」と短く添える。
- 教材に celebrate() があることを受講者が自分で気付く段階もあるので、ヒント1で「準備されている関数を観察」と薄く示唆する。
- 答えが見えたら「1回だけ試して、止めて、講師を呼ぶ」と釘を刺す。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「経路を点で切る」と表現し、4つの場面を分けて観察するように伝える。
- 試入力はまだ行わない。観察するだけ。
- プレビューは「安全に作られている」と感じる参加者がいるかもしれず、それはそれで正しい（教材のプレビューには無害化が入っているケースを後で扱う）。プレビューとランキング表示で扱いが違う可能性がある、とだけ示唆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プレビュー側（左）とランキング表示（右）をElementsパネルで並べると、参加者が自分の目で「安全そう」「怪しい」を分けられる。
- 模式図の右側はあくまで概念。教材実装での見え方は教材で確認した範囲で更新してほしい。
- 「プレビュー側はtextノード、ランキングは raw なHTMLかもしれない」と概念だけ示す。
- celebrate() の話はまだ.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ここでは答えの断片は書かず、概念だけ示す。「celebrate() を保存するだけで十分かもしれない」とだけ。
- 「他人の環境で動かさない」「自分の環境だけ」と釘を刺す。
- 1回成功したら止める。バリエーションを増やさない。
- 解答は20で。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経路を口頭で説明：入力→プレビュー→保存→ランキングとレンダリング — 最後にいるあなたのランキングが該当箇所。
- celebrate() は事前にグローバルへ用意されていると前置き。実際の関数の置き場所・命名は教材実装により変わる可能性あり。
- 1回成功させたら止める。バリエーションを増やさない、他人タブで動かさない。
- 「証拠コード確認（画面に見える）」と「API が保存受理したか」は別、と軽く吹聴。Education目的では、レスポンスが返って画面に出れば「証拠」段階成功で良いが、それを更に別経路で参照されても再現する＝「永続化されている」と区別したいと伝える。
- 提出UIは無いので「提出してください」とは言わない。
- うまくいった時点で次へ進む。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innerHTML と textContent の差を1分で。同じ文字列を扱う場所でも「HTML として流し込む」か「テキストとして置く」かで意味が変わる、と複数回言い換える。
- 「HTML として許すなら理由を言語化する」を持ち帰りにしたい一行として残す。
- 「一行差」だが影響は大きい、と強調。次へ。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「紙吹雪は出ない」「文字として見える」を端的に示す対比。
- 概念の中心は「同じデータが同じ場所を通っても、レンダリング側の選択で意味が変わる」。
- Elementalな見え方の細部は教材依存。Elementsで見比べるのが要点と伝える。
- 23（実務観点）へ流す。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「テンプレートが自動で escape してくれる」は現実には部分的 — 自動挿入・自動レンダリングの経路が混在すると破綻すると短く伝える。
- 「保存経路と表示経路が違うならそれぞれ別に確認」を持ち帰りに。
- 回帰例は概念的なもの。実プロダクトに合わせて短く取捨選択。
- 30秒で次へ。残りはIDORへ。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「余裕がある方向けのデモ」と明示。スライド25で講師用デモの進行手順を示す。
- 「他人のアカウントには触らない」と釘を刺す。デモ用に用意された「架空ライバル」だけを使う。
- 観察の3カードを提示してから、必要なら口頭で1つだけ補足を入れる。
- 「提出UIなし」を4か所目に明示。
- 25のデモ手順に自然に流す。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- 4つのステップ ・参加者は観察と口頭補助のみ。
- step 3だけ色を反転（warning側）にして、参加者が「ID を差し替える行為は観察の中だけの話」と強調できるよう配置。
- 「架空ライバルのID」を使うこと、本当の他参加者アカウントには触らないこと、を釘で刺す。
- デモ中はどうしてもその場で動かしたいので、画面投影や別ブラウザを併用してもよい。教材のSupabaseの状態が分離されていることを再確認しながら。
- 時間が押していたら step 4 を圧縮し、26 の解答スライドへ。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「認証されている ≠ 認可されている」を一度言い切ってから先に進む。
- RLS（Postgres）の話も短く触れる。教材実装がRLSを採用しているならその観点も強調する。
- 「パルスパラメータを信用しない」を持ち帰り。
- 27 の認証 vs 認可に自然に流す。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- 2x2 で認証と認可を並べる。
- 右上（認証あり × 認可なし）に今回の焦点があると示し、これを「IDOR」と呼ぶ。
- 左下は「順序が壊れている」枠として読み物程度に。
- クライアント側で「管理者だけ表示する」分岐を隠したところでダメ、と短く言う。
- 28（実務応用チェックリスト）へ。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- 4つのカードそれぞれが、レビュー/回帰の際，別の切り口として役立つ。
- 「境界」を4枚並べた理由は、参加者が「同じカテゴリの話」を分けて考えられるように。
- 短い問いかけをしてから29へ。「自分が普段書いている箇所の中で、この4つの境界にどれが抜けているか？」
- 質疑の時間を1〜2分、ここで取るか29の後に取るかは、当日の流れ次第。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- 3つのカードを見せながら、質問を1つずつ投げかける。「値とコードを混ぜないのはSQLだけ？」「認可のチェックはどこに置く？」「観測値って何だった？」など。
- 質疑は参加者型で1〜2分。必要なら次のセッションで深掘りする旨を伝える。
- 時間が余ったら、教材Supabaseをいつ閉じるか、復習資料（あれば）の場所を伝える。
- 30以降は引き続き講師用。残りの時間で参照できる。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開講前に最低1回は自分用に全課題をなぞる。一週間前に確認、当日朝に最終確認の二段構えを推奨。
- 「未確認」と「確認済」を混在させない、は大事。代替案（スライド31）とDevTools補足（32）に直接つながる。
- このスライドは参加者に出さず、講師端末の隣で開いておくとよい。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- 4つの代替案はどれも「進め方を変える」案。「中止する」ではなく形を変える。</a:t>
            </a:r>
          </a:p>
          <a:p>
            <a:r>
              <a:t>- 代替Bはネットワークが無い現場でも進められる。写経してローカルで動かす前提の回帰テストに近い。</a:t>
            </a:r>
          </a:p>
          <a:p>
            <a:r>
              <a:t>- 代替Cは「声に出して読み合う」だけで時間を使う。SQLi・XSSの経路を、参加者と交互に組み立てると教える側も教える。</a:t>
            </a:r>
          </a:p>
          <a:p>
            <a:r>
              <a:t>- 代替Dは最終手段。「SQLi のみ、または XSS のみ」と、IDORは次回に回す。</a:t>
            </a:r>
          </a:p>
          <a:p>
            <a:r>
              <a:t>- いずれも「画面を実際に見られない」前提なので、模式図と未確認のラベル運用はスライド32に任せる。</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Base64 = 難読化であって暗号化ではない。これは本物の脆弱性診断の現場で何度も見られる誤解なので、プロダクションコードで「暗号化」と書かれている実装は別途大問題、と短く添える。</a:t>
            </a:r>
          </a:p>
          <a:p>
            <a:r>
              <a:t>- 「トークンをスライド・チャット・投影に貼らない」「共有画面に貼ったら即無効化」を強く推奨。漏洩事故を防ぐため。</a:t>
            </a:r>
          </a:p>
          <a:p>
            <a:r>
              <a:t>- 模式注記：「模式図」「教材で確認した一例」「未確認」を使い分け、ドキュメントと現実が乖離しないように。</a:t>
            </a:r>
          </a:p>
          <a:p>
            <a:r>
              <a:t>- URLはMarkdownリンク記法にしない、を強調。これは生成AIに取り込まれても誤解を招かないため。</a:t>
            </a:r>
          </a:p>
          <a:p>
            <a:r>
              <a:t>- このスライドは参加者に出してOK（情報共有）。ただし実トークン共有は罰則レベルなので控えめに。</a:t>
            </a:r>
          </a:p>
          <a:p>
            <a:r>
              <a:t>- 32枚完成。</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4.png"/><Relationship Id="rId6" Type="http://schemas.openxmlformats.org/officeDocument/2006/relationships/image" Target="../media/image-5-4.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2.png"/><Relationship Id="rId4" Type="http://schemas.openxmlformats.org/officeDocument/2006/relationships/image" Target="../media/image-24-2.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1.png"/><Relationship Id="rId3" Type="http://schemas.openxmlformats.org/officeDocument/2006/relationships/image" Target="../media/image-25-3.png"/><Relationship Id="rId4" Type="http://schemas.openxmlformats.org/officeDocument/2006/relationships/image" Target="../media/image-25-1.png"/><Relationship Id="rId5" Type="http://schemas.openxmlformats.org/officeDocument/2006/relationships/image" Target="../media/image-25-5.pn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slideLayout" Target="../slideLayouts/slideLayout1.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1.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1-1.png"/><Relationship Id="rId4" Type="http://schemas.openxmlformats.org/officeDocument/2006/relationships/image" Target="../media/image-1-1.png"/><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FE7D4"/>
        </a:solidFill>
      </p:bgPr>
    </p:bg>
    <p:spTree>
      <p:nvGrpSpPr>
        <p:cNvPr id="1" name=""/>
        <p:cNvGrpSpPr/>
        <p:nvPr/>
      </p:nvGrpSpPr>
      <p:grpSpPr>
        <a:xfrm>
          <a:off x="0" y="0"/>
          <a:ext cx="0" cy="0"/>
          <a:chOff x="0" y="0"/>
          <a:chExt cx="0" cy="0"/>
        </a:xfrm>
      </p:grpSpPr>
      <p:sp>
        <p:nvSpPr>
          <p:cNvPr id="3" name="Shape 0"/>
          <p:cNvSpPr/>
          <p:nvPr/>
        </p:nvSpPr>
        <p:spPr>
          <a:xfrm>
            <a:off x="13811098" y="914400"/>
            <a:ext cx="3619195" cy="3619195"/>
          </a:xfrm>
          <a:prstGeom prst="roundRect">
            <a:avLst>
              <a:gd name="adj" fmla="val 1592"/>
            </a:avLst>
          </a:prstGeom>
          <a:solidFill>
            <a:srgbClr val="E5DBC4"/>
          </a:solidFill>
          <a:ln w="12700">
            <a:solidFill>
              <a:srgbClr val="FFFFFF">
                <a:alpha val="0"/>
              </a:srgbClr>
            </a:solidFill>
            <a:prstDash val="solid"/>
          </a:ln>
        </p:spPr>
      </p:sp>
      <p:sp>
        <p:nvSpPr>
          <p:cNvPr id="4" name="Shape 1"/>
          <p:cNvSpPr/>
          <p:nvPr/>
        </p:nvSpPr>
        <p:spPr>
          <a:xfrm rot="480000">
            <a:off x="14192402" y="2857500"/>
            <a:ext cx="2857500" cy="2857500"/>
          </a:xfrm>
          <a:prstGeom prst="roundRect">
            <a:avLst>
              <a:gd name="adj" fmla="val 2016"/>
            </a:avLst>
          </a:prstGeom>
          <a:solidFill>
            <a:srgbClr val="211C13"/>
          </a:solidFill>
          <a:ln w="12700">
            <a:solidFill>
              <a:srgbClr val="FFFFFF">
                <a:alpha val="0"/>
              </a:srgbClr>
            </a:solidFill>
            <a:prstDash val="solid"/>
          </a:ln>
        </p:spPr>
      </p:sp>
      <p:sp>
        <p:nvSpPr>
          <p:cNvPr id="5" name="Shape 2"/>
          <p:cNvSpPr/>
          <p:nvPr/>
        </p:nvSpPr>
        <p:spPr>
          <a:xfrm rot="21240000">
            <a:off x="13239598" y="5333695"/>
            <a:ext cx="2286000" cy="2286000"/>
          </a:xfrm>
          <a:prstGeom prst="roundRect">
            <a:avLst>
              <a:gd name="adj" fmla="val 2520"/>
            </a:avLst>
          </a:prstGeom>
          <a:solidFill>
            <a:srgbClr val="B63A2A"/>
          </a:solidFill>
          <a:ln w="12700">
            <a:solidFill>
              <a:srgbClr val="FFFFFF">
                <a:alpha val="0"/>
              </a:srgbClr>
            </a:solidFill>
            <a:prstDash val="solid"/>
          </a:ln>
        </p:spPr>
      </p:sp>
      <p:sp>
        <p:nvSpPr>
          <p:cNvPr id="6" name="Shape 3"/>
          <p:cNvSpPr/>
          <p:nvPr/>
        </p:nvSpPr>
        <p:spPr>
          <a:xfrm rot="600000">
            <a:off x="15430500" y="6286500"/>
            <a:ext cx="1904695" cy="1904695"/>
          </a:xfrm>
          <a:prstGeom prst="roundRect">
            <a:avLst>
              <a:gd name="adj" fmla="val 3024"/>
            </a:avLst>
          </a:prstGeom>
          <a:solidFill>
            <a:srgbClr val="2F6F4F"/>
          </a:solidFill>
          <a:ln w="12700">
            <a:solidFill>
              <a:srgbClr val="FFFFFF">
                <a:alpha val="0"/>
              </a:srgbClr>
            </a:solidFill>
            <a:prstDash val="solid"/>
          </a:ln>
        </p:spPr>
      </p:sp>
      <p:sp>
        <p:nvSpPr>
          <p:cNvPr id="7" name="Text 4"/>
          <p:cNvSpPr txBox="1"/>
          <p:nvPr/>
        </p:nvSpPr>
        <p:spPr>
          <a:xfrm rot="480000">
            <a:off x="14314018" y="3145536"/>
            <a:ext cx="2667305" cy="1905610"/>
          </a:xfrm>
          <a:prstGeom prst="rect">
            <a:avLst/>
          </a:prstGeom>
          <a:noFill/>
          <a:ln/>
        </p:spPr>
        <p:txBody>
          <a:bodyPr wrap="none" lIns="0" tIns="0" rIns="0" bIns="0" rtlCol="0" anchor="ctr"/>
          <a:lstStyle/>
          <a:p>
            <a:pPr algn="ctr" indent="0" marL="0">
              <a:buNone/>
            </a:pPr>
            <a:r>
              <a:rPr lang="en-US" sz="15000" b="1" spc="-600" kern="0" dirty="0">
                <a:solidFill>
                  <a:srgbClr val="EFE7D4"/>
                </a:solidFill>
                <a:latin typeface="Zen Kaku Gothic Antique" pitchFamily="34" charset="0"/>
                <a:ea typeface="Zen Kaku Gothic Antique" pitchFamily="34" charset="-122"/>
                <a:cs typeface="Zen Kaku Gothic Antique" pitchFamily="34" charset="-120"/>
              </a:rPr>
              <a:t>索</a:t>
            </a:r>
            <a:endParaRPr lang="en-US" sz="15000" dirty="0"/>
          </a:p>
        </p:txBody>
      </p:sp>
      <p:sp>
        <p:nvSpPr>
          <p:cNvPr id="8" name="Text 5"/>
          <p:cNvSpPr txBox="1"/>
          <p:nvPr/>
        </p:nvSpPr>
        <p:spPr>
          <a:xfrm rot="21240000">
            <a:off x="13219481" y="5525719"/>
            <a:ext cx="2286000" cy="1524305"/>
          </a:xfrm>
          <a:prstGeom prst="rect">
            <a:avLst/>
          </a:prstGeom>
          <a:noFill/>
          <a:ln/>
        </p:spPr>
        <p:txBody>
          <a:bodyPr wrap="none" lIns="0" tIns="0" rIns="0" bIns="0" rtlCol="0" anchor="ctr"/>
          <a:lstStyle/>
          <a:p>
            <a:pPr algn="ctr" indent="0" marL="0">
              <a:buNone/>
            </a:pPr>
            <a:r>
              <a:rPr lang="en-US" sz="12000" b="1" spc="-480" kern="0" dirty="0">
                <a:solidFill>
                  <a:srgbClr val="EFE7D4"/>
                </a:solidFill>
                <a:latin typeface="Zen Kaku Gothic Antique" pitchFamily="34" charset="0"/>
                <a:ea typeface="Zen Kaku Gothic Antique" pitchFamily="34" charset="-122"/>
                <a:cs typeface="Zen Kaku Gothic Antique" pitchFamily="34" charset="-120"/>
              </a:rPr>
              <a:t>發</a:t>
            </a:r>
            <a:endParaRPr lang="en-US" sz="12000" dirty="0"/>
          </a:p>
        </p:txBody>
      </p:sp>
      <p:sp>
        <p:nvSpPr>
          <p:cNvPr id="9" name="Text 6"/>
          <p:cNvSpPr txBox="1"/>
          <p:nvPr/>
        </p:nvSpPr>
        <p:spPr>
          <a:xfrm rot="600000">
            <a:off x="15446959" y="6478524"/>
            <a:ext cx="1905610" cy="1334110"/>
          </a:xfrm>
          <a:prstGeom prst="rect">
            <a:avLst/>
          </a:prstGeom>
          <a:noFill/>
          <a:ln/>
        </p:spPr>
        <p:txBody>
          <a:bodyPr wrap="none" lIns="0" tIns="0" rIns="0" bIns="0" rtlCol="0" anchor="ctr"/>
          <a:lstStyle/>
          <a:p>
            <a:pPr algn="ctr" indent="0" marL="0">
              <a:buNone/>
            </a:pPr>
            <a:r>
              <a:rPr lang="en-US" sz="10500" b="1" spc="-420" kern="0" dirty="0">
                <a:solidFill>
                  <a:srgbClr val="EFE7D4"/>
                </a:solidFill>
                <a:latin typeface="Zen Kaku Gothic Antique" pitchFamily="34" charset="0"/>
                <a:ea typeface="Zen Kaku Gothic Antique" pitchFamily="34" charset="-122"/>
                <a:cs typeface="Zen Kaku Gothic Antique" pitchFamily="34" charset="-120"/>
              </a:rPr>
              <a:t>中</a:t>
            </a:r>
            <a:endParaRPr lang="en-US" sz="10500" dirty="0"/>
          </a:p>
        </p:txBody>
      </p:sp>
      <p:pic>
        <p:nvPicPr>
          <p:cNvPr id="10" name="Image 0" descr="gen-dedup-ff3b843c62efd2578b331bdfc9bb7c8f.png">    </p:cNvPr>
          <p:cNvPicPr>
            <a:picLocks noChangeAspect="1"/>
          </p:cNvPicPr>
          <p:nvPr/>
        </p:nvPicPr>
        <p:blipFill>
          <a:blip r:embed="rId1"/>
          <a:srcRect l="-2083" r="-2083" t="0" b="0"/>
          <a:stretch/>
        </p:blipFill>
        <p:spPr>
          <a:xfrm>
            <a:off x="914400" y="9334195"/>
            <a:ext cx="16459200" cy="9144"/>
          </a:xfrm>
          <a:prstGeom prst="rect">
            <a:avLst/>
          </a:prstGeom>
        </p:spPr>
      </p:pic>
      <p:sp>
        <p:nvSpPr>
          <p:cNvPr id="11" name="Text 7"/>
          <p:cNvSpPr txBox="1"/>
          <p:nvPr/>
        </p:nvSpPr>
        <p:spPr>
          <a:xfrm>
            <a:off x="914400" y="9562795"/>
            <a:ext cx="9525305" cy="228600"/>
          </a:xfrm>
          <a:prstGeom prst="rect">
            <a:avLst/>
          </a:prstGeom>
          <a:noFill/>
          <a:ln/>
        </p:spPr>
        <p:txBody>
          <a:bodyPr wrap="none" lIns="0" tIns="0" rIns="0" bIns="0" rtlCol="0" anchor="ctr"/>
          <a:lstStyle/>
          <a:p>
            <a:pPr algn="l" indent="0" marL="0">
              <a:buNone/>
            </a:pPr>
            <a:r>
              <a:rPr lang="en-US" sz="1200" spc="72" kern="0" dirty="0">
                <a:solidFill>
                  <a:srgbClr val="5A4F3F"/>
                </a:solidFill>
                <a:latin typeface="JetBrains Mono" pitchFamily="34" charset="0"/>
                <a:ea typeface="JetBrains Mono" pitchFamily="34" charset="-122"/>
                <a:cs typeface="JetBrains Mono" pitchFamily="34" charset="-120"/>
              </a:rPr>
              <a:t>講師用ドラフト — 参加者と同じ環境で事前確認のうえ使用してください</a:t>
            </a:r>
            <a:endParaRPr lang="en-US" sz="1200" dirty="0"/>
          </a:p>
        </p:txBody>
      </p:sp>
      <p:sp>
        <p:nvSpPr>
          <p:cNvPr id="12" name="Text 8"/>
          <p:cNvSpPr txBox="1"/>
          <p:nvPr/>
        </p:nvSpPr>
        <p:spPr>
          <a:xfrm>
            <a:off x="15468905" y="9562795"/>
            <a:ext cx="1905610" cy="200254"/>
          </a:xfrm>
          <a:prstGeom prst="rect">
            <a:avLst/>
          </a:prstGeom>
          <a:noFill/>
          <a:ln/>
        </p:spPr>
        <p:txBody>
          <a:bodyPr wrap="none" lIns="0" tIns="0" rIns="0" bIns="0" rtlCol="0" anchor="ctr"/>
          <a:lstStyle/>
          <a:p>
            <a:pPr algn="r" indent="0" marL="0">
              <a:buNone/>
            </a:pPr>
            <a:r>
              <a:rPr lang="en-US" sz="1200" spc="72" kern="0" dirty="0">
                <a:solidFill>
                  <a:srgbClr val="5A4F3F"/>
                </a:solidFill>
                <a:latin typeface="JetBrains Mono" pitchFamily="34" charset="0"/>
                <a:ea typeface="JetBrains Mono" pitchFamily="34" charset="-122"/>
                <a:cs typeface="JetBrains Mono" pitchFamily="34" charset="-120"/>
              </a:rPr>
              <a:t>01 / 32</a:t>
            </a:r>
            <a:endParaRPr lang="en-US" sz="1200" dirty="0"/>
          </a:p>
        </p:txBody>
      </p:sp>
      <p:sp>
        <p:nvSpPr>
          <p:cNvPr id="13" name="Text 9"/>
          <p:cNvSpPr txBox="1"/>
          <p:nvPr/>
        </p:nvSpPr>
        <p:spPr>
          <a:xfrm>
            <a:off x="914400" y="914400"/>
            <a:ext cx="8572500" cy="219456"/>
          </a:xfrm>
          <a:prstGeom prst="rect">
            <a:avLst/>
          </a:prstGeom>
          <a:noFill/>
          <a:ln/>
        </p:spPr>
        <p:txBody>
          <a:bodyPr wrap="none" lIns="0" tIns="0" rIns="0" bIns="0" rtlCol="0" anchor="ctr"/>
          <a:lstStyle/>
          <a:p>
            <a:pPr algn="l" indent="0" marL="0">
              <a:buNone/>
            </a:pPr>
            <a:r>
              <a:rPr lang="en-US" sz="1350" spc="324" kern="0" dirty="0">
                <a:solidFill>
                  <a:srgbClr val="5A4F3F"/>
                </a:solidFill>
                <a:latin typeface="JetBrains Mono" pitchFamily="34" charset="0"/>
                <a:ea typeface="JetBrains Mono" pitchFamily="34" charset="-122"/>
                <a:cs typeface="JetBrains Mono" pitchFamily="34" charset="-120"/>
              </a:rPr>
              <a:t>Internal Security Workshop · v1 (draft)</a:t>
            </a:r>
            <a:endParaRPr lang="en-US" sz="1350" dirty="0"/>
          </a:p>
        </p:txBody>
      </p:sp>
      <p:pic>
        <p:nvPicPr>
          <p:cNvPr id="14" name="Image 1" descr="gen-dedup-1541199062e2e21c77c7520b62dd70ea.png">    </p:cNvPr>
          <p:cNvPicPr>
            <a:picLocks noChangeAspect="1"/>
          </p:cNvPicPr>
          <p:nvPr/>
        </p:nvPicPr>
        <p:blipFill>
          <a:blip r:embed="rId2"/>
          <a:srcRect l="0" r="0" t="-400" b="-400"/>
          <a:stretch/>
        </p:blipFill>
        <p:spPr>
          <a:xfrm>
            <a:off x="914400" y="1304849"/>
            <a:ext cx="1143000" cy="38405"/>
          </a:xfrm>
          <a:prstGeom prst="rect">
            <a:avLst/>
          </a:prstGeom>
        </p:spPr>
      </p:pic>
      <p:sp>
        <p:nvSpPr>
          <p:cNvPr id="15" name="Text 10"/>
          <p:cNvSpPr txBox="1"/>
          <p:nvPr/>
        </p:nvSpPr>
        <p:spPr>
          <a:xfrm>
            <a:off x="914400" y="2857500"/>
            <a:ext cx="12382805" cy="4086454"/>
          </a:xfrm>
          <a:prstGeom prst="rect">
            <a:avLst/>
          </a:prstGeom>
          <a:noFill/>
          <a:ln/>
        </p:spPr>
        <p:txBody>
          <a:bodyPr wrap="square" lIns="0" tIns="0" rIns="0" bIns="0" rtlCol="0" anchor="t"/>
          <a:lstStyle/>
          <a:p>
            <a:pPr algn="l" indent="0" marL="0">
              <a:lnSpc>
                <a:spcPct val="102000"/>
              </a:lnSpc>
              <a:buNone/>
            </a:pPr>
            <a:r>
              <a:rPr lang="en-US" sz="10500" b="1" spc="-210" kern="0" dirty="0">
                <a:solidFill>
                  <a:srgbClr val="211C13"/>
                </a:solidFill>
                <a:latin typeface="Zen Kaku Gothic Antique" pitchFamily="34" charset="0"/>
                <a:ea typeface="Zen Kaku Gothic Antique" pitchFamily="34" charset="-122"/>
                <a:cs typeface="Zen Kaku Gothic Antique" pitchFamily="34" charset="-120"/>
              </a:rPr>
              <a:t>麻雀で</a:t>
            </a:r>
            <a:pPr algn="l" indent="0" marL="0">
              <a:lnSpc>
                <a:spcPct val="102000"/>
              </a:lnSpc>
              <a:buNone/>
            </a:pPr>
            <a:endParaRPr lang="en-US" sz="10500" dirty="0"/>
          </a:p>
          <a:p>
            <a:pPr algn="l" indent="0" marL="0">
              <a:lnSpc>
                <a:spcPct val="102000"/>
              </a:lnSpc>
              <a:buNone/>
            </a:pPr>
            <a:r>
              <a:rPr lang="en-US" sz="10500" b="1" spc="-210" kern="0" dirty="0">
                <a:solidFill>
                  <a:srgbClr val="211C13"/>
                </a:solidFill>
                <a:latin typeface="Zen Kaku Gothic Antique" pitchFamily="34" charset="0"/>
                <a:ea typeface="Zen Kaku Gothic Antique" pitchFamily="34" charset="-122"/>
                <a:cs typeface="Zen Kaku Gothic Antique" pitchFamily="34" charset="-120"/>
              </a:rPr>
              <a:t>練習する</a:t>
            </a:r>
            <a:pPr algn="l" indent="0" marL="0">
              <a:lnSpc>
                <a:spcPct val="102000"/>
              </a:lnSpc>
              <a:buNone/>
            </a:pPr>
            <a:endParaRPr lang="en-US" sz="10500" dirty="0"/>
          </a:p>
          <a:p>
            <a:pPr algn="l" indent="0" marL="0">
              <a:lnSpc>
                <a:spcPct val="102000"/>
              </a:lnSpc>
              <a:buNone/>
            </a:pPr>
            <a:r>
              <a:rPr lang="en-US" sz="10500" b="1" spc="-210" kern="0" dirty="0">
                <a:solidFill>
                  <a:srgbClr val="B63A2A"/>
                </a:solidFill>
                <a:latin typeface="Zen Kaku Gothic Antique" pitchFamily="34" charset="0"/>
                <a:ea typeface="Zen Kaku Gothic Antique" pitchFamily="34" charset="-122"/>
                <a:cs typeface="Zen Kaku Gothic Antique" pitchFamily="34" charset="-120"/>
              </a:rPr>
              <a:t>Web脆弱性</a:t>
            </a:r>
            <a:endParaRPr lang="en-US" sz="10500" dirty="0"/>
          </a:p>
        </p:txBody>
      </p:sp>
      <p:sp>
        <p:nvSpPr>
          <p:cNvPr id="16" name="Text 11"/>
          <p:cNvSpPr txBox="1"/>
          <p:nvPr/>
        </p:nvSpPr>
        <p:spPr>
          <a:xfrm>
            <a:off x="914400" y="7870241"/>
            <a:ext cx="10478110" cy="865022"/>
          </a:xfrm>
          <a:prstGeom prst="rect">
            <a:avLst/>
          </a:prstGeom>
          <a:noFill/>
          <a:ln/>
        </p:spPr>
        <p:txBody>
          <a:bodyPr wrap="square" lIns="0" tIns="0" rIns="0" bIns="0" rtlCol="0" anchor="t"/>
          <a:lstStyle/>
          <a:p>
            <a:pPr algn="l" indent="0" marL="0">
              <a:lnSpc>
                <a:spcPts val="3263"/>
              </a:lnSpc>
              <a:buNone/>
            </a:pPr>
            <a:r>
              <a:rPr lang="en-US" sz="2250" dirty="0">
                <a:solidFill>
                  <a:srgbClr val="211C13"/>
                </a:solidFill>
                <a:latin typeface="Noto Sans JP" pitchFamily="34" charset="0"/>
                <a:ea typeface="Noto Sans JP" pitchFamily="34" charset="-122"/>
                <a:cs typeface="Noto Sans JP" pitchFamily="34" charset="-120"/>
              </a:rPr>
              <a:t>社内Web開発者向け・体験型セキュリティ勉強会</a:t>
            </a:r>
            <a:pPr algn="l" indent="0" marL="0">
              <a:lnSpc>
                <a:spcPts val="3263"/>
              </a:lnSpc>
              <a:buNone/>
            </a:pPr>
            <a:endParaRPr lang="en-US" sz="2250" dirty="0"/>
          </a:p>
          <a:p>
            <a:pPr algn="l" indent="0" marL="0">
              <a:lnSpc>
                <a:spcPts val="3263"/>
              </a:lnSpc>
              <a:buNone/>
            </a:pPr>
            <a:r>
              <a:rPr lang="en-US" sz="2250" dirty="0">
                <a:solidFill>
                  <a:srgbClr val="211C13"/>
                </a:solidFill>
                <a:latin typeface="Noto Sans JP" pitchFamily="34" charset="0"/>
                <a:ea typeface="Noto Sans JP" pitchFamily="34" charset="-122"/>
                <a:cs typeface="Noto Sans JP" pitchFamily="34" charset="-120"/>
              </a:rPr>
              <a:t>SQLインジェクション ／ 保存型XSS ／ IDOR（追加）</a:t>
            </a:r>
            <a:endParaRPr lang="en-US" sz="2250" dirty="0"/>
          </a:p>
        </p:txBody>
      </p:sp>
      <p:sp>
        <p:nvSpPr>
          <p:cNvPr id="17" name="Text 12"/>
          <p:cNvSpPr txBox="1"/>
          <p:nvPr/>
        </p:nvSpPr>
        <p:spPr>
          <a:xfrm>
            <a:off x="914400" y="8943746"/>
            <a:ext cx="10478110" cy="247802"/>
          </a:xfrm>
          <a:prstGeom prst="rect">
            <a:avLst/>
          </a:prstGeom>
          <a:noFill/>
          <a:ln/>
        </p:spPr>
        <p:txBody>
          <a:bodyPr wrap="none" lIns="0" tIns="0" rIns="0" bIns="0" rtlCol="0" anchor="ctr"/>
          <a:lstStyle/>
          <a:p>
            <a:pPr algn="l" indent="0" marL="0">
              <a:buNone/>
            </a:pPr>
            <a:r>
              <a:rPr lang="en-US" sz="1350" spc="54" kern="0" dirty="0">
                <a:solidFill>
                  <a:srgbClr val="5A4F3F"/>
                </a:solidFill>
                <a:latin typeface="JetBrains Mono" pitchFamily="34" charset="0"/>
                <a:ea typeface="JetBrains Mono" pitchFamily="34" charset="-122"/>
                <a:cs typeface="JetBrains Mono" pitchFamily="34" charset="-120"/>
              </a:rPr>
              <a:t>所要時間 40分 ／ DevToolsで操作する個人演習</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FE7D4"/>
        </a:solidFill>
      </p:bgPr>
    </p:bg>
    <p:spTree>
      <p:nvGrpSpPr>
        <p:cNvPr id="1" name=""/>
        <p:cNvGrpSpPr/>
        <p:nvPr/>
      </p:nvGrpSpPr>
      <p:grpSpPr>
        <a:xfrm>
          <a:off x="0" y="0"/>
          <a:ext cx="0" cy="0"/>
          <a:chOff x="0" y="0"/>
          <a:chExt cx="0" cy="0"/>
        </a:xfrm>
      </p:grpSpPr>
      <p:sp>
        <p:nvSpPr>
          <p:cNvPr id="3" name="Shape 0"/>
          <p:cNvSpPr/>
          <p:nvPr/>
        </p:nvSpPr>
        <p:spPr>
          <a:xfrm>
            <a:off x="7429500" y="2857500"/>
            <a:ext cx="9905695" cy="1904695"/>
          </a:xfrm>
          <a:prstGeom prst="roundRect">
            <a:avLst>
              <a:gd name="adj" fmla="val 2016"/>
            </a:avLst>
          </a:prstGeom>
          <a:solidFill>
            <a:srgbClr val="E5DBC4"/>
          </a:solidFill>
          <a:ln w="12700">
            <a:solidFill>
              <a:srgbClr val="FFFFFF">
                <a:alpha val="0"/>
              </a:srgbClr>
            </a:solidFill>
            <a:prstDash val="solid"/>
          </a:ln>
        </p:spPr>
      </p:sp>
      <p:sp>
        <p:nvSpPr>
          <p:cNvPr id="4" name="Shape 1"/>
          <p:cNvSpPr/>
          <p:nvPr/>
        </p:nvSpPr>
        <p:spPr>
          <a:xfrm>
            <a:off x="7429500" y="4953305"/>
            <a:ext cx="9905695" cy="1904695"/>
          </a:xfrm>
          <a:prstGeom prst="roundRect">
            <a:avLst>
              <a:gd name="adj" fmla="val 2016"/>
            </a:avLst>
          </a:prstGeom>
          <a:solidFill>
            <a:srgbClr val="E5DBC4"/>
          </a:solidFill>
          <a:ln w="12700">
            <a:solidFill>
              <a:srgbClr val="FFFFFF">
                <a:alpha val="0"/>
              </a:srgbClr>
            </a:solidFill>
            <a:prstDash val="solid"/>
          </a:ln>
        </p:spPr>
      </p:sp>
      <p:sp>
        <p:nvSpPr>
          <p:cNvPr id="5" name="Shape 2"/>
          <p:cNvSpPr/>
          <p:nvPr/>
        </p:nvSpPr>
        <p:spPr>
          <a:xfrm>
            <a:off x="7429500" y="7048195"/>
            <a:ext cx="9905695" cy="1904695"/>
          </a:xfrm>
          <a:prstGeom prst="roundRect">
            <a:avLst>
              <a:gd name="adj" fmla="val 2016"/>
            </a:avLst>
          </a:prstGeom>
          <a:solidFill>
            <a:srgbClr val="E5DBC4"/>
          </a:solidFill>
          <a:ln w="12700">
            <a:solidFill>
              <a:srgbClr val="FFFFFF">
                <a:alpha val="0"/>
              </a:srgbClr>
            </a:solidFill>
            <a:prstDash val="solid"/>
          </a:ln>
        </p:spPr>
      </p:sp>
      <p:pic>
        <p:nvPicPr>
          <p:cNvPr id="6" name="Image 0" descr="gen-dedup-111eafe2b7402d0ea2df02b7e90ffa9f.png">    </p:cNvPr>
          <p:cNvPicPr>
            <a:picLocks noChangeAspect="1"/>
          </p:cNvPicPr>
          <p:nvPr/>
        </p:nvPicPr>
        <p:blipFill>
          <a:blip r:embed="rId1"/>
          <a:srcRect l="-408" r="-408" t="0" b="0"/>
          <a:stretch/>
        </p:blipFill>
        <p:spPr>
          <a:xfrm>
            <a:off x="7429500" y="2857500"/>
            <a:ext cx="57607" cy="1904695"/>
          </a:xfrm>
          <a:prstGeom prst="rect">
            <a:avLst/>
          </a:prstGeom>
        </p:spPr>
      </p:pic>
      <p:pic>
        <p:nvPicPr>
          <p:cNvPr id="7" name="Image 1" descr="gen-dedup-52e0cfd6c8bd9d30bde8a363e8e50e78.png">    </p:cNvPr>
          <p:cNvPicPr>
            <a:picLocks noChangeAspect="1"/>
          </p:cNvPicPr>
          <p:nvPr/>
        </p:nvPicPr>
        <p:blipFill>
          <a:blip r:embed="rId2"/>
          <a:srcRect l="-408" r="-408" t="0" b="0"/>
          <a:stretch/>
        </p:blipFill>
        <p:spPr>
          <a:xfrm>
            <a:off x="7429500" y="4953305"/>
            <a:ext cx="57607" cy="1904695"/>
          </a:xfrm>
          <a:prstGeom prst="rect">
            <a:avLst/>
          </a:prstGeom>
        </p:spPr>
      </p:pic>
      <p:pic>
        <p:nvPicPr>
          <p:cNvPr id="8" name="Image 2" descr="gen-dedup-14917d93370952d5bc8f5cee272f8661.png">    </p:cNvPr>
          <p:cNvPicPr>
            <a:picLocks noChangeAspect="1"/>
          </p:cNvPicPr>
          <p:nvPr/>
        </p:nvPicPr>
        <p:blipFill>
          <a:blip r:embed="rId3"/>
          <a:srcRect l="-408" r="-408" t="0" b="0"/>
          <a:stretch/>
        </p:blipFill>
        <p:spPr>
          <a:xfrm>
            <a:off x="7429500" y="7048195"/>
            <a:ext cx="57607" cy="1904695"/>
          </a:xfrm>
          <a:prstGeom prst="rect">
            <a:avLst/>
          </a:prstGeom>
        </p:spPr>
      </p:pic>
      <p:sp>
        <p:nvSpPr>
          <p:cNvPr id="9" name="Text 3"/>
          <p:cNvSpPr txBox="1"/>
          <p:nvPr/>
        </p:nvSpPr>
        <p:spPr>
          <a:xfrm>
            <a:off x="7810805" y="3105302"/>
            <a:ext cx="9335110" cy="200254"/>
          </a:xfrm>
          <a:prstGeom prst="rect">
            <a:avLst/>
          </a:prstGeom>
          <a:noFill/>
          <a:ln/>
        </p:spPr>
        <p:txBody>
          <a:bodyPr wrap="none" lIns="0" tIns="0" rIns="0" bIns="0" rtlCol="0" anchor="ctr"/>
          <a:lstStyle/>
          <a:p>
            <a:pPr algn="l" indent="0" marL="0">
              <a:buNone/>
            </a:pPr>
            <a:r>
              <a:rPr lang="en-US" sz="1200" spc="216" kern="0" dirty="0">
                <a:solidFill>
                  <a:srgbClr val="B63A2A"/>
                </a:solidFill>
                <a:latin typeface="JetBrains Mono" pitchFamily="34" charset="0"/>
                <a:ea typeface="JetBrains Mono" pitchFamily="34" charset="-122"/>
                <a:cs typeface="JetBrains Mono" pitchFamily="34" charset="-120"/>
              </a:rPr>
              <a:t>01</a:t>
            </a:r>
            <a:endParaRPr lang="en-US" sz="1200" dirty="0"/>
          </a:p>
        </p:txBody>
      </p:sp>
      <p:sp>
        <p:nvSpPr>
          <p:cNvPr id="10" name="Text 4"/>
          <p:cNvSpPr txBox="1"/>
          <p:nvPr/>
        </p:nvSpPr>
        <p:spPr>
          <a:xfrm>
            <a:off x="7810805" y="3400654"/>
            <a:ext cx="9335110" cy="438912"/>
          </a:xfrm>
          <a:prstGeom prst="rect">
            <a:avLst/>
          </a:prstGeom>
          <a:noFill/>
          <a:ln/>
        </p:spPr>
        <p:txBody>
          <a:bodyPr wrap="none" lIns="0" tIns="0" rIns="0" bIns="0" rtlCol="0" anchor="ctr"/>
          <a:lstStyle/>
          <a:p>
            <a:pPr algn="l" indent="0" marL="0">
              <a:buNone/>
            </a:pPr>
            <a:r>
              <a:rPr lang="en-US" sz="2850" b="1" dirty="0">
                <a:solidFill>
                  <a:srgbClr val="211C13"/>
                </a:solidFill>
                <a:latin typeface="Zen Kaku Gothic Antique" pitchFamily="34" charset="0"/>
                <a:ea typeface="Zen Kaku Gothic Antique" pitchFamily="34" charset="-122"/>
                <a:cs typeface="Zen Kaku Gothic Antique" pitchFamily="34" charset="-120"/>
              </a:rPr>
              <a:t>「観測できる成功条件」を自分で決める</a:t>
            </a:r>
            <a:endParaRPr lang="en-US" sz="2850" dirty="0"/>
          </a:p>
        </p:txBody>
      </p:sp>
      <p:sp>
        <p:nvSpPr>
          <p:cNvPr id="11" name="Text 5"/>
          <p:cNvSpPr txBox="1"/>
          <p:nvPr/>
        </p:nvSpPr>
        <p:spPr>
          <a:xfrm>
            <a:off x="7810805" y="3910889"/>
            <a:ext cx="9335110" cy="305410"/>
          </a:xfrm>
          <a:prstGeom prst="rect">
            <a:avLst/>
          </a:prstGeom>
          <a:noFill/>
          <a:ln/>
        </p:spPr>
        <p:txBody>
          <a:bodyPr wrap="none" lIns="0" tIns="0" rIns="0" bIns="0" rtlCol="0" anchor="ctr"/>
          <a:lstStyle/>
          <a:p>
            <a:pPr algn="l" indent="0" marL="0">
              <a:buNone/>
            </a:pPr>
            <a:r>
              <a:rPr lang="en-US" sz="1650" dirty="0">
                <a:solidFill>
                  <a:srgbClr val="5A4F3F"/>
                </a:solidFill>
                <a:latin typeface="Noto Sans JP" pitchFamily="34" charset="0"/>
                <a:ea typeface="Noto Sans JP" pitchFamily="34" charset="-122"/>
                <a:cs typeface="Noto Sans JP" pitchFamily="34" charset="-120"/>
              </a:rPr>
              <a:t>攻略本はないので、画面のどこを見て、何が返れば「成功」とみなすかを決めます。</a:t>
            </a:r>
            <a:endParaRPr lang="en-US" sz="1650" dirty="0"/>
          </a:p>
        </p:txBody>
      </p:sp>
      <p:sp>
        <p:nvSpPr>
          <p:cNvPr id="12" name="Text 6"/>
          <p:cNvSpPr txBox="1"/>
          <p:nvPr/>
        </p:nvSpPr>
        <p:spPr>
          <a:xfrm>
            <a:off x="7810805" y="5201107"/>
            <a:ext cx="9335110" cy="200254"/>
          </a:xfrm>
          <a:prstGeom prst="rect">
            <a:avLst/>
          </a:prstGeom>
          <a:noFill/>
          <a:ln/>
        </p:spPr>
        <p:txBody>
          <a:bodyPr wrap="none" lIns="0" tIns="0" rIns="0" bIns="0" rtlCol="0" anchor="ctr"/>
          <a:lstStyle/>
          <a:p>
            <a:pPr algn="l" indent="0" marL="0">
              <a:buNone/>
            </a:pPr>
            <a:r>
              <a:rPr lang="en-US" sz="1200" spc="216" kern="0" dirty="0">
                <a:solidFill>
                  <a:srgbClr val="B4791F"/>
                </a:solidFill>
                <a:latin typeface="JetBrains Mono" pitchFamily="34" charset="0"/>
                <a:ea typeface="JetBrains Mono" pitchFamily="34" charset="-122"/>
                <a:cs typeface="JetBrains Mono" pitchFamily="34" charset="-120"/>
              </a:rPr>
              <a:t>02</a:t>
            </a:r>
            <a:endParaRPr lang="en-US" sz="1200" dirty="0"/>
          </a:p>
        </p:txBody>
      </p:sp>
      <p:sp>
        <p:nvSpPr>
          <p:cNvPr id="13" name="Text 7"/>
          <p:cNvSpPr txBox="1"/>
          <p:nvPr/>
        </p:nvSpPr>
        <p:spPr>
          <a:xfrm>
            <a:off x="7810805" y="5495544"/>
            <a:ext cx="9335110" cy="438912"/>
          </a:xfrm>
          <a:prstGeom prst="rect">
            <a:avLst/>
          </a:prstGeom>
          <a:noFill/>
          <a:ln/>
        </p:spPr>
        <p:txBody>
          <a:bodyPr wrap="none" lIns="0" tIns="0" rIns="0" bIns="0" rtlCol="0" anchor="ctr"/>
          <a:lstStyle/>
          <a:p>
            <a:pPr algn="l" indent="0" marL="0">
              <a:buNone/>
            </a:pPr>
            <a:r>
              <a:rPr lang="en-US" sz="2850" b="1" dirty="0">
                <a:solidFill>
                  <a:srgbClr val="211C13"/>
                </a:solidFill>
                <a:latin typeface="Zen Kaku Gothic Antique" pitchFamily="34" charset="0"/>
                <a:ea typeface="Zen Kaku Gothic Antique" pitchFamily="34" charset="-122"/>
                <a:cs typeface="Zen Kaku Gothic Antique" pitchFamily="34" charset="-120"/>
              </a:rPr>
              <a:t>DevToolsで通信と DOM を観察する</a:t>
            </a:r>
            <a:endParaRPr lang="en-US" sz="2850" dirty="0"/>
          </a:p>
        </p:txBody>
      </p:sp>
      <p:sp>
        <p:nvSpPr>
          <p:cNvPr id="14" name="Text 8"/>
          <p:cNvSpPr txBox="1"/>
          <p:nvPr/>
        </p:nvSpPr>
        <p:spPr>
          <a:xfrm>
            <a:off x="7810805" y="6006694"/>
            <a:ext cx="9335110" cy="305410"/>
          </a:xfrm>
          <a:prstGeom prst="rect">
            <a:avLst/>
          </a:prstGeom>
          <a:noFill/>
          <a:ln/>
        </p:spPr>
        <p:txBody>
          <a:bodyPr wrap="none" lIns="0" tIns="0" rIns="0" bIns="0" rtlCol="0" anchor="ctr"/>
          <a:lstStyle/>
          <a:p>
            <a:pPr algn="l" indent="0" marL="0">
              <a:buNone/>
            </a:pPr>
            <a:r>
              <a:rPr lang="en-US" sz="1650" dirty="0">
                <a:solidFill>
                  <a:srgbClr val="5A4F3F"/>
                </a:solidFill>
                <a:latin typeface="Noto Sans JP" pitchFamily="34" charset="0"/>
                <a:ea typeface="Noto Sans JP" pitchFamily="34" charset="-122"/>
                <a:cs typeface="Noto Sans JP" pitchFamily="34" charset="-120"/>
              </a:rPr>
              <a:t>Network / Console / Sources パネルを開き、リクエストの形を確認しながら手を動かします。</a:t>
            </a:r>
            <a:endParaRPr lang="en-US" sz="1650" dirty="0"/>
          </a:p>
        </p:txBody>
      </p:sp>
      <p:sp>
        <p:nvSpPr>
          <p:cNvPr id="15" name="Text 9"/>
          <p:cNvSpPr txBox="1"/>
          <p:nvPr/>
        </p:nvSpPr>
        <p:spPr>
          <a:xfrm>
            <a:off x="7810805" y="7295998"/>
            <a:ext cx="9335110" cy="200254"/>
          </a:xfrm>
          <a:prstGeom prst="rect">
            <a:avLst/>
          </a:prstGeom>
          <a:noFill/>
          <a:ln/>
        </p:spPr>
        <p:txBody>
          <a:bodyPr wrap="none" lIns="0" tIns="0" rIns="0" bIns="0" rtlCol="0" anchor="ctr"/>
          <a:lstStyle/>
          <a:p>
            <a:pPr algn="l" indent="0" marL="0">
              <a:buNone/>
            </a:pPr>
            <a:r>
              <a:rPr lang="en-US" sz="1200" spc="216" kern="0" dirty="0">
                <a:solidFill>
                  <a:srgbClr val="2F6F4F"/>
                </a:solidFill>
                <a:latin typeface="JetBrains Mono" pitchFamily="34" charset="0"/>
                <a:ea typeface="JetBrains Mono" pitchFamily="34" charset="-122"/>
                <a:cs typeface="JetBrains Mono" pitchFamily="34" charset="-120"/>
              </a:rPr>
              <a:t>03</a:t>
            </a:r>
            <a:endParaRPr lang="en-US" sz="1200" dirty="0"/>
          </a:p>
        </p:txBody>
      </p:sp>
      <p:sp>
        <p:nvSpPr>
          <p:cNvPr id="16" name="Text 10"/>
          <p:cNvSpPr txBox="1"/>
          <p:nvPr/>
        </p:nvSpPr>
        <p:spPr>
          <a:xfrm>
            <a:off x="7810805" y="7591349"/>
            <a:ext cx="9335110" cy="438912"/>
          </a:xfrm>
          <a:prstGeom prst="rect">
            <a:avLst/>
          </a:prstGeom>
          <a:noFill/>
          <a:ln/>
        </p:spPr>
        <p:txBody>
          <a:bodyPr wrap="none" lIns="0" tIns="0" rIns="0" bIns="0" rtlCol="0" anchor="ctr"/>
          <a:lstStyle/>
          <a:p>
            <a:pPr algn="l" indent="0" marL="0">
              <a:buNone/>
            </a:pPr>
            <a:r>
              <a:rPr lang="en-US" sz="2850" b="1" dirty="0">
                <a:solidFill>
                  <a:srgbClr val="211C13"/>
                </a:solidFill>
                <a:latin typeface="Zen Kaku Gothic Antique" pitchFamily="34" charset="0"/>
                <a:ea typeface="Zen Kaku Gothic Antique" pitchFamily="34" charset="-122"/>
                <a:cs typeface="Zen Kaku Gothic Antique" pitchFamily="34" charset="-120"/>
              </a:rPr>
              <a:t>「直した版」と並べて、観点を持ち帰る</a:t>
            </a:r>
            <a:endParaRPr lang="en-US" sz="2850" dirty="0"/>
          </a:p>
        </p:txBody>
      </p:sp>
      <p:sp>
        <p:nvSpPr>
          <p:cNvPr id="17" name="Text 11"/>
          <p:cNvSpPr txBox="1"/>
          <p:nvPr/>
        </p:nvSpPr>
        <p:spPr>
          <a:xfrm>
            <a:off x="7810805" y="8101584"/>
            <a:ext cx="9335110" cy="305410"/>
          </a:xfrm>
          <a:prstGeom prst="rect">
            <a:avLst/>
          </a:prstGeom>
          <a:noFill/>
          <a:ln/>
        </p:spPr>
        <p:txBody>
          <a:bodyPr wrap="none" lIns="0" tIns="0" rIns="0" bIns="0" rtlCol="0" anchor="ctr"/>
          <a:lstStyle/>
          <a:p>
            <a:pPr algn="l" indent="0" marL="0">
              <a:buNone/>
            </a:pPr>
            <a:r>
              <a:rPr lang="en-US" sz="1650" dirty="0">
                <a:solidFill>
                  <a:srgbClr val="5A4F3F"/>
                </a:solidFill>
                <a:latin typeface="Noto Sans JP" pitchFamily="34" charset="0"/>
                <a:ea typeface="Noto Sans JP" pitchFamily="34" charset="-122"/>
                <a:cs typeface="Noto Sans JP" pitchFamily="34" charset="-120"/>
              </a:rPr>
              <a:t>同じ操作で挙動がどう変わるかを見ながら、レビューと回帰テストの観点を各自で持ち帰ります。</a:t>
            </a:r>
            <a:endParaRPr lang="en-US" sz="1650" dirty="0"/>
          </a:p>
        </p:txBody>
      </p:sp>
      <p:pic>
        <p:nvPicPr>
          <p:cNvPr id="18" name="Image 3" descr="gen-dedup-ff3b843c62efd2578b331bdfc9bb7c8f.png">    </p:cNvPr>
          <p:cNvPicPr>
            <a:picLocks noChangeAspect="1"/>
          </p:cNvPicPr>
          <p:nvPr/>
        </p:nvPicPr>
        <p:blipFill>
          <a:blip r:embed="rId4"/>
          <a:srcRect l="-2083" r="-2083" t="0" b="0"/>
          <a:stretch/>
        </p:blipFill>
        <p:spPr>
          <a:xfrm>
            <a:off x="914400" y="9334195"/>
            <a:ext cx="16459200" cy="9144"/>
          </a:xfrm>
          <a:prstGeom prst="rect">
            <a:avLst/>
          </a:prstGeom>
        </p:spPr>
      </p:pic>
      <p:sp>
        <p:nvSpPr>
          <p:cNvPr id="19" name="Text 12"/>
          <p:cNvSpPr txBox="1"/>
          <p:nvPr/>
        </p:nvSpPr>
        <p:spPr>
          <a:xfrm>
            <a:off x="914400" y="9562795"/>
            <a:ext cx="9525305" cy="228600"/>
          </a:xfrm>
          <a:prstGeom prst="rect">
            <a:avLst/>
          </a:prstGeom>
          <a:noFill/>
          <a:ln/>
        </p:spPr>
        <p:txBody>
          <a:bodyPr wrap="none" lIns="0" tIns="0" rIns="0" bIns="0" rtlCol="0" anchor="ctr"/>
          <a:lstStyle/>
          <a:p>
            <a:pPr algn="l" indent="0" marL="0">
              <a:buNone/>
            </a:pPr>
            <a:r>
              <a:rPr lang="en-US" sz="1200" spc="72" kern="0" dirty="0">
                <a:solidFill>
                  <a:srgbClr val="5A4F3F"/>
                </a:solidFill>
                <a:latin typeface="JetBrains Mono" pitchFamily="34" charset="0"/>
                <a:ea typeface="JetBrains Mono" pitchFamily="34" charset="-122"/>
                <a:cs typeface="JetBrains Mono" pitchFamily="34" charset="-120"/>
              </a:rPr>
              <a:t>※ 修了判定や認定証の発行は今回の範囲外です</a:t>
            </a:r>
            <a:endParaRPr lang="en-US" sz="1200" dirty="0"/>
          </a:p>
        </p:txBody>
      </p:sp>
      <p:sp>
        <p:nvSpPr>
          <p:cNvPr id="20" name="Text 13"/>
          <p:cNvSpPr txBox="1"/>
          <p:nvPr/>
        </p:nvSpPr>
        <p:spPr>
          <a:xfrm>
            <a:off x="15468905" y="9562795"/>
            <a:ext cx="1905610" cy="200254"/>
          </a:xfrm>
          <a:prstGeom prst="rect">
            <a:avLst/>
          </a:prstGeom>
          <a:noFill/>
          <a:ln/>
        </p:spPr>
        <p:txBody>
          <a:bodyPr wrap="none" lIns="0" tIns="0" rIns="0" bIns="0" rtlCol="0" anchor="ctr"/>
          <a:lstStyle/>
          <a:p>
            <a:pPr algn="r" indent="0" marL="0">
              <a:buNone/>
            </a:pPr>
            <a:r>
              <a:rPr lang="en-US" sz="1200" spc="72" kern="0" dirty="0">
                <a:solidFill>
                  <a:srgbClr val="5A4F3F"/>
                </a:solidFill>
                <a:latin typeface="JetBrains Mono" pitchFamily="34" charset="0"/>
                <a:ea typeface="JetBrains Mono" pitchFamily="34" charset="-122"/>
                <a:cs typeface="JetBrains Mono" pitchFamily="34" charset="-120"/>
              </a:rPr>
              <a:t>02 / 32</a:t>
            </a:r>
            <a:endParaRPr lang="en-US" sz="1200" dirty="0"/>
          </a:p>
        </p:txBody>
      </p:sp>
      <p:sp>
        <p:nvSpPr>
          <p:cNvPr id="21" name="Text 14"/>
          <p:cNvSpPr txBox="1"/>
          <p:nvPr/>
        </p:nvSpPr>
        <p:spPr>
          <a:xfrm>
            <a:off x="914400" y="838505"/>
            <a:ext cx="5715000" cy="219456"/>
          </a:xfrm>
          <a:prstGeom prst="rect">
            <a:avLst/>
          </a:prstGeom>
          <a:noFill/>
          <a:ln/>
        </p:spPr>
        <p:txBody>
          <a:bodyPr wrap="none" lIns="0" tIns="0" rIns="0" bIns="0" rtlCol="0" anchor="ctr"/>
          <a:lstStyle/>
          <a:p>
            <a:pPr algn="l" indent="0" marL="0">
              <a:buNone/>
            </a:pPr>
            <a:r>
              <a:rPr lang="en-US" sz="1350" spc="324" kern="0" dirty="0">
                <a:solidFill>
                  <a:srgbClr val="B63A2A"/>
                </a:solidFill>
                <a:latin typeface="JetBrains Mono" pitchFamily="34" charset="0"/>
                <a:ea typeface="JetBrains Mono" pitchFamily="34" charset="-122"/>
                <a:cs typeface="JetBrains Mono" pitchFamily="34" charset="-120"/>
              </a:rPr>
              <a:t>02 · Goals</a:t>
            </a:r>
            <a:endParaRPr lang="en-US" sz="1350" dirty="0"/>
          </a:p>
        </p:txBody>
      </p:sp>
      <p:sp>
        <p:nvSpPr>
          <p:cNvPr id="22" name="Text 15"/>
          <p:cNvSpPr txBox="1"/>
          <p:nvPr/>
        </p:nvSpPr>
        <p:spPr>
          <a:xfrm>
            <a:off x="914400" y="1152144"/>
            <a:ext cx="5715000" cy="1762963"/>
          </a:xfrm>
          <a:prstGeom prst="rect">
            <a:avLst/>
          </a:prstGeom>
          <a:noFill/>
          <a:ln/>
        </p:spPr>
        <p:txBody>
          <a:bodyPr wrap="square" lIns="0" tIns="0" rIns="0" bIns="0" rtlCol="0" anchor="ctr"/>
          <a:lstStyle/>
          <a:p>
            <a:pPr algn="l" indent="0" marL="0">
              <a:lnSpc>
                <a:spcPct val="110000"/>
              </a:lnSpc>
              <a:buNone/>
            </a:pPr>
            <a:r>
              <a:rPr lang="en-US" sz="6300" b="1" spc="-126" kern="0" dirty="0">
                <a:solidFill>
                  <a:srgbClr val="211C13"/>
                </a:solidFill>
                <a:latin typeface="Zen Kaku Gothic Antique" pitchFamily="34" charset="0"/>
                <a:ea typeface="Zen Kaku Gothic Antique" pitchFamily="34" charset="-122"/>
                <a:cs typeface="Zen Kaku Gothic Antique" pitchFamily="34" charset="-120"/>
              </a:rPr>
              <a:t>今日、持ち帰るもの</a:t>
            </a:r>
            <a:endParaRPr lang="en-US" sz="6300" dirty="0"/>
          </a:p>
        </p:txBody>
      </p:sp>
      <p:sp>
        <p:nvSpPr>
          <p:cNvPr id="23" name="Text 16"/>
          <p:cNvSpPr txBox="1"/>
          <p:nvPr/>
        </p:nvSpPr>
        <p:spPr>
          <a:xfrm>
            <a:off x="914400" y="3238805"/>
            <a:ext cx="5143500" cy="2753258"/>
          </a:xfrm>
          <a:prstGeom prst="rect">
            <a:avLst/>
          </a:prstGeom>
          <a:noFill/>
          <a:ln/>
        </p:spPr>
        <p:txBody>
          <a:bodyPr wrap="none" lIns="0" tIns="0" rIns="0" bIns="0" rtlCol="0" anchor="ctr"/>
          <a:lstStyle/>
          <a:p>
            <a:pPr algn="l" indent="0" marL="0">
              <a:buNone/>
            </a:pPr>
            <a:r>
              <a:rPr lang="en-US" sz="25500" b="1" spc="-1530" kern="0" dirty="0">
                <a:solidFill>
                  <a:srgbClr val="B63A2A"/>
                </a:solidFill>
                <a:latin typeface="Zen Kaku Gothic Antique" pitchFamily="34" charset="0"/>
                <a:ea typeface="Zen Kaku Gothic Antique" pitchFamily="34" charset="-122"/>
                <a:cs typeface="Zen Kaku Gothic Antique" pitchFamily="34" charset="-120"/>
              </a:rPr>
              <a:t>3</a:t>
            </a:r>
            <a:endParaRPr lang="en-US" sz="25500" dirty="0"/>
          </a:p>
        </p:txBody>
      </p:sp>
      <p:sp>
        <p:nvSpPr>
          <p:cNvPr id="24" name="Text 17"/>
          <p:cNvSpPr txBox="1"/>
          <p:nvPr/>
        </p:nvSpPr>
        <p:spPr>
          <a:xfrm>
            <a:off x="914400" y="5959145"/>
            <a:ext cx="5143500" cy="1394460"/>
          </a:xfrm>
          <a:prstGeom prst="rect">
            <a:avLst/>
          </a:prstGeom>
          <a:noFill/>
          <a:ln/>
        </p:spPr>
        <p:txBody>
          <a:bodyPr wrap="square" lIns="0" tIns="0" rIns="0" bIns="0" rtlCol="0" anchor="t"/>
          <a:lstStyle/>
          <a:p>
            <a:pPr algn="l" indent="0" marL="0">
              <a:lnSpc>
                <a:spcPts val="3570"/>
              </a:lnSpc>
              <a:buNone/>
            </a:pPr>
            <a:r>
              <a:rPr lang="en-US" sz="2550" dirty="0">
                <a:solidFill>
                  <a:srgbClr val="211C13"/>
                </a:solidFill>
                <a:latin typeface="Noto Sans JP" pitchFamily="34" charset="0"/>
                <a:ea typeface="Noto Sans JP" pitchFamily="34" charset="-122"/>
                <a:cs typeface="Noto Sans JP" pitchFamily="34" charset="-120"/>
              </a:rPr>
              <a:t>つの典型脆弱性を、自分の手で再現してから</a:t>
            </a:r>
            <a:pPr algn="l" indent="0" marL="0">
              <a:lnSpc>
                <a:spcPts val="3570"/>
              </a:lnSpc>
              <a:buNone/>
            </a:pPr>
            <a:endParaRPr lang="en-US" sz="2550" dirty="0"/>
          </a:p>
          <a:p>
            <a:pPr algn="l" indent="0" marL="0">
              <a:lnSpc>
                <a:spcPts val="3570"/>
              </a:lnSpc>
              <a:buNone/>
            </a:pPr>
            <a:r>
              <a:rPr lang="en-US" sz="2550" dirty="0">
                <a:solidFill>
                  <a:srgbClr val="211C13"/>
                </a:solidFill>
                <a:latin typeface="Noto Sans JP" pitchFamily="34" charset="0"/>
                <a:ea typeface="Noto Sans JP" pitchFamily="34" charset="-122"/>
                <a:cs typeface="Noto Sans JP" pitchFamily="34" charset="-120"/>
              </a:rPr>
              <a:t>修正版と見比べる。</a:t>
            </a:r>
            <a:endParaRPr lang="en-US" sz="2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FE7D4"/>
        </a:solidFill>
      </p:bgPr>
    </p:bg>
    <p:spTree>
      <p:nvGrpSpPr>
        <p:cNvPr id="1" name=""/>
        <p:cNvGrpSpPr/>
        <p:nvPr/>
      </p:nvGrpSpPr>
      <p:grpSpPr>
        <a:xfrm>
          <a:off x="0" y="0"/>
          <a:ext cx="0" cy="0"/>
          <a:chOff x="0" y="0"/>
          <a:chExt cx="0" cy="0"/>
        </a:xfrm>
      </p:grpSpPr>
      <p:pic>
        <p:nvPicPr>
          <p:cNvPr id="3" name="Image 0" descr="gen-dedup-774e754f3b3814439e3e91eb30e8db5d.png">    </p:cNvPr>
          <p:cNvPicPr>
            <a:picLocks noChangeAspect="1"/>
          </p:cNvPicPr>
          <p:nvPr/>
        </p:nvPicPr>
        <p:blipFill>
          <a:blip r:embed="rId1"/>
          <a:srcRect l="0" r="0" t="-401" b="-401"/>
          <a:stretch/>
        </p:blipFill>
        <p:spPr>
          <a:xfrm>
            <a:off x="1333195" y="3619195"/>
            <a:ext cx="15620695" cy="38405"/>
          </a:xfrm>
          <a:prstGeom prst="rect">
            <a:avLst/>
          </a:prstGeom>
        </p:spPr>
      </p:pic>
      <p:pic>
        <p:nvPicPr>
          <p:cNvPr id="4" name="Image 1" descr="gen-dedup-6eda1a9887bae34bd17c5a6e45a85c4f.png">    </p:cNvPr>
          <p:cNvPicPr>
            <a:picLocks noChangeAspect="1"/>
          </p:cNvPicPr>
          <p:nvPr/>
        </p:nvPicPr>
        <p:blipFill>
          <a:blip r:embed="rId2"/>
          <a:srcRect l="-400" r="-400" t="0" b="0"/>
          <a:stretch/>
        </p:blipFill>
        <p:spPr>
          <a:xfrm>
            <a:off x="1143000" y="3619195"/>
            <a:ext cx="19202" cy="5715000"/>
          </a:xfrm>
          <a:prstGeom prst="rect">
            <a:avLst/>
          </a:prstGeom>
        </p:spPr>
      </p:pic>
      <p:sp>
        <p:nvSpPr>
          <p:cNvPr id="5" name="Shape 0"/>
          <p:cNvSpPr/>
          <p:nvPr/>
        </p:nvSpPr>
        <p:spPr>
          <a:xfrm>
            <a:off x="7429500" y="6476695"/>
            <a:ext cx="9905695" cy="2286000"/>
          </a:xfrm>
          <a:prstGeom prst="roundRect">
            <a:avLst>
              <a:gd name="adj" fmla="val 1680"/>
            </a:avLst>
          </a:prstGeom>
          <a:solidFill>
            <a:srgbClr val="E5DBC4"/>
          </a:solidFill>
          <a:ln w="12700">
            <a:solidFill>
              <a:srgbClr val="FFFFFF">
                <a:alpha val="0"/>
              </a:srgbClr>
            </a:solidFill>
            <a:prstDash val="solid"/>
          </a:ln>
        </p:spPr>
      </p:sp>
      <p:sp>
        <p:nvSpPr>
          <p:cNvPr id="6" name="Shape 1"/>
          <p:cNvSpPr/>
          <p:nvPr/>
        </p:nvSpPr>
        <p:spPr>
          <a:xfrm>
            <a:off x="1333195" y="3504895"/>
            <a:ext cx="1904695" cy="267005"/>
          </a:xfrm>
          <a:prstGeom prst="rect">
            <a:avLst/>
          </a:prstGeom>
          <a:solidFill>
            <a:srgbClr val="5A4F3F"/>
          </a:solidFill>
          <a:ln w="12700">
            <a:solidFill>
              <a:srgbClr val="FFFFFF">
                <a:alpha val="0"/>
              </a:srgbClr>
            </a:solidFill>
            <a:prstDash val="solid"/>
          </a:ln>
        </p:spPr>
      </p:sp>
      <p:sp>
        <p:nvSpPr>
          <p:cNvPr id="7" name="Shape 2"/>
          <p:cNvSpPr/>
          <p:nvPr/>
        </p:nvSpPr>
        <p:spPr>
          <a:xfrm>
            <a:off x="3238805" y="3504895"/>
            <a:ext cx="4572000" cy="267005"/>
          </a:xfrm>
          <a:prstGeom prst="rect">
            <a:avLst/>
          </a:prstGeom>
          <a:solidFill>
            <a:srgbClr val="B63A2A"/>
          </a:solidFill>
          <a:ln w="12700">
            <a:solidFill>
              <a:srgbClr val="FFFFFF">
                <a:alpha val="0"/>
              </a:srgbClr>
            </a:solidFill>
            <a:prstDash val="solid"/>
          </a:ln>
        </p:spPr>
      </p:sp>
      <p:sp>
        <p:nvSpPr>
          <p:cNvPr id="8" name="Shape 3"/>
          <p:cNvSpPr/>
          <p:nvPr/>
        </p:nvSpPr>
        <p:spPr>
          <a:xfrm>
            <a:off x="7810805" y="3504895"/>
            <a:ext cx="1904695" cy="267005"/>
          </a:xfrm>
          <a:prstGeom prst="rect">
            <a:avLst/>
          </a:prstGeom>
          <a:solidFill>
            <a:srgbClr val="B63A2A">
              <a:alpha val="55000"/>
            </a:srgbClr>
          </a:solidFill>
          <a:ln w="12700">
            <a:solidFill>
              <a:srgbClr val="FFFFFF">
                <a:alpha val="0"/>
              </a:srgbClr>
            </a:solidFill>
            <a:prstDash val="solid"/>
          </a:ln>
        </p:spPr>
      </p:sp>
      <p:sp>
        <p:nvSpPr>
          <p:cNvPr id="9" name="Shape 4"/>
          <p:cNvSpPr/>
          <p:nvPr/>
        </p:nvSpPr>
        <p:spPr>
          <a:xfrm>
            <a:off x="9715500" y="3504895"/>
            <a:ext cx="4572000" cy="267005"/>
          </a:xfrm>
          <a:prstGeom prst="rect">
            <a:avLst/>
          </a:prstGeom>
          <a:solidFill>
            <a:srgbClr val="B4791F"/>
          </a:solidFill>
          <a:ln w="12700">
            <a:solidFill>
              <a:srgbClr val="FFFFFF">
                <a:alpha val="0"/>
              </a:srgbClr>
            </a:solidFill>
            <a:prstDash val="solid"/>
          </a:ln>
        </p:spPr>
      </p:sp>
      <p:sp>
        <p:nvSpPr>
          <p:cNvPr id="10" name="Shape 5"/>
          <p:cNvSpPr/>
          <p:nvPr/>
        </p:nvSpPr>
        <p:spPr>
          <a:xfrm>
            <a:off x="14287500" y="3504895"/>
            <a:ext cx="1904695" cy="267005"/>
          </a:xfrm>
          <a:prstGeom prst="rect">
            <a:avLst/>
          </a:prstGeom>
          <a:solidFill>
            <a:srgbClr val="B4791F">
              <a:alpha val="55000"/>
            </a:srgbClr>
          </a:solidFill>
          <a:ln w="12700">
            <a:solidFill>
              <a:srgbClr val="FFFFFF">
                <a:alpha val="0"/>
              </a:srgbClr>
            </a:solidFill>
            <a:prstDash val="solid"/>
          </a:ln>
        </p:spPr>
      </p:sp>
      <p:sp>
        <p:nvSpPr>
          <p:cNvPr id="11" name="Shape 6"/>
          <p:cNvSpPr/>
          <p:nvPr/>
        </p:nvSpPr>
        <p:spPr>
          <a:xfrm>
            <a:off x="16192195" y="3504895"/>
            <a:ext cx="571500" cy="267005"/>
          </a:xfrm>
          <a:prstGeom prst="rect">
            <a:avLst/>
          </a:prstGeom>
          <a:solidFill>
            <a:srgbClr val="2D5D5A"/>
          </a:solidFill>
          <a:ln w="12700">
            <a:solidFill>
              <a:srgbClr val="FFFFFF">
                <a:alpha val="0"/>
              </a:srgbClr>
            </a:solidFill>
            <a:prstDash val="solid"/>
          </a:ln>
        </p:spPr>
      </p:sp>
      <p:pic>
        <p:nvPicPr>
          <p:cNvPr id="12" name="Image 2" descr="gen-dedup-631e47a6891fae8d3fe69f209ba21f3f.png">    </p:cNvPr>
          <p:cNvPicPr>
            <a:picLocks noChangeAspect="1"/>
          </p:cNvPicPr>
          <p:nvPr/>
        </p:nvPicPr>
        <p:blipFill>
          <a:blip r:embed="rId3"/>
          <a:srcRect l="-400" r="-400" t="0" b="0"/>
          <a:stretch/>
        </p:blipFill>
        <p:spPr>
          <a:xfrm>
            <a:off x="7429500" y="6476695"/>
            <a:ext cx="57607" cy="2286000"/>
          </a:xfrm>
          <a:prstGeom prst="rect">
            <a:avLst/>
          </a:prstGeom>
        </p:spPr>
      </p:pic>
      <p:sp>
        <p:nvSpPr>
          <p:cNvPr id="13" name="Text 7"/>
          <p:cNvSpPr txBox="1"/>
          <p:nvPr/>
        </p:nvSpPr>
        <p:spPr>
          <a:xfrm>
            <a:off x="7810805" y="6724498"/>
            <a:ext cx="9335110" cy="200254"/>
          </a:xfrm>
          <a:prstGeom prst="rect">
            <a:avLst/>
          </a:prstGeom>
          <a:noFill/>
          <a:ln/>
        </p:spPr>
        <p:txBody>
          <a:bodyPr wrap="none" lIns="0" tIns="0" rIns="0" bIns="0" rtlCol="0" anchor="ctr"/>
          <a:lstStyle/>
          <a:p>
            <a:pPr algn="l" indent="0" marL="0">
              <a:buNone/>
            </a:pPr>
            <a:r>
              <a:rPr lang="en-US" sz="1200" spc="216" kern="0" dirty="0">
                <a:solidFill>
                  <a:srgbClr val="211C13"/>
                </a:solidFill>
                <a:latin typeface="JetBrains Mono" pitchFamily="34" charset="0"/>
                <a:ea typeface="JetBrains Mono" pitchFamily="34" charset="-122"/>
                <a:cs typeface="JetBrains Mono" pitchFamily="34" charset="-120"/>
              </a:rPr>
              <a:t>Note</a:t>
            </a:r>
            <a:endParaRPr lang="en-US" sz="1200" dirty="0"/>
          </a:p>
        </p:txBody>
      </p:sp>
      <p:sp>
        <p:nvSpPr>
          <p:cNvPr id="14" name="Text 8"/>
          <p:cNvSpPr txBox="1"/>
          <p:nvPr/>
        </p:nvSpPr>
        <p:spPr>
          <a:xfrm>
            <a:off x="7810805" y="6998818"/>
            <a:ext cx="9335110" cy="1460297"/>
          </a:xfrm>
          <a:prstGeom prst="rect">
            <a:avLst/>
          </a:prstGeom>
          <a:noFill/>
          <a:ln/>
        </p:spPr>
        <p:txBody>
          <a:bodyPr wrap="square" lIns="0" tIns="0" rIns="0" bIns="0" rtlCol="0" anchor="t"/>
          <a:lstStyle/>
          <a:p>
            <a:pPr algn="l" indent="0" marL="0">
              <a:lnSpc>
                <a:spcPts val="2790"/>
              </a:lnSpc>
              <a:buNone/>
            </a:pPr>
            <a:r>
              <a:rPr lang="en-US" sz="1800" dirty="0">
                <a:solidFill>
                  <a:srgbClr val="211C13"/>
                </a:solidFill>
                <a:latin typeface="Noto Sans JP" pitchFamily="34" charset="0"/>
                <a:ea typeface="Noto Sans JP" pitchFamily="34" charset="-122"/>
                <a:cs typeface="Noto Sans JP" pitchFamily="34" charset="-120"/>
              </a:rPr>
              <a:t>時間は目安です。実装を見ながら前後させます。</a:t>
            </a:r>
            <a:pPr algn="l" indent="0" marL="0">
              <a:lnSpc>
                <a:spcPts val="2790"/>
              </a:lnSpc>
              <a:buNone/>
            </a:pPr>
            <a:endParaRPr lang="en-US" sz="1800" dirty="0"/>
          </a:p>
          <a:p>
            <a:pPr algn="l" indent="0" marL="0">
              <a:lnSpc>
                <a:spcPts val="2790"/>
              </a:lnSpc>
              <a:buNone/>
            </a:pPr>
            <a:r>
              <a:rPr lang="en-US" sz="1800" dirty="0">
                <a:solidFill>
                  <a:srgbClr val="211C13"/>
                </a:solidFill>
                <a:latin typeface="Noto Sans JP" pitchFamily="34" charset="0"/>
                <a:ea typeface="Noto Sans JP" pitchFamily="34" charset="-122"/>
                <a:cs typeface="Noto Sans JP" pitchFamily="34" charset="-120"/>
              </a:rPr>
              <a:t>IDOR は「余裕がある参加者」と「講師デモ」の二本立て。</a:t>
            </a:r>
            <a:pPr algn="l" indent="0" marL="0">
              <a:lnSpc>
                <a:spcPts val="2790"/>
              </a:lnSpc>
              <a:buNone/>
            </a:pPr>
            <a:endParaRPr lang="en-US" sz="1800" dirty="0"/>
          </a:p>
          <a:p>
            <a:pPr algn="l" indent="0" marL="0">
              <a:lnSpc>
                <a:spcPts val="2790"/>
              </a:lnSpc>
              <a:buNone/>
            </a:pPr>
            <a:r>
              <a:rPr lang="en-US" sz="1800" dirty="0">
                <a:solidFill>
                  <a:srgbClr val="211C13"/>
                </a:solidFill>
                <a:latin typeface="Noto Sans JP" pitchFamily="34" charset="0"/>
                <a:ea typeface="Noto Sans JP" pitchFamily="34" charset="-122"/>
                <a:cs typeface="Noto Sans JP" pitchFamily="34" charset="-120"/>
              </a:rPr>
              <a:t>提出UIは無いため「提出してください」とは言いません。講師が口頭で進捗を確認します。</a:t>
            </a:r>
            <a:endParaRPr lang="en-US" sz="1800" dirty="0"/>
          </a:p>
        </p:txBody>
      </p:sp>
      <p:pic>
        <p:nvPicPr>
          <p:cNvPr id="15" name="Image 3" descr="gen-dedup-ff3b843c62efd2578b331bdfc9bb7c8f.png">    </p:cNvPr>
          <p:cNvPicPr>
            <a:picLocks noChangeAspect="1"/>
          </p:cNvPicPr>
          <p:nvPr/>
        </p:nvPicPr>
        <p:blipFill>
          <a:blip r:embed="rId4"/>
          <a:srcRect l="-2083" r="-2083" t="0" b="0"/>
          <a:stretch/>
        </p:blipFill>
        <p:spPr>
          <a:xfrm>
            <a:off x="914400" y="9334195"/>
            <a:ext cx="16459200" cy="9144"/>
          </a:xfrm>
          <a:prstGeom prst="rect">
            <a:avLst/>
          </a:prstGeom>
        </p:spPr>
      </p:pic>
      <p:sp>
        <p:nvSpPr>
          <p:cNvPr id="16" name="Text 9"/>
          <p:cNvSpPr txBox="1"/>
          <p:nvPr/>
        </p:nvSpPr>
        <p:spPr>
          <a:xfrm>
            <a:off x="1333195" y="4095598"/>
            <a:ext cx="1905610" cy="219456"/>
          </a:xfrm>
          <a:prstGeom prst="rect">
            <a:avLst/>
          </a:prstGeom>
          <a:noFill/>
          <a:ln/>
        </p:spPr>
        <p:txBody>
          <a:bodyPr wrap="none" lIns="0" tIns="0" rIns="0" bIns="0" rtlCol="0" anchor="ctr"/>
          <a:lstStyle/>
          <a:p>
            <a:pPr algn="l" indent="0" marL="0">
              <a:buNone/>
            </a:pPr>
            <a:r>
              <a:rPr lang="en-US" sz="1350" spc="81" kern="0" dirty="0">
                <a:solidFill>
                  <a:srgbClr val="5A4F3F"/>
                </a:solidFill>
                <a:latin typeface="JetBrains Mono" pitchFamily="34" charset="0"/>
                <a:ea typeface="JetBrains Mono" pitchFamily="34" charset="-122"/>
                <a:cs typeface="JetBrains Mono" pitchFamily="34" charset="-120"/>
              </a:rPr>
              <a:t>00–05</a:t>
            </a:r>
            <a:endParaRPr lang="en-US" sz="1350" dirty="0"/>
          </a:p>
        </p:txBody>
      </p:sp>
      <p:sp>
        <p:nvSpPr>
          <p:cNvPr id="17" name="Text 10"/>
          <p:cNvSpPr txBox="1"/>
          <p:nvPr/>
        </p:nvSpPr>
        <p:spPr>
          <a:xfrm>
            <a:off x="1333195" y="4390949"/>
            <a:ext cx="1905610" cy="342900"/>
          </a:xfrm>
          <a:prstGeom prst="rect">
            <a:avLst/>
          </a:prstGeom>
          <a:noFill/>
          <a:ln/>
        </p:spPr>
        <p:txBody>
          <a:bodyPr wrap="none" lIns="0" tIns="0" rIns="0" bIns="0" rtlCol="0" anchor="ctr"/>
          <a:lstStyle/>
          <a:p>
            <a:pPr algn="l" indent="0" marL="0">
              <a:buNone/>
            </a:pPr>
            <a:r>
              <a:rPr lang="en-US" sz="2250" b="1" dirty="0">
                <a:solidFill>
                  <a:srgbClr val="211C13"/>
                </a:solidFill>
                <a:latin typeface="Zen Kaku Gothic Antique" pitchFamily="34" charset="0"/>
                <a:ea typeface="Zen Kaku Gothic Antique" pitchFamily="34" charset="-122"/>
                <a:cs typeface="Zen Kaku Gothic Antique" pitchFamily="34" charset="-120"/>
              </a:rPr>
              <a:t>導入</a:t>
            </a:r>
            <a:endParaRPr lang="en-US" sz="2250" dirty="0"/>
          </a:p>
        </p:txBody>
      </p:sp>
      <p:sp>
        <p:nvSpPr>
          <p:cNvPr id="18" name="Text 11"/>
          <p:cNvSpPr txBox="1"/>
          <p:nvPr/>
        </p:nvSpPr>
        <p:spPr>
          <a:xfrm>
            <a:off x="1333195" y="4767682"/>
            <a:ext cx="1905610" cy="576986"/>
          </a:xfrm>
          <a:prstGeom prst="rect">
            <a:avLst/>
          </a:prstGeom>
          <a:noFill/>
          <a:ln/>
        </p:spPr>
        <p:txBody>
          <a:bodyPr wrap="square" lIns="0" tIns="0" rIns="0" bIns="0" rtlCol="0" anchor="t"/>
          <a:lstStyle/>
          <a:p>
            <a:pPr algn="l" indent="0" marL="0">
              <a:lnSpc>
                <a:spcPts val="2175"/>
              </a:lnSpc>
              <a:buNone/>
            </a:pPr>
            <a:r>
              <a:rPr lang="en-US" sz="1500" dirty="0">
                <a:solidFill>
                  <a:srgbClr val="5A4F3F"/>
                </a:solidFill>
                <a:latin typeface="Noto Sans JP" pitchFamily="34" charset="0"/>
                <a:ea typeface="Noto Sans JP" pitchFamily="34" charset="-122"/>
                <a:cs typeface="Noto Sans JP" pitchFamily="34" charset="-120"/>
              </a:rPr>
              <a:t>目的・範囲・登録</a:t>
            </a:r>
            <a:pPr algn="l" indent="0" marL="0">
              <a:lnSpc>
                <a:spcPts val="2175"/>
              </a:lnSpc>
              <a:buNone/>
            </a:pPr>
            <a:endParaRPr lang="en-US" sz="1500" dirty="0"/>
          </a:p>
          <a:p>
            <a:pPr algn="l" indent="0" marL="0">
              <a:lnSpc>
                <a:spcPts val="2175"/>
              </a:lnSpc>
              <a:buNone/>
            </a:pPr>
            <a:r>
              <a:rPr lang="en-US" sz="1500" dirty="0">
                <a:solidFill>
                  <a:srgbClr val="5A4F3F"/>
                </a:solidFill>
                <a:latin typeface="Noto Sans JP" pitchFamily="34" charset="0"/>
                <a:ea typeface="Noto Sans JP" pitchFamily="34" charset="-122"/>
                <a:cs typeface="Noto Sans JP" pitchFamily="34" charset="-120"/>
              </a:rPr>
              <a:t>DevTools 準備</a:t>
            </a:r>
            <a:endParaRPr lang="en-US" sz="1500" dirty="0"/>
          </a:p>
        </p:txBody>
      </p:sp>
      <p:sp>
        <p:nvSpPr>
          <p:cNvPr id="19" name="Text 12"/>
          <p:cNvSpPr txBox="1"/>
          <p:nvPr/>
        </p:nvSpPr>
        <p:spPr>
          <a:xfrm>
            <a:off x="3238805" y="4095598"/>
            <a:ext cx="4572000" cy="219456"/>
          </a:xfrm>
          <a:prstGeom prst="rect">
            <a:avLst/>
          </a:prstGeom>
          <a:noFill/>
          <a:ln/>
        </p:spPr>
        <p:txBody>
          <a:bodyPr wrap="none" lIns="0" tIns="0" rIns="0" bIns="0" rtlCol="0" anchor="ctr"/>
          <a:lstStyle/>
          <a:p>
            <a:pPr algn="l" indent="0" marL="0">
              <a:buNone/>
            </a:pPr>
            <a:r>
              <a:rPr lang="en-US" sz="1350" spc="81" kern="0" dirty="0">
                <a:solidFill>
                  <a:srgbClr val="B63A2A"/>
                </a:solidFill>
                <a:latin typeface="JetBrains Mono" pitchFamily="34" charset="0"/>
                <a:ea typeface="JetBrains Mono" pitchFamily="34" charset="-122"/>
                <a:cs typeface="JetBrains Mono" pitchFamily="34" charset="-120"/>
              </a:rPr>
              <a:t>05–15</a:t>
            </a:r>
            <a:endParaRPr lang="en-US" sz="1350" dirty="0"/>
          </a:p>
        </p:txBody>
      </p:sp>
      <p:sp>
        <p:nvSpPr>
          <p:cNvPr id="20" name="Text 13"/>
          <p:cNvSpPr txBox="1"/>
          <p:nvPr/>
        </p:nvSpPr>
        <p:spPr>
          <a:xfrm>
            <a:off x="3238805" y="4390949"/>
            <a:ext cx="4572000" cy="342900"/>
          </a:xfrm>
          <a:prstGeom prst="rect">
            <a:avLst/>
          </a:prstGeom>
          <a:noFill/>
          <a:ln/>
        </p:spPr>
        <p:txBody>
          <a:bodyPr wrap="none" lIns="0" tIns="0" rIns="0" bIns="0" rtlCol="0" anchor="ctr"/>
          <a:lstStyle/>
          <a:p>
            <a:pPr algn="l" indent="0" marL="0">
              <a:buNone/>
            </a:pPr>
            <a:r>
              <a:rPr lang="en-US" sz="2250" b="1" dirty="0">
                <a:solidFill>
                  <a:srgbClr val="211C13"/>
                </a:solidFill>
                <a:latin typeface="Zen Kaku Gothic Antique" pitchFamily="34" charset="0"/>
                <a:ea typeface="Zen Kaku Gothic Antique" pitchFamily="34" charset="-122"/>
                <a:cs typeface="Zen Kaku Gothic Antique" pitchFamily="34" charset="-120"/>
              </a:rPr>
              <a:t>SQLインジェクション 演習</a:t>
            </a:r>
            <a:endParaRPr lang="en-US" sz="2250" dirty="0"/>
          </a:p>
        </p:txBody>
      </p:sp>
      <p:sp>
        <p:nvSpPr>
          <p:cNvPr id="21" name="Text 14"/>
          <p:cNvSpPr txBox="1"/>
          <p:nvPr/>
        </p:nvSpPr>
        <p:spPr>
          <a:xfrm>
            <a:off x="3238805" y="4767682"/>
            <a:ext cx="4572000" cy="576986"/>
          </a:xfrm>
          <a:prstGeom prst="rect">
            <a:avLst/>
          </a:prstGeom>
          <a:noFill/>
          <a:ln/>
        </p:spPr>
        <p:txBody>
          <a:bodyPr wrap="square" lIns="0" tIns="0" rIns="0" bIns="0" rtlCol="0" anchor="t"/>
          <a:lstStyle/>
          <a:p>
            <a:pPr algn="l" indent="0" marL="0">
              <a:lnSpc>
                <a:spcPts val="2175"/>
              </a:lnSpc>
              <a:buNone/>
            </a:pPr>
            <a:r>
              <a:rPr lang="en-US" sz="1500" dirty="0">
                <a:solidFill>
                  <a:srgbClr val="5A4F3F"/>
                </a:solidFill>
                <a:latin typeface="Noto Sans JP" pitchFamily="34" charset="0"/>
                <a:ea typeface="Noto Sans JP" pitchFamily="34" charset="-122"/>
                <a:cs typeface="Noto Sans JP" pitchFamily="34" charset="-120"/>
              </a:rPr>
              <a:t>段階的ヒントを含む 10分の個人作業</a:t>
            </a:r>
            <a:pPr algn="l" indent="0" marL="0">
              <a:lnSpc>
                <a:spcPts val="2175"/>
              </a:lnSpc>
              <a:buNone/>
            </a:pPr>
            <a:endParaRPr lang="en-US" sz="1500" dirty="0"/>
          </a:p>
          <a:p>
            <a:pPr algn="l" indent="0" marL="0">
              <a:lnSpc>
                <a:spcPts val="2175"/>
              </a:lnSpc>
              <a:buNone/>
            </a:pPr>
            <a:r>
              <a:rPr lang="en-US" sz="1500" dirty="0">
                <a:solidFill>
                  <a:srgbClr val="5A4F3F"/>
                </a:solidFill>
                <a:latin typeface="Noto Sans JP" pitchFamily="34" charset="0"/>
                <a:ea typeface="Noto Sans JP" pitchFamily="34" charset="-122"/>
                <a:cs typeface="Noto Sans JP" pitchFamily="34" charset="-120"/>
              </a:rPr>
              <a:t>途中で詰まったら講師が口頭で補助</a:t>
            </a:r>
            <a:endParaRPr lang="en-US" sz="1500" dirty="0"/>
          </a:p>
        </p:txBody>
      </p:sp>
      <p:sp>
        <p:nvSpPr>
          <p:cNvPr id="22" name="Text 15"/>
          <p:cNvSpPr txBox="1"/>
          <p:nvPr/>
        </p:nvSpPr>
        <p:spPr>
          <a:xfrm>
            <a:off x="7810805" y="4390949"/>
            <a:ext cx="1905610" cy="685800"/>
          </a:xfrm>
          <a:prstGeom prst="rect">
            <a:avLst/>
          </a:prstGeom>
          <a:noFill/>
          <a:ln/>
        </p:spPr>
        <p:txBody>
          <a:bodyPr wrap="square" lIns="0" tIns="0" rIns="0" bIns="0" rtlCol="0" anchor="t"/>
          <a:lstStyle/>
          <a:p>
            <a:pPr algn="l" indent="0" marL="0">
              <a:lnSpc>
                <a:spcPct val="120000"/>
              </a:lnSpc>
              <a:buNone/>
            </a:pPr>
            <a:r>
              <a:rPr lang="en-US" sz="2250" b="1" dirty="0">
                <a:solidFill>
                  <a:srgbClr val="211C13"/>
                </a:solidFill>
                <a:latin typeface="Zen Kaku Gothic Antique" pitchFamily="34" charset="0"/>
                <a:ea typeface="Zen Kaku Gothic Antique" pitchFamily="34" charset="-122"/>
                <a:cs typeface="Zen Kaku Gothic Antique" pitchFamily="34" charset="-120"/>
              </a:rPr>
              <a:t>SQLi の</a:t>
            </a:r>
            <a:pPr algn="l" indent="0" marL="0">
              <a:lnSpc>
                <a:spcPct val="120000"/>
              </a:lnSpc>
              <a:buNone/>
            </a:pPr>
            <a:endParaRPr lang="en-US" sz="2250" dirty="0"/>
          </a:p>
          <a:p>
            <a:pPr algn="l" indent="0" marL="0">
              <a:lnSpc>
                <a:spcPct val="120000"/>
              </a:lnSpc>
              <a:buNone/>
            </a:pPr>
            <a:r>
              <a:rPr lang="en-US" sz="2250" b="1" dirty="0">
                <a:solidFill>
                  <a:srgbClr val="211C13"/>
                </a:solidFill>
                <a:latin typeface="Zen Kaku Gothic Antique" pitchFamily="34" charset="0"/>
                <a:ea typeface="Zen Kaku Gothic Antique" pitchFamily="34" charset="-122"/>
                <a:cs typeface="Zen Kaku Gothic Antique" pitchFamily="34" charset="-120"/>
              </a:rPr>
              <a:t>解答と比較</a:t>
            </a:r>
            <a:endParaRPr lang="en-US" sz="2250" dirty="0"/>
          </a:p>
        </p:txBody>
      </p:sp>
      <p:sp>
        <p:nvSpPr>
          <p:cNvPr id="23" name="Text 16"/>
          <p:cNvSpPr txBox="1"/>
          <p:nvPr/>
        </p:nvSpPr>
        <p:spPr>
          <a:xfrm>
            <a:off x="7810805" y="4095598"/>
            <a:ext cx="1905610" cy="219456"/>
          </a:xfrm>
          <a:prstGeom prst="rect">
            <a:avLst/>
          </a:prstGeom>
          <a:noFill/>
          <a:ln/>
        </p:spPr>
        <p:txBody>
          <a:bodyPr wrap="none" lIns="0" tIns="0" rIns="0" bIns="0" rtlCol="0" anchor="ctr"/>
          <a:lstStyle/>
          <a:p>
            <a:pPr algn="l" indent="0" marL="0">
              <a:buNone/>
            </a:pPr>
            <a:r>
              <a:rPr lang="en-US" sz="1350" spc="81" kern="0" dirty="0">
                <a:solidFill>
                  <a:srgbClr val="B63A2A">
                    <a:alpha val="70000"/>
                  </a:srgbClr>
                </a:solidFill>
                <a:latin typeface="JetBrains Mono" pitchFamily="34" charset="0"/>
                <a:ea typeface="JetBrains Mono" pitchFamily="34" charset="-122"/>
                <a:cs typeface="JetBrains Mono" pitchFamily="34" charset="-120"/>
              </a:rPr>
              <a:t>15–19</a:t>
            </a:r>
            <a:endParaRPr lang="en-US" sz="1350" dirty="0"/>
          </a:p>
        </p:txBody>
      </p:sp>
      <p:sp>
        <p:nvSpPr>
          <p:cNvPr id="24" name="Text 17"/>
          <p:cNvSpPr txBox="1"/>
          <p:nvPr/>
        </p:nvSpPr>
        <p:spPr>
          <a:xfrm>
            <a:off x="9715500" y="4095598"/>
            <a:ext cx="4572000" cy="219456"/>
          </a:xfrm>
          <a:prstGeom prst="rect">
            <a:avLst/>
          </a:prstGeom>
          <a:noFill/>
          <a:ln/>
        </p:spPr>
        <p:txBody>
          <a:bodyPr wrap="none" lIns="0" tIns="0" rIns="0" bIns="0" rtlCol="0" anchor="ctr"/>
          <a:lstStyle/>
          <a:p>
            <a:pPr algn="l" indent="0" marL="0">
              <a:buNone/>
            </a:pPr>
            <a:r>
              <a:rPr lang="en-US" sz="1350" spc="81" kern="0" dirty="0">
                <a:solidFill>
                  <a:srgbClr val="B4791F"/>
                </a:solidFill>
                <a:latin typeface="JetBrains Mono" pitchFamily="34" charset="0"/>
                <a:ea typeface="JetBrains Mono" pitchFamily="34" charset="-122"/>
                <a:cs typeface="JetBrains Mono" pitchFamily="34" charset="-120"/>
              </a:rPr>
              <a:t>19–29</a:t>
            </a:r>
            <a:endParaRPr lang="en-US" sz="1350" dirty="0"/>
          </a:p>
        </p:txBody>
      </p:sp>
      <p:sp>
        <p:nvSpPr>
          <p:cNvPr id="25" name="Text 18"/>
          <p:cNvSpPr txBox="1"/>
          <p:nvPr/>
        </p:nvSpPr>
        <p:spPr>
          <a:xfrm>
            <a:off x="9715500" y="4390949"/>
            <a:ext cx="4572000" cy="342900"/>
          </a:xfrm>
          <a:prstGeom prst="rect">
            <a:avLst/>
          </a:prstGeom>
          <a:noFill/>
          <a:ln/>
        </p:spPr>
        <p:txBody>
          <a:bodyPr wrap="none" lIns="0" tIns="0" rIns="0" bIns="0" rtlCol="0" anchor="ctr"/>
          <a:lstStyle/>
          <a:p>
            <a:pPr algn="l" indent="0" marL="0">
              <a:buNone/>
            </a:pPr>
            <a:r>
              <a:rPr lang="en-US" sz="2250" b="1" dirty="0">
                <a:solidFill>
                  <a:srgbClr val="211C13"/>
                </a:solidFill>
                <a:latin typeface="Zen Kaku Gothic Antique" pitchFamily="34" charset="0"/>
                <a:ea typeface="Zen Kaku Gothic Antique" pitchFamily="34" charset="-122"/>
                <a:cs typeface="Zen Kaku Gothic Antique" pitchFamily="34" charset="-120"/>
              </a:rPr>
              <a:t>保存型 XSS 演習</a:t>
            </a:r>
            <a:endParaRPr lang="en-US" sz="2250" dirty="0"/>
          </a:p>
        </p:txBody>
      </p:sp>
      <p:sp>
        <p:nvSpPr>
          <p:cNvPr id="26" name="Text 19"/>
          <p:cNvSpPr txBox="1"/>
          <p:nvPr/>
        </p:nvSpPr>
        <p:spPr>
          <a:xfrm>
            <a:off x="9715500" y="4791456"/>
            <a:ext cx="4572000" cy="277063"/>
          </a:xfrm>
          <a:prstGeom prst="rect">
            <a:avLst/>
          </a:prstGeom>
          <a:noFill/>
          <a:ln/>
        </p:spPr>
        <p:txBody>
          <a:bodyPr wrap="none" lIns="0" tIns="0" rIns="0" bIns="0" rtlCol="0" anchor="ctr"/>
          <a:lstStyle/>
          <a:p>
            <a:pPr algn="l" indent="0" marL="0">
              <a:buNone/>
            </a:pPr>
            <a:r>
              <a:rPr lang="en-US" sz="1500" dirty="0">
                <a:solidFill>
                  <a:srgbClr val="5A4F3F"/>
                </a:solidFill>
                <a:latin typeface="Noto Sans JP" pitchFamily="34" charset="0"/>
                <a:ea typeface="Noto Sans JP" pitchFamily="34" charset="-122"/>
                <a:cs typeface="Noto Sans JP" pitchFamily="34" charset="-120"/>
              </a:rPr>
              <a:t>10分。観察 → 保存経路 → 解答前の段階ヒント</a:t>
            </a:r>
            <a:endParaRPr lang="en-US" sz="1500" dirty="0"/>
          </a:p>
        </p:txBody>
      </p:sp>
      <p:sp>
        <p:nvSpPr>
          <p:cNvPr id="27" name="Text 20"/>
          <p:cNvSpPr txBox="1"/>
          <p:nvPr/>
        </p:nvSpPr>
        <p:spPr>
          <a:xfrm>
            <a:off x="14287500" y="4390949"/>
            <a:ext cx="1905610" cy="685800"/>
          </a:xfrm>
          <a:prstGeom prst="rect">
            <a:avLst/>
          </a:prstGeom>
          <a:noFill/>
          <a:ln/>
        </p:spPr>
        <p:txBody>
          <a:bodyPr wrap="square" lIns="0" tIns="0" rIns="0" bIns="0" rtlCol="0" anchor="t"/>
          <a:lstStyle/>
          <a:p>
            <a:pPr algn="l" indent="0" marL="0">
              <a:lnSpc>
                <a:spcPct val="120000"/>
              </a:lnSpc>
              <a:buNone/>
            </a:pPr>
            <a:r>
              <a:rPr lang="en-US" sz="2250" b="1" dirty="0">
                <a:solidFill>
                  <a:srgbClr val="211C13"/>
                </a:solidFill>
                <a:latin typeface="Zen Kaku Gothic Antique" pitchFamily="34" charset="0"/>
                <a:ea typeface="Zen Kaku Gothic Antique" pitchFamily="34" charset="-122"/>
                <a:cs typeface="Zen Kaku Gothic Antique" pitchFamily="34" charset="-120"/>
              </a:rPr>
              <a:t>XSS の</a:t>
            </a:r>
            <a:pPr algn="l" indent="0" marL="0">
              <a:lnSpc>
                <a:spcPct val="120000"/>
              </a:lnSpc>
              <a:buNone/>
            </a:pPr>
            <a:endParaRPr lang="en-US" sz="2250" dirty="0"/>
          </a:p>
          <a:p>
            <a:pPr algn="l" indent="0" marL="0">
              <a:lnSpc>
                <a:spcPct val="120000"/>
              </a:lnSpc>
              <a:buNone/>
            </a:pPr>
            <a:r>
              <a:rPr lang="en-US" sz="2250" b="1" dirty="0">
                <a:solidFill>
                  <a:srgbClr val="211C13"/>
                </a:solidFill>
                <a:latin typeface="Zen Kaku Gothic Antique" pitchFamily="34" charset="0"/>
                <a:ea typeface="Zen Kaku Gothic Antique" pitchFamily="34" charset="-122"/>
                <a:cs typeface="Zen Kaku Gothic Antique" pitchFamily="34" charset="-120"/>
              </a:rPr>
              <a:t>解答と比較</a:t>
            </a:r>
            <a:endParaRPr lang="en-US" sz="2250" dirty="0"/>
          </a:p>
        </p:txBody>
      </p:sp>
      <p:sp>
        <p:nvSpPr>
          <p:cNvPr id="28" name="Text 21"/>
          <p:cNvSpPr txBox="1"/>
          <p:nvPr/>
        </p:nvSpPr>
        <p:spPr>
          <a:xfrm>
            <a:off x="14287500" y="4095598"/>
            <a:ext cx="1905610" cy="219456"/>
          </a:xfrm>
          <a:prstGeom prst="rect">
            <a:avLst/>
          </a:prstGeom>
          <a:noFill/>
          <a:ln/>
        </p:spPr>
        <p:txBody>
          <a:bodyPr wrap="none" lIns="0" tIns="0" rIns="0" bIns="0" rtlCol="0" anchor="ctr"/>
          <a:lstStyle/>
          <a:p>
            <a:pPr algn="l" indent="0" marL="0">
              <a:buNone/>
            </a:pPr>
            <a:r>
              <a:rPr lang="en-US" sz="1350" spc="81" kern="0" dirty="0">
                <a:solidFill>
                  <a:srgbClr val="B4791F">
                    <a:alpha val="70000"/>
                  </a:srgbClr>
                </a:solidFill>
                <a:latin typeface="JetBrains Mono" pitchFamily="34" charset="0"/>
                <a:ea typeface="JetBrains Mono" pitchFamily="34" charset="-122"/>
                <a:cs typeface="JetBrains Mono" pitchFamily="34" charset="-120"/>
              </a:rPr>
              <a:t>29–33</a:t>
            </a:r>
            <a:endParaRPr lang="en-US" sz="1350" dirty="0"/>
          </a:p>
        </p:txBody>
      </p:sp>
      <p:sp>
        <p:nvSpPr>
          <p:cNvPr id="29" name="Text 22"/>
          <p:cNvSpPr txBox="1"/>
          <p:nvPr/>
        </p:nvSpPr>
        <p:spPr>
          <a:xfrm>
            <a:off x="16192195" y="4095598"/>
            <a:ext cx="1524305" cy="219456"/>
          </a:xfrm>
          <a:prstGeom prst="rect">
            <a:avLst/>
          </a:prstGeom>
          <a:noFill/>
          <a:ln/>
        </p:spPr>
        <p:txBody>
          <a:bodyPr wrap="none" lIns="0" tIns="0" rIns="0" bIns="0" rtlCol="0" anchor="ctr"/>
          <a:lstStyle/>
          <a:p>
            <a:pPr algn="l" indent="0" marL="0">
              <a:buNone/>
            </a:pPr>
            <a:r>
              <a:rPr lang="en-US" sz="1350" spc="81" kern="0" dirty="0">
                <a:solidFill>
                  <a:srgbClr val="2D5D5A"/>
                </a:solidFill>
                <a:latin typeface="JetBrains Mono" pitchFamily="34" charset="0"/>
                <a:ea typeface="JetBrains Mono" pitchFamily="34" charset="-122"/>
                <a:cs typeface="JetBrains Mono" pitchFamily="34" charset="-120"/>
              </a:rPr>
              <a:t>33–37</a:t>
            </a:r>
            <a:endParaRPr lang="en-US" sz="1350" dirty="0"/>
          </a:p>
        </p:txBody>
      </p:sp>
      <p:sp>
        <p:nvSpPr>
          <p:cNvPr id="30" name="Text 23"/>
          <p:cNvSpPr txBox="1"/>
          <p:nvPr/>
        </p:nvSpPr>
        <p:spPr>
          <a:xfrm>
            <a:off x="16192195" y="4390949"/>
            <a:ext cx="1524305" cy="600761"/>
          </a:xfrm>
          <a:prstGeom prst="rect">
            <a:avLst/>
          </a:prstGeom>
          <a:noFill/>
          <a:ln/>
        </p:spPr>
        <p:txBody>
          <a:bodyPr wrap="square" lIns="0" tIns="0" rIns="0" bIns="0" rtlCol="0" anchor="t"/>
          <a:lstStyle/>
          <a:p>
            <a:pPr algn="l" indent="0" marL="0">
              <a:lnSpc>
                <a:spcPct val="120000"/>
              </a:lnSpc>
              <a:buNone/>
            </a:pPr>
            <a:r>
              <a:rPr lang="en-US" sz="1950" b="1" dirty="0">
                <a:solidFill>
                  <a:srgbClr val="211C13"/>
                </a:solidFill>
                <a:latin typeface="Zen Kaku Gothic Antique" pitchFamily="34" charset="0"/>
                <a:ea typeface="Zen Kaku Gothic Antique" pitchFamily="34" charset="-122"/>
                <a:cs typeface="Zen Kaku Gothic Antique" pitchFamily="34" charset="-120"/>
              </a:rPr>
              <a:t>IDOR</a:t>
            </a:r>
            <a:pPr algn="l" indent="0" marL="0">
              <a:lnSpc>
                <a:spcPct val="120000"/>
              </a:lnSpc>
              <a:buNone/>
            </a:pPr>
            <a:endParaRPr lang="en-US" sz="1950" dirty="0"/>
          </a:p>
          <a:p>
            <a:pPr algn="l" indent="0" marL="0">
              <a:lnSpc>
                <a:spcPct val="120000"/>
              </a:lnSpc>
              <a:buNone/>
            </a:pPr>
            <a:r>
              <a:rPr lang="en-US" sz="1950" b="1" dirty="0">
                <a:solidFill>
                  <a:srgbClr val="211C13"/>
                </a:solidFill>
                <a:latin typeface="Zen Kaku Gothic Antique" pitchFamily="34" charset="0"/>
                <a:ea typeface="Zen Kaku Gothic Antique" pitchFamily="34" charset="-122"/>
                <a:cs typeface="Zen Kaku Gothic Antique" pitchFamily="34" charset="-120"/>
              </a:rPr>
              <a:t>講師デモ</a:t>
            </a:r>
            <a:endParaRPr lang="en-US" sz="1950" dirty="0"/>
          </a:p>
        </p:txBody>
      </p:sp>
      <p:sp>
        <p:nvSpPr>
          <p:cNvPr id="31" name="Text 24"/>
          <p:cNvSpPr txBox="1"/>
          <p:nvPr/>
        </p:nvSpPr>
        <p:spPr>
          <a:xfrm>
            <a:off x="1333195" y="6476695"/>
            <a:ext cx="5715000" cy="219456"/>
          </a:xfrm>
          <a:prstGeom prst="rect">
            <a:avLst/>
          </a:prstGeom>
          <a:noFill/>
          <a:ln/>
        </p:spPr>
        <p:txBody>
          <a:bodyPr wrap="none" lIns="0" tIns="0" rIns="0" bIns="0" rtlCol="0" anchor="ctr"/>
          <a:lstStyle/>
          <a:p>
            <a:pPr algn="l" indent="0" marL="0">
              <a:buNone/>
            </a:pPr>
            <a:r>
              <a:rPr lang="en-US" sz="1350" spc="81" kern="0" dirty="0">
                <a:solidFill>
                  <a:srgbClr val="5A4F3F"/>
                </a:solidFill>
                <a:latin typeface="JetBrains Mono" pitchFamily="34" charset="0"/>
                <a:ea typeface="JetBrains Mono" pitchFamily="34" charset="-122"/>
                <a:cs typeface="JetBrains Mono" pitchFamily="34" charset="-120"/>
              </a:rPr>
              <a:t>37–40</a:t>
            </a:r>
            <a:endParaRPr lang="en-US" sz="1350" dirty="0"/>
          </a:p>
        </p:txBody>
      </p:sp>
      <p:sp>
        <p:nvSpPr>
          <p:cNvPr id="32" name="Text 25"/>
          <p:cNvSpPr txBox="1"/>
          <p:nvPr/>
        </p:nvSpPr>
        <p:spPr>
          <a:xfrm>
            <a:off x="1333195" y="6772046"/>
            <a:ext cx="5715000" cy="342900"/>
          </a:xfrm>
          <a:prstGeom prst="rect">
            <a:avLst/>
          </a:prstGeom>
          <a:noFill/>
          <a:ln/>
        </p:spPr>
        <p:txBody>
          <a:bodyPr wrap="none" lIns="0" tIns="0" rIns="0" bIns="0" rtlCol="0" anchor="ctr"/>
          <a:lstStyle/>
          <a:p>
            <a:pPr algn="l" indent="0" marL="0">
              <a:buNone/>
            </a:pPr>
            <a:r>
              <a:rPr lang="en-US" sz="2250" b="1" dirty="0">
                <a:solidFill>
                  <a:srgbClr val="211C13"/>
                </a:solidFill>
                <a:latin typeface="Zen Kaku Gothic Antique" pitchFamily="34" charset="0"/>
                <a:ea typeface="Zen Kaku Gothic Antique" pitchFamily="34" charset="-122"/>
                <a:cs typeface="Zen Kaku Gothic Antique" pitchFamily="34" charset="-120"/>
              </a:rPr>
              <a:t>振り返り・実務への応用</a:t>
            </a:r>
            <a:endParaRPr lang="en-US" sz="2250" dirty="0"/>
          </a:p>
        </p:txBody>
      </p:sp>
      <p:sp>
        <p:nvSpPr>
          <p:cNvPr id="33" name="Text 26"/>
          <p:cNvSpPr txBox="1"/>
          <p:nvPr/>
        </p:nvSpPr>
        <p:spPr>
          <a:xfrm>
            <a:off x="1333195" y="7172554"/>
            <a:ext cx="5715000" cy="277063"/>
          </a:xfrm>
          <a:prstGeom prst="rect">
            <a:avLst/>
          </a:prstGeom>
          <a:noFill/>
          <a:ln/>
        </p:spPr>
        <p:txBody>
          <a:bodyPr wrap="none" lIns="0" tIns="0" rIns="0" bIns="0" rtlCol="0" anchor="ctr"/>
          <a:lstStyle/>
          <a:p>
            <a:pPr algn="l" indent="0" marL="0">
              <a:buNone/>
            </a:pPr>
            <a:r>
              <a:rPr lang="en-US" sz="1500" dirty="0">
                <a:solidFill>
                  <a:srgbClr val="5A4F3F"/>
                </a:solidFill>
                <a:latin typeface="Noto Sans JP" pitchFamily="34" charset="0"/>
                <a:ea typeface="Noto Sans JP" pitchFamily="34" charset="-122"/>
                <a:cs typeface="Noto Sans JP" pitchFamily="34" charset="-120"/>
              </a:rPr>
              <a:t>レビュー観点・回帰テスト例・質疑</a:t>
            </a:r>
            <a:endParaRPr lang="en-US" sz="1500" dirty="0"/>
          </a:p>
        </p:txBody>
      </p:sp>
      <p:sp>
        <p:nvSpPr>
          <p:cNvPr id="34" name="Text 27"/>
          <p:cNvSpPr txBox="1"/>
          <p:nvPr/>
        </p:nvSpPr>
        <p:spPr>
          <a:xfrm>
            <a:off x="914400" y="9562795"/>
            <a:ext cx="9525305" cy="228600"/>
          </a:xfrm>
          <a:prstGeom prst="rect">
            <a:avLst/>
          </a:prstGeom>
          <a:noFill/>
          <a:ln/>
        </p:spPr>
        <p:txBody>
          <a:bodyPr wrap="none" lIns="0" tIns="0" rIns="0" bIns="0" rtlCol="0" anchor="ctr"/>
          <a:lstStyle/>
          <a:p>
            <a:pPr algn="l" indent="0" marL="0">
              <a:buNone/>
            </a:pPr>
            <a:r>
              <a:rPr lang="en-US" sz="1200" spc="72" kern="0" dirty="0">
                <a:solidFill>
                  <a:srgbClr val="5A4F3F"/>
                </a:solidFill>
                <a:latin typeface="JetBrains Mono" pitchFamily="34" charset="0"/>
                <a:ea typeface="JetBrains Mono" pitchFamily="34" charset="-122"/>
                <a:cs typeface="JetBrains Mono" pitchFamily="34" charset="-120"/>
              </a:rPr>
              <a:t>参加者向け — 各課題は「問題 → ヒント → 講師が解説」の順に進みます</a:t>
            </a:r>
            <a:endParaRPr lang="en-US" sz="1200" dirty="0"/>
          </a:p>
        </p:txBody>
      </p:sp>
      <p:sp>
        <p:nvSpPr>
          <p:cNvPr id="35" name="Text 28"/>
          <p:cNvSpPr txBox="1"/>
          <p:nvPr/>
        </p:nvSpPr>
        <p:spPr>
          <a:xfrm>
            <a:off x="15468905" y="9562795"/>
            <a:ext cx="1905610" cy="200254"/>
          </a:xfrm>
          <a:prstGeom prst="rect">
            <a:avLst/>
          </a:prstGeom>
          <a:noFill/>
          <a:ln/>
        </p:spPr>
        <p:txBody>
          <a:bodyPr wrap="none" lIns="0" tIns="0" rIns="0" bIns="0" rtlCol="0" anchor="ctr"/>
          <a:lstStyle/>
          <a:p>
            <a:pPr algn="r" indent="0" marL="0">
              <a:buNone/>
            </a:pPr>
            <a:r>
              <a:rPr lang="en-US" sz="1200" spc="72" kern="0" dirty="0">
                <a:solidFill>
                  <a:srgbClr val="5A4F3F"/>
                </a:solidFill>
                <a:latin typeface="JetBrains Mono" pitchFamily="34" charset="0"/>
                <a:ea typeface="JetBrains Mono" pitchFamily="34" charset="-122"/>
                <a:cs typeface="JetBrains Mono" pitchFamily="34" charset="-120"/>
              </a:rPr>
              <a:t>03 / 32</a:t>
            </a:r>
            <a:endParaRPr lang="en-US" sz="1200" dirty="0"/>
          </a:p>
        </p:txBody>
      </p:sp>
      <p:sp>
        <p:nvSpPr>
          <p:cNvPr id="36" name="Text 29"/>
          <p:cNvSpPr txBox="1"/>
          <p:nvPr/>
        </p:nvSpPr>
        <p:spPr>
          <a:xfrm>
            <a:off x="914400" y="838505"/>
            <a:ext cx="11430000" cy="219456"/>
          </a:xfrm>
          <a:prstGeom prst="rect">
            <a:avLst/>
          </a:prstGeom>
          <a:noFill/>
          <a:ln/>
        </p:spPr>
        <p:txBody>
          <a:bodyPr wrap="none" lIns="0" tIns="0" rIns="0" bIns="0" rtlCol="0" anchor="ctr"/>
          <a:lstStyle/>
          <a:p>
            <a:pPr algn="l" indent="0" marL="0">
              <a:buNone/>
            </a:pPr>
            <a:r>
              <a:rPr lang="en-US" sz="1350" spc="324" kern="0" dirty="0">
                <a:solidFill>
                  <a:srgbClr val="B4791F"/>
                </a:solidFill>
                <a:latin typeface="JetBrains Mono" pitchFamily="34" charset="0"/>
                <a:ea typeface="JetBrains Mono" pitchFamily="34" charset="-122"/>
                <a:cs typeface="JetBrains Mono" pitchFamily="34" charset="-120"/>
              </a:rPr>
              <a:t>03 · Agenda</a:t>
            </a:r>
            <a:endParaRPr lang="en-US" sz="1350" dirty="0"/>
          </a:p>
        </p:txBody>
      </p:sp>
      <p:sp>
        <p:nvSpPr>
          <p:cNvPr id="37" name="Text 30"/>
          <p:cNvSpPr txBox="1"/>
          <p:nvPr/>
        </p:nvSpPr>
        <p:spPr>
          <a:xfrm>
            <a:off x="914400" y="1152144"/>
            <a:ext cx="11430000" cy="886054"/>
          </a:xfrm>
          <a:prstGeom prst="rect">
            <a:avLst/>
          </a:prstGeom>
          <a:noFill/>
          <a:ln/>
        </p:spPr>
        <p:txBody>
          <a:bodyPr wrap="none" lIns="0" tIns="0" rIns="0" bIns="0" rtlCol="0" anchor="ctr"/>
          <a:lstStyle/>
          <a:p>
            <a:pPr algn="l" indent="0" marL="0">
              <a:buNone/>
            </a:pPr>
            <a:r>
              <a:rPr lang="en-US" sz="6300" b="1" spc="-126" kern="0" dirty="0">
                <a:solidFill>
                  <a:srgbClr val="211C13"/>
                </a:solidFill>
                <a:latin typeface="Zen Kaku Gothic Antique" pitchFamily="34" charset="0"/>
                <a:ea typeface="Zen Kaku Gothic Antique" pitchFamily="34" charset="-122"/>
                <a:cs typeface="Zen Kaku Gothic Antique" pitchFamily="34" charset="-120"/>
              </a:rPr>
              <a:t>40分の配分</a:t>
            </a:r>
            <a:endParaRPr lang="en-US" sz="6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FE7D4"/>
        </a:solidFill>
      </p:bgPr>
    </p:bg>
    <p:spTree>
      <p:nvGrpSpPr>
        <p:cNvPr id="1" name=""/>
        <p:cNvGrpSpPr/>
        <p:nvPr/>
      </p:nvGrpSpPr>
      <p:grpSpPr>
        <a:xfrm>
          <a:off x="0" y="0"/>
          <a:ext cx="0" cy="0"/>
          <a:chOff x="0" y="0"/>
          <a:chExt cx="0" cy="0"/>
        </a:xfrm>
      </p:grpSpPr>
      <p:sp>
        <p:nvSpPr>
          <p:cNvPr id="3" name="Shape 0"/>
          <p:cNvSpPr/>
          <p:nvPr/>
        </p:nvSpPr>
        <p:spPr>
          <a:xfrm>
            <a:off x="914400" y="2667305"/>
            <a:ext cx="7810805" cy="6286500"/>
          </a:xfrm>
          <a:prstGeom prst="roundRect">
            <a:avLst>
              <a:gd name="adj" fmla="val 611"/>
            </a:avLst>
          </a:prstGeom>
          <a:solidFill>
            <a:srgbClr val="E5DBC4"/>
          </a:solidFill>
          <a:ln w="12700">
            <a:solidFill>
              <a:srgbClr val="FFFFFF">
                <a:alpha val="0"/>
              </a:srgbClr>
            </a:solidFill>
            <a:prstDash val="solid"/>
          </a:ln>
        </p:spPr>
      </p:sp>
      <p:sp>
        <p:nvSpPr>
          <p:cNvPr id="4" name="Shape 1"/>
          <p:cNvSpPr/>
          <p:nvPr/>
        </p:nvSpPr>
        <p:spPr>
          <a:xfrm>
            <a:off x="9144000" y="2667305"/>
            <a:ext cx="8229600" cy="6286500"/>
          </a:xfrm>
          <a:prstGeom prst="roundRect">
            <a:avLst>
              <a:gd name="adj" fmla="val 611"/>
            </a:avLst>
          </a:prstGeom>
          <a:solidFill>
            <a:srgbClr val="1B1F25"/>
          </a:solidFill>
          <a:ln w="12700">
            <a:solidFill>
              <a:srgbClr val="FFFFFF">
                <a:alpha val="0"/>
              </a:srgbClr>
            </a:solidFill>
            <a:prstDash val="solid"/>
          </a:ln>
        </p:spPr>
      </p:sp>
      <p:sp>
        <p:nvSpPr>
          <p:cNvPr id="5" name="Text 2"/>
          <p:cNvSpPr txBox="1"/>
          <p:nvPr/>
        </p:nvSpPr>
        <p:spPr>
          <a:xfrm>
            <a:off x="1333195" y="2971800"/>
            <a:ext cx="7049110" cy="228600"/>
          </a:xfrm>
          <a:prstGeom prst="rect">
            <a:avLst/>
          </a:prstGeom>
          <a:noFill/>
          <a:ln/>
        </p:spPr>
        <p:txBody>
          <a:bodyPr wrap="none" lIns="0" tIns="0" rIns="0" bIns="0" rtlCol="0" anchor="ctr"/>
          <a:lstStyle/>
          <a:p>
            <a:pPr algn="l" indent="0" marL="0">
              <a:buNone/>
            </a:pPr>
            <a:r>
              <a:rPr lang="en-US" sz="1200" spc="216" kern="0" dirty="0">
                <a:solidFill>
                  <a:srgbClr val="5A4F3F"/>
                </a:solidFill>
                <a:latin typeface="JetBrains Mono" pitchFamily="34" charset="0"/>
                <a:ea typeface="JetBrains Mono" pitchFamily="34" charset="-122"/>
                <a:cs typeface="JetBrains Mono" pitchFamily="34" charset="-120"/>
              </a:rPr>
              <a:t>Scope · 触ってよい範囲</a:t>
            </a:r>
            <a:endParaRPr lang="en-US" sz="1200" dirty="0"/>
          </a:p>
        </p:txBody>
      </p:sp>
      <p:sp>
        <p:nvSpPr>
          <p:cNvPr id="6" name="Text 3"/>
          <p:cNvSpPr txBox="1"/>
          <p:nvPr/>
        </p:nvSpPr>
        <p:spPr>
          <a:xfrm>
            <a:off x="1374953" y="3329330"/>
            <a:ext cx="7011010" cy="2578608"/>
          </a:xfrm>
          <a:prstGeom prst="rect">
            <a:avLst/>
          </a:prstGeom>
          <a:noFill/>
          <a:ln/>
        </p:spPr>
        <p:txBody>
          <a:bodyPr wrap="square" lIns="0" tIns="0" rIns="0" bIns="0" rtlCol="0" anchor="t"/>
          <a:lstStyle/>
          <a:p>
            <a:pPr algn="l" marL="304800" indent="-304800">
              <a:lnSpc>
                <a:spcPts val="3023"/>
              </a:lnSpc>
              <a:spcAft>
                <a:spcPts val="900"/>
              </a:spcAft>
              <a:buSzPct val="100000"/>
              <a:buChar char="•"/>
            </a:pPr>
            <a:r>
              <a:rPr lang="en-US" sz="1950" dirty="0">
                <a:solidFill>
                  <a:srgbClr val="211C13"/>
                </a:solidFill>
                <a:latin typeface="Noto Sans JP" pitchFamily="34" charset="0"/>
                <a:ea typeface="Noto Sans JP" pitchFamily="34" charset="-122"/>
                <a:cs typeface="Noto Sans JP" pitchFamily="34" charset="-120"/>
              </a:rPr>
              <a:t>​</a:t>
            </a:r>
            <a:pPr algn="l" marL="304800" indent="-304800">
              <a:lnSpc>
                <a:spcPts val="3023"/>
              </a:lnSpc>
              <a:spcAft>
                <a:spcPts val="900"/>
              </a:spcAft>
              <a:buSzPct val="100000"/>
              <a:buChar char="•"/>
            </a:pPr>
            <a:r>
              <a:rPr lang="en-US" sz="1950" dirty="0">
                <a:solidFill>
                  <a:srgbClr val="211C13"/>
                </a:solidFill>
                <a:latin typeface="Noto Sans JP" pitchFamily="34" charset="0"/>
                <a:ea typeface="Noto Sans JP" pitchFamily="34" charset="-122"/>
                <a:cs typeface="Noto Sans JP" pitchFamily="34" charset="-120"/>
              </a:rPr>
              <a:t>教材用に用意されたURLと、</a:t>
            </a:r>
            <a:pPr algn="l" indent="0" marL="0">
              <a:lnSpc>
                <a:spcPts val="3023"/>
              </a:lnSpc>
              <a:spcAft>
                <a:spcPts val="900"/>
              </a:spcAft>
              <a:buNone/>
            </a:pPr>
            <a:endParaRPr lang="en-US" sz="1950" dirty="0"/>
          </a:p>
          <a:p>
            <a:pPr algn="l" marL="304800" indent="-304800">
              <a:lnSpc>
                <a:spcPts val="3023"/>
              </a:lnSpc>
              <a:spcAft>
                <a:spcPts val="900"/>
              </a:spcAft>
              <a:buSzPct val="100000"/>
              <a:buChar char="•"/>
            </a:pPr>
            <a:r>
              <a:rPr lang="en-US" sz="1950" dirty="0">
                <a:solidFill>
                  <a:srgbClr val="211C13"/>
                </a:solidFill>
                <a:latin typeface="Noto Sans JP" pitchFamily="34" charset="0"/>
                <a:ea typeface="Noto Sans JP" pitchFamily="34" charset="-122"/>
                <a:cs typeface="Noto Sans JP" pitchFamily="34" charset="-120"/>
              </a:rPr>
              <a:t>そこに紐づく Supabase だけ</a:t>
            </a:r>
            <a:pPr algn="l" marL="304800" indent="-304800">
              <a:lnSpc>
                <a:spcPts val="3023"/>
              </a:lnSpc>
              <a:spcAft>
                <a:spcPts val="900"/>
              </a:spcAft>
              <a:buSzPct val="100000"/>
              <a:buChar char="•"/>
            </a:pPr>
            <a:endParaRPr lang="en-US" sz="1950" dirty="0"/>
          </a:p>
          <a:p>
            <a:pPr algn="l" marL="304800" indent="-304800">
              <a:lnSpc>
                <a:spcPts val="3023"/>
              </a:lnSpc>
              <a:spcAft>
                <a:spcPts val="900"/>
              </a:spcAft>
              <a:buSzPct val="100000"/>
              <a:buChar char="•"/>
            </a:pPr>
            <a:r>
              <a:rPr lang="en-US" sz="1950" dirty="0">
                <a:solidFill>
                  <a:srgbClr val="211C13"/>
                </a:solidFill>
                <a:latin typeface="Noto Sans JP" pitchFamily="34" charset="0"/>
                <a:ea typeface="Noto Sans JP" pitchFamily="34" charset="-122"/>
                <a:cs typeface="Noto Sans JP" pitchFamily="34" charset="-120"/>
              </a:rPr>
              <a:t>​</a:t>
            </a:r>
            <a:pPr algn="l" marL="304800" indent="-304800">
              <a:lnSpc>
                <a:spcPts val="3023"/>
              </a:lnSpc>
              <a:spcAft>
                <a:spcPts val="900"/>
              </a:spcAft>
              <a:buSzPct val="100000"/>
              <a:buChar char="•"/>
            </a:pPr>
            <a:r>
              <a:rPr lang="en-US" sz="1950" dirty="0">
                <a:solidFill>
                  <a:srgbClr val="211C13"/>
                </a:solidFill>
                <a:latin typeface="Noto Sans JP" pitchFamily="34" charset="0"/>
                <a:ea typeface="Noto Sans JP" pitchFamily="34" charset="-122"/>
                <a:cs typeface="Noto Sans JP" pitchFamily="34" charset="-120"/>
              </a:rPr>
              <a:t>架空の参加者名と参加コードで</a:t>
            </a:r>
            <a:pPr algn="l" indent="0" marL="0">
              <a:lnSpc>
                <a:spcPts val="3023"/>
              </a:lnSpc>
              <a:spcAft>
                <a:spcPts val="900"/>
              </a:spcAft>
              <a:buNone/>
            </a:pPr>
            <a:endParaRPr lang="en-US" sz="1950" dirty="0"/>
          </a:p>
          <a:p>
            <a:pPr algn="l" marL="304800" indent="-304800">
              <a:lnSpc>
                <a:spcPts val="3023"/>
              </a:lnSpc>
              <a:spcAft>
                <a:spcPts val="900"/>
              </a:spcAft>
              <a:buSzPct val="100000"/>
              <a:buChar char="•"/>
            </a:pPr>
            <a:r>
              <a:rPr lang="en-US" sz="1950" dirty="0">
                <a:solidFill>
                  <a:srgbClr val="211C13"/>
                </a:solidFill>
                <a:latin typeface="Noto Sans JP" pitchFamily="34" charset="0"/>
                <a:ea typeface="Noto Sans JP" pitchFamily="34" charset="-122"/>
                <a:cs typeface="Noto Sans JP" pitchFamily="34" charset="-120"/>
              </a:rPr>
              <a:t>登録された自分のアカウント</a:t>
            </a:r>
            <a:pPr algn="l" marL="304800" indent="-304800">
              <a:lnSpc>
                <a:spcPts val="3023"/>
              </a:lnSpc>
              <a:spcAft>
                <a:spcPts val="900"/>
              </a:spcAft>
              <a:buSzPct val="100000"/>
              <a:buChar char="•"/>
            </a:pPr>
            <a:endParaRPr lang="en-US" sz="1950" dirty="0"/>
          </a:p>
          <a:p>
            <a:pPr algn="l" marL="304800" indent="-304800">
              <a:lnSpc>
                <a:spcPts val="3023"/>
              </a:lnSpc>
              <a:spcAft>
                <a:spcPts val="900"/>
              </a:spcAft>
              <a:buSzPct val="100000"/>
              <a:buChar char="•"/>
            </a:pPr>
            <a:r>
              <a:rPr lang="en-US" sz="1950" dirty="0">
                <a:solidFill>
                  <a:srgbClr val="211C13"/>
                </a:solidFill>
                <a:latin typeface="Noto Sans JP" pitchFamily="34" charset="0"/>
                <a:ea typeface="Noto Sans JP" pitchFamily="34" charset="-122"/>
                <a:cs typeface="Noto Sans JP" pitchFamily="34" charset="-120"/>
              </a:rPr>
              <a:t>​</a:t>
            </a:r>
            <a:pPr algn="l" marL="304800" indent="-304800">
              <a:lnSpc>
                <a:spcPts val="3023"/>
              </a:lnSpc>
              <a:spcAft>
                <a:spcPts val="900"/>
              </a:spcAft>
              <a:buSzPct val="100000"/>
              <a:buChar char="•"/>
            </a:pPr>
            <a:r>
              <a:rPr lang="en-US" sz="1950" dirty="0">
                <a:solidFill>
                  <a:srgbClr val="211C13"/>
                </a:solidFill>
                <a:latin typeface="Noto Sans JP" pitchFamily="34" charset="0"/>
                <a:ea typeface="Noto Sans JP" pitchFamily="34" charset="-122"/>
                <a:cs typeface="Noto Sans JP" pitchFamily="34" charset="-120"/>
              </a:rPr>
              <a:t>受講者ご本人のブラウザと DevTools</a:t>
            </a:r>
            <a:pPr algn="l" indent="0" marL="0">
              <a:lnSpc>
                <a:spcPts val="3023"/>
              </a:lnSpc>
              <a:spcAft>
                <a:spcPts val="900"/>
              </a:spcAft>
              <a:buNone/>
            </a:pPr>
            <a:endParaRPr lang="en-US" sz="1950" dirty="0"/>
          </a:p>
          <a:p>
            <a:pPr algn="l" marL="304800" indent="-304800">
              <a:lnSpc>
                <a:spcPts val="3023"/>
              </a:lnSpc>
              <a:spcAft>
                <a:spcPts val="900"/>
              </a:spcAft>
              <a:buSzPct val="100000"/>
              <a:buChar char="•"/>
            </a:pPr>
            <a:r>
              <a:rPr lang="en-US" sz="1950" dirty="0">
                <a:solidFill>
                  <a:srgbClr val="211C13"/>
                </a:solidFill>
                <a:latin typeface="Noto Sans JP" pitchFamily="34" charset="0"/>
                <a:ea typeface="Noto Sans JP" pitchFamily="34" charset="-122"/>
                <a:cs typeface="Noto Sans JP" pitchFamily="34" charset="-120"/>
              </a:rPr>
              <a:t>（共有アカウントは使わない）</a:t>
            </a:r>
            <a:endParaRPr lang="en-US" sz="1950" dirty="0"/>
          </a:p>
        </p:txBody>
      </p:sp>
      <p:pic>
        <p:nvPicPr>
          <p:cNvPr id="7" name="Image 0" descr="gen-dedup-60e7fd8e1b7d142e2468533e4b0a6d36.png">    </p:cNvPr>
          <p:cNvPicPr>
            <a:picLocks noChangeAspect="1"/>
          </p:cNvPicPr>
          <p:nvPr/>
        </p:nvPicPr>
        <p:blipFill>
          <a:blip r:embed="rId1"/>
          <a:srcRect l="-2083" r="-2083" t="0" b="0"/>
          <a:stretch/>
        </p:blipFill>
        <p:spPr>
          <a:xfrm>
            <a:off x="1333195" y="6075274"/>
            <a:ext cx="7048195" cy="9144"/>
          </a:xfrm>
          <a:prstGeom prst="rect">
            <a:avLst/>
          </a:prstGeom>
        </p:spPr>
      </p:pic>
      <p:sp>
        <p:nvSpPr>
          <p:cNvPr id="8" name="Text 4"/>
          <p:cNvSpPr txBox="1"/>
          <p:nvPr/>
        </p:nvSpPr>
        <p:spPr>
          <a:xfrm>
            <a:off x="1333195" y="6255410"/>
            <a:ext cx="7049110" cy="191110"/>
          </a:xfrm>
          <a:prstGeom prst="rect">
            <a:avLst/>
          </a:prstGeom>
          <a:noFill/>
          <a:ln/>
        </p:spPr>
        <p:txBody>
          <a:bodyPr wrap="none" lIns="0" tIns="0" rIns="0" bIns="0" rtlCol="0" anchor="ctr"/>
          <a:lstStyle/>
          <a:p>
            <a:pPr algn="l" indent="0" marL="0">
              <a:buNone/>
            </a:pPr>
            <a:r>
              <a:rPr lang="en-US" sz="1050" spc="189" kern="0" dirty="0">
                <a:solidFill>
                  <a:srgbClr val="B63A2A"/>
                </a:solidFill>
                <a:latin typeface="JetBrains Mono" pitchFamily="34" charset="0"/>
                <a:ea typeface="JetBrains Mono" pitchFamily="34" charset="-122"/>
                <a:cs typeface="JetBrains Mono" pitchFamily="34" charset="-120"/>
              </a:rPr>
              <a:t>Out of scope · 触らない</a:t>
            </a:r>
            <a:endParaRPr lang="en-US" sz="1050" dirty="0"/>
          </a:p>
        </p:txBody>
      </p:sp>
      <p:sp>
        <p:nvSpPr>
          <p:cNvPr id="9" name="Text 5"/>
          <p:cNvSpPr txBox="1"/>
          <p:nvPr/>
        </p:nvSpPr>
        <p:spPr>
          <a:xfrm>
            <a:off x="1361135" y="6539789"/>
            <a:ext cx="7026656" cy="2048256"/>
          </a:xfrm>
          <a:prstGeom prst="rect">
            <a:avLst/>
          </a:prstGeom>
          <a:noFill/>
          <a:ln/>
        </p:spPr>
        <p:txBody>
          <a:bodyPr wrap="square" lIns="0" tIns="0" rIns="0" bIns="0" rtlCol="0" anchor="t"/>
          <a:lstStyle/>
          <a:p>
            <a:pPr algn="l" marL="292100" indent="-292100">
              <a:lnSpc>
                <a:spcPts val="2790"/>
              </a:lnSpc>
              <a:spcAft>
                <a:spcPts val="600"/>
              </a:spcAft>
              <a:buSzPct val="100000"/>
              <a:buChar char="•"/>
            </a:pPr>
            <a:r>
              <a:rPr lang="en-US" sz="1800" dirty="0">
                <a:solidFill>
                  <a:srgbClr val="5A4F3F"/>
                </a:solidFill>
                <a:latin typeface="Noto Sans JP" pitchFamily="34" charset="0"/>
                <a:ea typeface="Noto Sans JP" pitchFamily="34" charset="-122"/>
                <a:cs typeface="Noto Sans JP" pitchFamily="34" charset="-120"/>
              </a:rPr>
              <a:t>​</a:t>
            </a:r>
            <a:pPr algn="l" marL="292100" indent="-292100">
              <a:lnSpc>
                <a:spcPts val="2790"/>
              </a:lnSpc>
              <a:spcAft>
                <a:spcPts val="600"/>
              </a:spcAft>
              <a:buSzPct val="100000"/>
              <a:buChar char="•"/>
            </a:pPr>
            <a:r>
              <a:rPr lang="en-US" sz="1800" dirty="0">
                <a:solidFill>
                  <a:srgbClr val="5A4F3F"/>
                </a:solidFill>
                <a:latin typeface="Noto Sans JP" pitchFamily="34" charset="0"/>
                <a:ea typeface="Noto Sans JP" pitchFamily="34" charset="-122"/>
                <a:cs typeface="Noto Sans JP" pitchFamily="34" charset="-120"/>
              </a:rPr>
              <a:t>通常版（本番）Supabase、本番API、</a:t>
            </a:r>
            <a:pPr algn="l" indent="0" marL="0">
              <a:lnSpc>
                <a:spcPts val="2790"/>
              </a:lnSpc>
              <a:spcAft>
                <a:spcPts val="600"/>
              </a:spcAft>
              <a:buNone/>
            </a:pPr>
            <a:endParaRPr lang="en-US" sz="1800" dirty="0"/>
          </a:p>
          <a:p>
            <a:pPr algn="l" marL="292100" indent="-292100">
              <a:lnSpc>
                <a:spcPts val="2790"/>
              </a:lnSpc>
              <a:spcAft>
                <a:spcPts val="600"/>
              </a:spcAft>
              <a:buSzPct val="100000"/>
              <a:buChar char="•"/>
            </a:pPr>
            <a:r>
              <a:rPr lang="en-US" sz="1800" dirty="0">
                <a:solidFill>
                  <a:srgbClr val="5A4F3F"/>
                </a:solidFill>
                <a:latin typeface="Noto Sans JP" pitchFamily="34" charset="0"/>
                <a:ea typeface="Noto Sans JP" pitchFamily="34" charset="-122"/>
                <a:cs typeface="Noto Sans JP" pitchFamily="34" charset="-120"/>
              </a:rPr>
              <a:t>社内の他サービス</a:t>
            </a:r>
            <a:pPr algn="l" marL="292100" indent="-292100">
              <a:lnSpc>
                <a:spcPts val="2790"/>
              </a:lnSpc>
              <a:spcAft>
                <a:spcPts val="600"/>
              </a:spcAft>
              <a:buSzPct val="100000"/>
              <a:buChar char="•"/>
            </a:pPr>
            <a:endParaRPr lang="en-US" sz="1800" dirty="0"/>
          </a:p>
          <a:p>
            <a:pPr algn="l" marL="292100" indent="-292100">
              <a:lnSpc>
                <a:spcPts val="2790"/>
              </a:lnSpc>
              <a:spcAft>
                <a:spcPts val="600"/>
              </a:spcAft>
              <a:buSzPct val="100000"/>
              <a:buChar char="•"/>
            </a:pPr>
            <a:r>
              <a:rPr lang="en-US" sz="1800" dirty="0">
                <a:solidFill>
                  <a:srgbClr val="5A4F3F"/>
                </a:solidFill>
                <a:latin typeface="Noto Sans JP" pitchFamily="34" charset="0"/>
                <a:ea typeface="Noto Sans JP" pitchFamily="34" charset="-122"/>
                <a:cs typeface="Noto Sans JP" pitchFamily="34" charset="-120"/>
              </a:rPr>
              <a:t>​</a:t>
            </a:r>
            <a:pPr algn="l" marL="292100" indent="-292100">
              <a:lnSpc>
                <a:spcPts val="2790"/>
              </a:lnSpc>
              <a:spcAft>
                <a:spcPts val="600"/>
              </a:spcAft>
              <a:buSzPct val="100000"/>
              <a:buChar char="•"/>
            </a:pPr>
            <a:r>
              <a:rPr lang="en-US" sz="1800" dirty="0">
                <a:solidFill>
                  <a:srgbClr val="5A4F3F"/>
                </a:solidFill>
                <a:latin typeface="Noto Sans JP" pitchFamily="34" charset="0"/>
                <a:ea typeface="Noto Sans JP" pitchFamily="34" charset="-122"/>
                <a:cs typeface="Noto Sans JP" pitchFamily="34" charset="-120"/>
              </a:rPr>
              <a:t>他の参加者のアカウント・画面・トークン</a:t>
            </a:r>
            <a:pPr algn="l" marL="292100" indent="-292100">
              <a:lnSpc>
                <a:spcPts val="2790"/>
              </a:lnSpc>
              <a:spcAft>
                <a:spcPts val="600"/>
              </a:spcAft>
              <a:buSzPct val="100000"/>
              <a:buChar char="•"/>
            </a:pPr>
            <a:endParaRPr lang="en-US" sz="1800" dirty="0"/>
          </a:p>
          <a:p>
            <a:pPr algn="l" marL="292100" indent="-292100">
              <a:lnSpc>
                <a:spcPts val="2790"/>
              </a:lnSpc>
              <a:spcAft>
                <a:spcPts val="600"/>
              </a:spcAft>
              <a:buSzPct val="100000"/>
              <a:buChar char="•"/>
            </a:pPr>
            <a:r>
              <a:rPr lang="en-US" sz="1800" dirty="0">
                <a:solidFill>
                  <a:srgbClr val="5A4F3F"/>
                </a:solidFill>
                <a:latin typeface="Noto Sans JP" pitchFamily="34" charset="0"/>
                <a:ea typeface="Noto Sans JP" pitchFamily="34" charset="-122"/>
                <a:cs typeface="Noto Sans JP" pitchFamily="34" charset="-120"/>
              </a:rPr>
              <a:t>​</a:t>
            </a:r>
            <a:pPr algn="l" marL="292100" indent="-292100">
              <a:lnSpc>
                <a:spcPts val="2790"/>
              </a:lnSpc>
              <a:spcAft>
                <a:spcPts val="600"/>
              </a:spcAft>
              <a:buSzPct val="100000"/>
              <a:buChar char="•"/>
            </a:pPr>
            <a:r>
              <a:rPr lang="en-US" sz="1800" dirty="0">
                <a:solidFill>
                  <a:srgbClr val="5A4F3F"/>
                </a:solidFill>
                <a:latin typeface="Noto Sans JP" pitchFamily="34" charset="0"/>
                <a:ea typeface="Noto Sans JP" pitchFamily="34" charset="-122"/>
                <a:cs typeface="Noto Sans JP" pitchFamily="34" charset="-120"/>
              </a:rPr>
              <a:t>許可なく教材環境へ情報を残す行為</a:t>
            </a:r>
            <a:pPr algn="l" marL="292100" indent="-292100">
              <a:lnSpc>
                <a:spcPts val="2790"/>
              </a:lnSpc>
              <a:spcAft>
                <a:spcPts val="600"/>
              </a:spcAft>
              <a:buSzPct val="100000"/>
              <a:buChar char="•"/>
            </a:pPr>
            <a:endParaRPr lang="en-US" sz="1800" dirty="0"/>
          </a:p>
          <a:p>
            <a:pPr algn="l" marL="292100" indent="-292100">
              <a:lnSpc>
                <a:spcPts val="2790"/>
              </a:lnSpc>
              <a:spcAft>
                <a:spcPts val="600"/>
              </a:spcAft>
              <a:buSzPct val="100000"/>
              <a:buChar char="•"/>
            </a:pPr>
            <a:r>
              <a:rPr lang="en-US" sz="1800" dirty="0">
                <a:solidFill>
                  <a:srgbClr val="5A4F3F"/>
                </a:solidFill>
                <a:latin typeface="Noto Sans JP" pitchFamily="34" charset="0"/>
                <a:ea typeface="Noto Sans JP" pitchFamily="34" charset="-122"/>
                <a:cs typeface="Noto Sans JP" pitchFamily="34" charset="-120"/>
              </a:rPr>
              <a:t>​</a:t>
            </a:r>
            <a:pPr algn="l" marL="292100" indent="-292100">
              <a:lnSpc>
                <a:spcPts val="2790"/>
              </a:lnSpc>
              <a:spcAft>
                <a:spcPts val="600"/>
              </a:spcAft>
              <a:buSzPct val="100000"/>
              <a:buChar char="•"/>
            </a:pPr>
            <a:r>
              <a:rPr lang="en-US" sz="1800" dirty="0">
                <a:solidFill>
                  <a:srgbClr val="5A4F3F"/>
                </a:solidFill>
                <a:latin typeface="Noto Sans JP" pitchFamily="34" charset="0"/>
                <a:ea typeface="Noto Sans JP" pitchFamily="34" charset="-122"/>
                <a:cs typeface="Noto Sans JP" pitchFamily="34" charset="-120"/>
              </a:rPr>
              <a:t>ローカル攻撃（DoS、外乱、リソース浪費）</a:t>
            </a:r>
            <a:endParaRPr lang="en-US" sz="1800" dirty="0"/>
          </a:p>
        </p:txBody>
      </p:sp>
      <p:sp>
        <p:nvSpPr>
          <p:cNvPr id="10" name="Text 6"/>
          <p:cNvSpPr txBox="1"/>
          <p:nvPr/>
        </p:nvSpPr>
        <p:spPr>
          <a:xfrm>
            <a:off x="9562795" y="2971800"/>
            <a:ext cx="7429500" cy="228600"/>
          </a:xfrm>
          <a:prstGeom prst="rect">
            <a:avLst/>
          </a:prstGeom>
          <a:noFill/>
          <a:ln/>
        </p:spPr>
        <p:txBody>
          <a:bodyPr wrap="none" lIns="0" tIns="0" rIns="0" bIns="0" rtlCol="0" anchor="ctr"/>
          <a:lstStyle/>
          <a:p>
            <a:pPr algn="l" indent="0" marL="0">
              <a:buNone/>
            </a:pPr>
            <a:r>
              <a:rPr lang="en-US" sz="1200" spc="216" kern="0" dirty="0">
                <a:solidFill>
                  <a:srgbClr val="D4922A"/>
                </a:solidFill>
                <a:latin typeface="JetBrains Mono" pitchFamily="34" charset="0"/>
                <a:ea typeface="JetBrains Mono" pitchFamily="34" charset="-122"/>
                <a:cs typeface="JetBrains Mono" pitchFamily="34" charset="-120"/>
              </a:rPr>
              <a:t>DevTools · 14:00 までに</a:t>
            </a:r>
            <a:endParaRPr lang="en-US" sz="1200" dirty="0"/>
          </a:p>
        </p:txBody>
      </p:sp>
      <p:sp>
        <p:nvSpPr>
          <p:cNvPr id="11" name="Text 7"/>
          <p:cNvSpPr txBox="1"/>
          <p:nvPr/>
        </p:nvSpPr>
        <p:spPr>
          <a:xfrm>
            <a:off x="9562795" y="3372307"/>
            <a:ext cx="7429500" cy="419710"/>
          </a:xfrm>
          <a:prstGeom prst="rect">
            <a:avLst/>
          </a:prstGeom>
          <a:noFill/>
          <a:ln/>
        </p:spPr>
        <p:txBody>
          <a:bodyPr wrap="none" lIns="0" tIns="0" rIns="0" bIns="0" rtlCol="0" anchor="ctr"/>
          <a:lstStyle/>
          <a:p>
            <a:pPr algn="l" indent="0" marL="0">
              <a:buNone/>
            </a:pPr>
            <a:r>
              <a:rPr lang="en-US" sz="2400" b="1" dirty="0">
                <a:solidFill>
                  <a:srgbClr val="F5EFDD"/>
                </a:solidFill>
                <a:latin typeface="Noto Sans JP" pitchFamily="34" charset="0"/>
                <a:ea typeface="Noto Sans JP" pitchFamily="34" charset="-122"/>
                <a:cs typeface="Noto Sans JP" pitchFamily="34" charset="-120"/>
              </a:rPr>
              <a:t>パネルを 3 つ、使える状態に</a:t>
            </a:r>
            <a:endParaRPr lang="en-US" sz="2400" dirty="0"/>
          </a:p>
        </p:txBody>
      </p:sp>
      <p:sp>
        <p:nvSpPr>
          <p:cNvPr id="12" name="Shape 8"/>
          <p:cNvSpPr/>
          <p:nvPr/>
        </p:nvSpPr>
        <p:spPr>
          <a:xfrm>
            <a:off x="9562795" y="4011473"/>
            <a:ext cx="2361895" cy="1580998"/>
          </a:xfrm>
          <a:prstGeom prst="roundRect">
            <a:avLst>
              <a:gd name="adj" fmla="val 2429"/>
            </a:avLst>
          </a:prstGeom>
          <a:solidFill>
            <a:srgbClr val="0F1217"/>
          </a:solidFill>
          <a:ln w="12700">
            <a:solidFill>
              <a:srgbClr val="FFFFFF">
                <a:alpha val="0"/>
              </a:srgbClr>
            </a:solidFill>
            <a:prstDash val="solid"/>
          </a:ln>
        </p:spPr>
      </p:sp>
      <p:sp>
        <p:nvSpPr>
          <p:cNvPr id="13" name="Text 9"/>
          <p:cNvSpPr txBox="1"/>
          <p:nvPr/>
        </p:nvSpPr>
        <p:spPr>
          <a:xfrm>
            <a:off x="9734702" y="4183380"/>
            <a:ext cx="2019910" cy="171907"/>
          </a:xfrm>
          <a:prstGeom prst="rect">
            <a:avLst/>
          </a:prstGeom>
          <a:noFill/>
          <a:ln/>
        </p:spPr>
        <p:txBody>
          <a:bodyPr wrap="none" lIns="0" tIns="0" rIns="0" bIns="0" rtlCol="0" anchor="ctr"/>
          <a:lstStyle/>
          <a:p>
            <a:pPr algn="l" indent="0" marL="0">
              <a:buNone/>
            </a:pPr>
            <a:r>
              <a:rPr lang="en-US" sz="1050" spc="168" kern="0" dirty="0">
                <a:solidFill>
                  <a:srgbClr val="8A8170"/>
                </a:solidFill>
                <a:latin typeface="JetBrains Mono" pitchFamily="34" charset="0"/>
                <a:ea typeface="JetBrains Mono" pitchFamily="34" charset="-122"/>
                <a:cs typeface="JetBrains Mono" pitchFamily="34" charset="-120"/>
              </a:rPr>
              <a:t>PANEL 01</a:t>
            </a:r>
            <a:endParaRPr lang="en-US" sz="1050" dirty="0"/>
          </a:p>
        </p:txBody>
      </p:sp>
      <p:sp>
        <p:nvSpPr>
          <p:cNvPr id="14" name="Text 10"/>
          <p:cNvSpPr txBox="1"/>
          <p:nvPr/>
        </p:nvSpPr>
        <p:spPr>
          <a:xfrm>
            <a:off x="9734702" y="4411980"/>
            <a:ext cx="2019910" cy="333756"/>
          </a:xfrm>
          <a:prstGeom prst="rect">
            <a:avLst/>
          </a:prstGeom>
          <a:noFill/>
          <a:ln/>
        </p:spPr>
        <p:txBody>
          <a:bodyPr wrap="none" lIns="0" tIns="0" rIns="0" bIns="0" rtlCol="0" anchor="ctr"/>
          <a:lstStyle/>
          <a:p>
            <a:pPr algn="l" indent="0" marL="0">
              <a:buNone/>
            </a:pPr>
            <a:r>
              <a:rPr lang="en-US" sz="1800" b="1" dirty="0">
                <a:solidFill>
                  <a:srgbClr val="F5EFDD"/>
                </a:solidFill>
                <a:latin typeface="Zen Kaku Gothic Antique" pitchFamily="34" charset="0"/>
                <a:ea typeface="Zen Kaku Gothic Antique" pitchFamily="34" charset="-122"/>
                <a:cs typeface="Zen Kaku Gothic Antique" pitchFamily="34" charset="-120"/>
              </a:rPr>
              <a:t>Network</a:t>
            </a:r>
            <a:endParaRPr lang="en-US" sz="1800" dirty="0"/>
          </a:p>
        </p:txBody>
      </p:sp>
      <p:sp>
        <p:nvSpPr>
          <p:cNvPr id="15" name="Text 11"/>
          <p:cNvSpPr txBox="1"/>
          <p:nvPr/>
        </p:nvSpPr>
        <p:spPr>
          <a:xfrm>
            <a:off x="9734702" y="4783226"/>
            <a:ext cx="2019910" cy="247802"/>
          </a:xfrm>
          <a:prstGeom prst="rect">
            <a:avLst/>
          </a:prstGeom>
          <a:noFill/>
          <a:ln/>
        </p:spPr>
        <p:txBody>
          <a:bodyPr wrap="none" lIns="0" tIns="0" rIns="0" bIns="0" rtlCol="0" anchor="ctr"/>
          <a:lstStyle/>
          <a:p>
            <a:pPr algn="l" indent="0" marL="0">
              <a:buNone/>
            </a:pPr>
            <a:r>
              <a:rPr lang="en-US" sz="1350" dirty="0">
                <a:solidFill>
                  <a:srgbClr val="8A8170"/>
                </a:solidFill>
                <a:latin typeface="Noto Sans JP" pitchFamily="34" charset="0"/>
                <a:ea typeface="Noto Sans JP" pitchFamily="34" charset="-122"/>
                <a:cs typeface="Noto Sans JP" pitchFamily="34" charset="-120"/>
              </a:rPr>
              <a:t>Fetch / XHR の確認</a:t>
            </a:r>
            <a:endParaRPr lang="en-US" sz="1350" dirty="0"/>
          </a:p>
        </p:txBody>
      </p:sp>
      <p:sp>
        <p:nvSpPr>
          <p:cNvPr id="16" name="Shape 12"/>
          <p:cNvSpPr/>
          <p:nvPr/>
        </p:nvSpPr>
        <p:spPr>
          <a:xfrm>
            <a:off x="12096598" y="4011473"/>
            <a:ext cx="2361895" cy="1580998"/>
          </a:xfrm>
          <a:prstGeom prst="roundRect">
            <a:avLst>
              <a:gd name="adj" fmla="val 2429"/>
            </a:avLst>
          </a:prstGeom>
          <a:solidFill>
            <a:srgbClr val="0F1217"/>
          </a:solidFill>
          <a:ln w="12700">
            <a:solidFill>
              <a:srgbClr val="FFFFFF">
                <a:alpha val="0"/>
              </a:srgbClr>
            </a:solidFill>
            <a:prstDash val="solid"/>
          </a:ln>
        </p:spPr>
      </p:sp>
      <p:sp>
        <p:nvSpPr>
          <p:cNvPr id="17" name="Text 13"/>
          <p:cNvSpPr txBox="1"/>
          <p:nvPr/>
        </p:nvSpPr>
        <p:spPr>
          <a:xfrm>
            <a:off x="12268505" y="4183380"/>
            <a:ext cx="2019910" cy="171907"/>
          </a:xfrm>
          <a:prstGeom prst="rect">
            <a:avLst/>
          </a:prstGeom>
          <a:noFill/>
          <a:ln/>
        </p:spPr>
        <p:txBody>
          <a:bodyPr wrap="none" lIns="0" tIns="0" rIns="0" bIns="0" rtlCol="0" anchor="ctr"/>
          <a:lstStyle/>
          <a:p>
            <a:pPr algn="l" indent="0" marL="0">
              <a:buNone/>
            </a:pPr>
            <a:r>
              <a:rPr lang="en-US" sz="1050" spc="168" kern="0" dirty="0">
                <a:solidFill>
                  <a:srgbClr val="8A8170"/>
                </a:solidFill>
                <a:latin typeface="JetBrains Mono" pitchFamily="34" charset="0"/>
                <a:ea typeface="JetBrains Mono" pitchFamily="34" charset="-122"/>
                <a:cs typeface="JetBrains Mono" pitchFamily="34" charset="-120"/>
              </a:rPr>
              <a:t>PANEL 02</a:t>
            </a:r>
            <a:endParaRPr lang="en-US" sz="1050" dirty="0"/>
          </a:p>
        </p:txBody>
      </p:sp>
      <p:sp>
        <p:nvSpPr>
          <p:cNvPr id="18" name="Text 14"/>
          <p:cNvSpPr txBox="1"/>
          <p:nvPr/>
        </p:nvSpPr>
        <p:spPr>
          <a:xfrm>
            <a:off x="12268505" y="4411980"/>
            <a:ext cx="2019910" cy="333756"/>
          </a:xfrm>
          <a:prstGeom prst="rect">
            <a:avLst/>
          </a:prstGeom>
          <a:noFill/>
          <a:ln/>
        </p:spPr>
        <p:txBody>
          <a:bodyPr wrap="none" lIns="0" tIns="0" rIns="0" bIns="0" rtlCol="0" anchor="ctr"/>
          <a:lstStyle/>
          <a:p>
            <a:pPr algn="l" indent="0" marL="0">
              <a:buNone/>
            </a:pPr>
            <a:r>
              <a:rPr lang="en-US" sz="1800" b="1" dirty="0">
                <a:solidFill>
                  <a:srgbClr val="F5EFDD"/>
                </a:solidFill>
                <a:latin typeface="Zen Kaku Gothic Antique" pitchFamily="34" charset="0"/>
                <a:ea typeface="Zen Kaku Gothic Antique" pitchFamily="34" charset="-122"/>
                <a:cs typeface="Zen Kaku Gothic Antique" pitchFamily="34" charset="-120"/>
              </a:rPr>
              <a:t>Console</a:t>
            </a:r>
            <a:endParaRPr lang="en-US" sz="1800" dirty="0"/>
          </a:p>
        </p:txBody>
      </p:sp>
      <p:sp>
        <p:nvSpPr>
          <p:cNvPr id="19" name="Text 15"/>
          <p:cNvSpPr txBox="1"/>
          <p:nvPr/>
        </p:nvSpPr>
        <p:spPr>
          <a:xfrm>
            <a:off x="12268505" y="4783226"/>
            <a:ext cx="2019910" cy="247802"/>
          </a:xfrm>
          <a:prstGeom prst="rect">
            <a:avLst/>
          </a:prstGeom>
          <a:noFill/>
          <a:ln/>
        </p:spPr>
        <p:txBody>
          <a:bodyPr wrap="none" lIns="0" tIns="0" rIns="0" bIns="0" rtlCol="0" anchor="ctr"/>
          <a:lstStyle/>
          <a:p>
            <a:pPr algn="l" indent="0" marL="0">
              <a:buNone/>
            </a:pPr>
            <a:r>
              <a:rPr lang="en-US" sz="1350" dirty="0">
                <a:solidFill>
                  <a:srgbClr val="8A8170"/>
                </a:solidFill>
                <a:latin typeface="Noto Sans JP" pitchFamily="34" charset="0"/>
                <a:ea typeface="Noto Sans JP" pitchFamily="34" charset="-122"/>
                <a:cs typeface="Noto Sans JP" pitchFamily="34" charset="-120"/>
              </a:rPr>
              <a:t>fetch 再現スクリプト</a:t>
            </a:r>
            <a:endParaRPr lang="en-US" sz="1350" dirty="0"/>
          </a:p>
        </p:txBody>
      </p:sp>
      <p:sp>
        <p:nvSpPr>
          <p:cNvPr id="20" name="Shape 16"/>
          <p:cNvSpPr/>
          <p:nvPr/>
        </p:nvSpPr>
        <p:spPr>
          <a:xfrm>
            <a:off x="14630400" y="4011473"/>
            <a:ext cx="2361895" cy="1580998"/>
          </a:xfrm>
          <a:prstGeom prst="roundRect">
            <a:avLst>
              <a:gd name="adj" fmla="val 2429"/>
            </a:avLst>
          </a:prstGeom>
          <a:solidFill>
            <a:srgbClr val="0F1217"/>
          </a:solidFill>
          <a:ln w="12700">
            <a:solidFill>
              <a:srgbClr val="FFFFFF">
                <a:alpha val="0"/>
              </a:srgbClr>
            </a:solidFill>
            <a:prstDash val="solid"/>
          </a:ln>
        </p:spPr>
      </p:sp>
      <p:sp>
        <p:nvSpPr>
          <p:cNvPr id="21" name="Text 17"/>
          <p:cNvSpPr txBox="1"/>
          <p:nvPr/>
        </p:nvSpPr>
        <p:spPr>
          <a:xfrm>
            <a:off x="14802307" y="4183380"/>
            <a:ext cx="2019910" cy="171907"/>
          </a:xfrm>
          <a:prstGeom prst="rect">
            <a:avLst/>
          </a:prstGeom>
          <a:noFill/>
          <a:ln/>
        </p:spPr>
        <p:txBody>
          <a:bodyPr wrap="none" lIns="0" tIns="0" rIns="0" bIns="0" rtlCol="0" anchor="ctr"/>
          <a:lstStyle/>
          <a:p>
            <a:pPr algn="l" indent="0" marL="0">
              <a:buNone/>
            </a:pPr>
            <a:r>
              <a:rPr lang="en-US" sz="1050" spc="168" kern="0" dirty="0">
                <a:solidFill>
                  <a:srgbClr val="8A8170"/>
                </a:solidFill>
                <a:latin typeface="JetBrains Mono" pitchFamily="34" charset="0"/>
                <a:ea typeface="JetBrains Mono" pitchFamily="34" charset="-122"/>
                <a:cs typeface="JetBrains Mono" pitchFamily="34" charset="-120"/>
              </a:rPr>
              <a:t>PANEL 03</a:t>
            </a:r>
            <a:endParaRPr lang="en-US" sz="1050" dirty="0"/>
          </a:p>
        </p:txBody>
      </p:sp>
      <p:sp>
        <p:nvSpPr>
          <p:cNvPr id="22" name="Text 18"/>
          <p:cNvSpPr txBox="1"/>
          <p:nvPr/>
        </p:nvSpPr>
        <p:spPr>
          <a:xfrm>
            <a:off x="14802307" y="4411980"/>
            <a:ext cx="2019910" cy="333756"/>
          </a:xfrm>
          <a:prstGeom prst="rect">
            <a:avLst/>
          </a:prstGeom>
          <a:noFill/>
          <a:ln/>
        </p:spPr>
        <p:txBody>
          <a:bodyPr wrap="none" lIns="0" tIns="0" rIns="0" bIns="0" rtlCol="0" anchor="ctr"/>
          <a:lstStyle/>
          <a:p>
            <a:pPr algn="l" indent="0" marL="0">
              <a:buNone/>
            </a:pPr>
            <a:r>
              <a:rPr lang="en-US" sz="1800" b="1" dirty="0">
                <a:solidFill>
                  <a:srgbClr val="F5EFDD"/>
                </a:solidFill>
                <a:latin typeface="Zen Kaku Gothic Antique" pitchFamily="34" charset="0"/>
                <a:ea typeface="Zen Kaku Gothic Antique" pitchFamily="34" charset="-122"/>
                <a:cs typeface="Zen Kaku Gothic Antique" pitchFamily="34" charset="-120"/>
              </a:rPr>
              <a:t>Elements</a:t>
            </a:r>
            <a:endParaRPr lang="en-US" sz="1800" dirty="0"/>
          </a:p>
        </p:txBody>
      </p:sp>
      <p:sp>
        <p:nvSpPr>
          <p:cNvPr id="23" name="Text 19"/>
          <p:cNvSpPr txBox="1"/>
          <p:nvPr/>
        </p:nvSpPr>
        <p:spPr>
          <a:xfrm>
            <a:off x="14802307" y="4783226"/>
            <a:ext cx="2019910" cy="247802"/>
          </a:xfrm>
          <a:prstGeom prst="rect">
            <a:avLst/>
          </a:prstGeom>
          <a:noFill/>
          <a:ln/>
        </p:spPr>
        <p:txBody>
          <a:bodyPr wrap="none" lIns="0" tIns="0" rIns="0" bIns="0" rtlCol="0" anchor="ctr"/>
          <a:lstStyle/>
          <a:p>
            <a:pPr algn="l" indent="0" marL="0">
              <a:buNone/>
            </a:pPr>
            <a:r>
              <a:rPr lang="en-US" sz="1350" dirty="0">
                <a:solidFill>
                  <a:srgbClr val="8A8170"/>
                </a:solidFill>
                <a:latin typeface="Noto Sans JP" pitchFamily="34" charset="0"/>
                <a:ea typeface="Noto Sans JP" pitchFamily="34" charset="-122"/>
                <a:cs typeface="Noto Sans JP" pitchFamily="34" charset="-120"/>
              </a:rPr>
              <a:t>レンダリング結果の確認</a:t>
            </a:r>
            <a:endParaRPr lang="en-US" sz="1350" dirty="0"/>
          </a:p>
        </p:txBody>
      </p:sp>
      <p:sp>
        <p:nvSpPr>
          <p:cNvPr id="24" name="Text 20"/>
          <p:cNvSpPr txBox="1"/>
          <p:nvPr/>
        </p:nvSpPr>
        <p:spPr>
          <a:xfrm>
            <a:off x="9562795" y="5789066"/>
            <a:ext cx="7429500" cy="957377"/>
          </a:xfrm>
          <a:prstGeom prst="rect">
            <a:avLst/>
          </a:prstGeom>
          <a:noFill/>
          <a:ln/>
        </p:spPr>
        <p:txBody>
          <a:bodyPr wrap="square" lIns="0" tIns="0" rIns="0" bIns="0" rtlCol="0" anchor="t"/>
          <a:lstStyle/>
          <a:p>
            <a:pPr algn="l" indent="0" marL="0">
              <a:lnSpc>
                <a:spcPts val="2325"/>
              </a:lnSpc>
              <a:buNone/>
            </a:pPr>
            <a:r>
              <a:rPr lang="en-US" sz="1500" dirty="0">
                <a:solidFill>
                  <a:srgbClr val="ECE4D2"/>
                </a:solidFill>
                <a:latin typeface="Noto Sans JP" pitchFamily="34" charset="0"/>
                <a:ea typeface="Noto Sans JP" pitchFamily="34" charset="-122"/>
                <a:cs typeface="Noto Sans JP" pitchFamily="34" charset="-120"/>
              </a:rPr>
              <a:t>ショートカット目安：</a:t>
            </a:r>
            <a:pPr algn="l" indent="0" marL="0">
              <a:lnSpc>
                <a:spcPts val="2325"/>
              </a:lnSpc>
              <a:buNone/>
            </a:pPr>
            <a:endParaRPr lang="en-US" sz="1500" dirty="0"/>
          </a:p>
          <a:p>
            <a:pPr algn="l" indent="0" marL="0">
              <a:lnSpc>
                <a:spcPts val="2325"/>
              </a:lnSpc>
              <a:buNone/>
            </a:pPr>
            <a:r>
              <a:rPr lang="en-US" sz="1500" dirty="0">
                <a:solidFill>
                  <a:srgbClr val="D4922A"/>
                </a:solidFill>
                <a:latin typeface="JetBrains Mono" pitchFamily="34" charset="0"/>
                <a:ea typeface="JetBrains Mono" pitchFamily="34" charset="-122"/>
                <a:cs typeface="JetBrains Mono" pitchFamily="34" charset="-120"/>
              </a:rPr>
              <a:t>F12</a:t>
            </a:r>
            <a:pPr algn="l" indent="0" marL="0">
              <a:lnSpc>
                <a:spcPts val="2325"/>
              </a:lnSpc>
              <a:buNone/>
            </a:pPr>
            <a:r>
              <a:rPr lang="en-US" sz="1500" dirty="0">
                <a:solidFill>
                  <a:srgbClr val="ECE4D2"/>
                </a:solidFill>
                <a:latin typeface="Noto Sans JP" pitchFamily="34" charset="0"/>
                <a:ea typeface="Noto Sans JP" pitchFamily="34" charset="-122"/>
                <a:cs typeface="Noto Sans JP" pitchFamily="34" charset="-120"/>
              </a:rPr>
              <a:t> ／ </a:t>
            </a:r>
            <a:pPr algn="l" indent="0" marL="0">
              <a:lnSpc>
                <a:spcPts val="2325"/>
              </a:lnSpc>
              <a:buNone/>
            </a:pPr>
            <a:r>
              <a:rPr lang="en-US" sz="1500" dirty="0">
                <a:solidFill>
                  <a:srgbClr val="D4922A"/>
                </a:solidFill>
                <a:latin typeface="JetBrains Mono" pitchFamily="34" charset="0"/>
                <a:ea typeface="JetBrains Mono" pitchFamily="34" charset="-122"/>
                <a:cs typeface="JetBrains Mono" pitchFamily="34" charset="-120"/>
              </a:rPr>
              <a:t>Ctrl+Shift+I</a:t>
            </a:r>
            <a:pPr algn="l" indent="0" marL="0">
              <a:lnSpc>
                <a:spcPts val="2325"/>
              </a:lnSpc>
              <a:buNone/>
            </a:pPr>
            <a:r>
              <a:rPr lang="en-US" sz="1500" dirty="0">
                <a:solidFill>
                  <a:srgbClr val="ECE4D2"/>
                </a:solidFill>
                <a:latin typeface="Noto Sans JP" pitchFamily="34" charset="0"/>
                <a:ea typeface="Noto Sans JP" pitchFamily="34" charset="-122"/>
                <a:cs typeface="Noto Sans JP" pitchFamily="34" charset="-120"/>
              </a:rPr>
              <a:t> ／ </a:t>
            </a:r>
            <a:pPr algn="l" indent="0" marL="0">
              <a:lnSpc>
                <a:spcPts val="2325"/>
              </a:lnSpc>
              <a:buNone/>
            </a:pPr>
            <a:r>
              <a:rPr lang="en-US" sz="1500" dirty="0">
                <a:solidFill>
                  <a:srgbClr val="D4922A"/>
                </a:solidFill>
                <a:latin typeface="JetBrains Mono" pitchFamily="34" charset="0"/>
                <a:ea typeface="JetBrains Mono" pitchFamily="34" charset="-122"/>
                <a:cs typeface="JetBrains Mono" pitchFamily="34" charset="-120"/>
              </a:rPr>
              <a:t>⌥⌘I</a:t>
            </a:r>
            <a:pPr algn="l" indent="0" marL="0">
              <a:lnSpc>
                <a:spcPts val="2325"/>
              </a:lnSpc>
              <a:buNone/>
            </a:pPr>
            <a:r>
              <a:rPr lang="en-US" sz="1500" dirty="0">
                <a:solidFill>
                  <a:srgbClr val="ECE4D2"/>
                </a:solidFill>
                <a:latin typeface="Noto Sans JP" pitchFamily="34" charset="0"/>
                <a:ea typeface="Noto Sans JP" pitchFamily="34" charset="-122"/>
                <a:cs typeface="Noto Sans JP" pitchFamily="34" charset="-120"/>
              </a:rPr>
              <a:t> で開く</a:t>
            </a:r>
            <a:pPr algn="l" indent="0" marL="0">
              <a:lnSpc>
                <a:spcPts val="2325"/>
              </a:lnSpc>
              <a:buNone/>
            </a:pPr>
            <a:endParaRPr lang="en-US" sz="1500" dirty="0"/>
          </a:p>
          <a:p>
            <a:pPr algn="l" indent="0" marL="0">
              <a:lnSpc>
                <a:spcPts val="2325"/>
              </a:lnSpc>
              <a:buNone/>
            </a:pPr>
            <a:r>
              <a:rPr lang="en-US" sz="1500" dirty="0">
                <a:solidFill>
                  <a:srgbClr val="ECE4D2"/>
                </a:solidFill>
                <a:latin typeface="Noto Sans JP" pitchFamily="34" charset="0"/>
                <a:ea typeface="Noto Sans JP" pitchFamily="34" charset="-122"/>
                <a:cs typeface="Noto Sans JP" pitchFamily="34" charset="-120"/>
              </a:rPr>
              <a:t>Network タブで </a:t>
            </a:r>
            <a:pPr algn="l" indent="0" marL="0">
              <a:lnSpc>
                <a:spcPts val="2325"/>
              </a:lnSpc>
              <a:buNone/>
            </a:pPr>
            <a:r>
              <a:rPr lang="en-US" sz="1500" dirty="0">
                <a:solidFill>
                  <a:srgbClr val="D4922A"/>
                </a:solidFill>
                <a:latin typeface="JetBrains Mono" pitchFamily="34" charset="0"/>
                <a:ea typeface="JetBrains Mono" pitchFamily="34" charset="-122"/>
                <a:cs typeface="JetBrains Mono" pitchFamily="34" charset="-120"/>
              </a:rPr>
              <a:t>Preserve log</a:t>
            </a:r>
            <a:pPr algn="l" indent="0" marL="0">
              <a:lnSpc>
                <a:spcPts val="2325"/>
              </a:lnSpc>
              <a:buNone/>
            </a:pPr>
            <a:r>
              <a:rPr lang="en-US" sz="1500" dirty="0">
                <a:solidFill>
                  <a:srgbClr val="ECE4D2"/>
                </a:solidFill>
                <a:latin typeface="Noto Sans JP" pitchFamily="34" charset="0"/>
                <a:ea typeface="Noto Sans JP" pitchFamily="34" charset="-122"/>
                <a:cs typeface="Noto Sans JP" pitchFamily="34" charset="-120"/>
              </a:rPr>
              <a:t> を有効にしておく</a:t>
            </a:r>
            <a:endParaRPr lang="en-US" sz="1500" dirty="0"/>
          </a:p>
        </p:txBody>
      </p:sp>
      <p:pic>
        <p:nvPicPr>
          <p:cNvPr id="25" name="Image 1" descr="gen-dedup-ff3b843c62efd2578b331bdfc9bb7c8f.png">    </p:cNvPr>
          <p:cNvPicPr>
            <a:picLocks noChangeAspect="1"/>
          </p:cNvPicPr>
          <p:nvPr/>
        </p:nvPicPr>
        <p:blipFill>
          <a:blip r:embed="rId2"/>
          <a:srcRect l="-2083" r="-2083" t="0" b="0"/>
          <a:stretch/>
        </p:blipFill>
        <p:spPr>
          <a:xfrm>
            <a:off x="914400" y="9334195"/>
            <a:ext cx="16459200" cy="9144"/>
          </a:xfrm>
          <a:prstGeom prst="rect">
            <a:avLst/>
          </a:prstGeom>
        </p:spPr>
      </p:pic>
      <p:sp>
        <p:nvSpPr>
          <p:cNvPr id="26" name="Text 21"/>
          <p:cNvSpPr txBox="1"/>
          <p:nvPr/>
        </p:nvSpPr>
        <p:spPr>
          <a:xfrm>
            <a:off x="914400" y="9562795"/>
            <a:ext cx="12382805" cy="228600"/>
          </a:xfrm>
          <a:prstGeom prst="rect">
            <a:avLst/>
          </a:prstGeom>
          <a:noFill/>
          <a:ln/>
        </p:spPr>
        <p:txBody>
          <a:bodyPr wrap="none" lIns="0" tIns="0" rIns="0" bIns="0" rtlCol="0" anchor="ctr"/>
          <a:lstStyle/>
          <a:p>
            <a:pPr algn="l" indent="0" marL="0">
              <a:buNone/>
            </a:pPr>
            <a:r>
              <a:rPr lang="en-US" sz="1200" spc="72" kern="0" dirty="0">
                <a:solidFill>
                  <a:srgbClr val="5A4F3F"/>
                </a:solidFill>
                <a:latin typeface="JetBrains Mono" pitchFamily="34" charset="0"/>
                <a:ea typeface="JetBrains Mono" pitchFamily="34" charset="-122"/>
                <a:cs typeface="JetBrains Mono" pitchFamily="34" charset="-120"/>
              </a:rPr>
              <a:t>登録URLと参加コードは当日チャットで配布 · 別Supabaseプロジェクト · 同じコードでも参加者ごとに状態は分離</a:t>
            </a:r>
            <a:endParaRPr lang="en-US" sz="1200" dirty="0"/>
          </a:p>
        </p:txBody>
      </p:sp>
      <p:sp>
        <p:nvSpPr>
          <p:cNvPr id="27" name="Text 22"/>
          <p:cNvSpPr txBox="1"/>
          <p:nvPr/>
        </p:nvSpPr>
        <p:spPr>
          <a:xfrm>
            <a:off x="15468905" y="9562795"/>
            <a:ext cx="1905610" cy="200254"/>
          </a:xfrm>
          <a:prstGeom prst="rect">
            <a:avLst/>
          </a:prstGeom>
          <a:noFill/>
          <a:ln/>
        </p:spPr>
        <p:txBody>
          <a:bodyPr wrap="none" lIns="0" tIns="0" rIns="0" bIns="0" rtlCol="0" anchor="ctr"/>
          <a:lstStyle/>
          <a:p>
            <a:pPr algn="r" indent="0" marL="0">
              <a:buNone/>
            </a:pPr>
            <a:r>
              <a:rPr lang="en-US" sz="1200" spc="72" kern="0" dirty="0">
                <a:solidFill>
                  <a:srgbClr val="5A4F3F"/>
                </a:solidFill>
                <a:latin typeface="JetBrains Mono" pitchFamily="34" charset="0"/>
                <a:ea typeface="JetBrains Mono" pitchFamily="34" charset="-122"/>
                <a:cs typeface="JetBrains Mono" pitchFamily="34" charset="-120"/>
              </a:rPr>
              <a:t>04 / 32</a:t>
            </a:r>
            <a:endParaRPr lang="en-US" sz="1200" dirty="0"/>
          </a:p>
        </p:txBody>
      </p:sp>
      <p:sp>
        <p:nvSpPr>
          <p:cNvPr id="28" name="Text 23"/>
          <p:cNvSpPr txBox="1"/>
          <p:nvPr/>
        </p:nvSpPr>
        <p:spPr>
          <a:xfrm>
            <a:off x="914400" y="838505"/>
            <a:ext cx="11430000" cy="219456"/>
          </a:xfrm>
          <a:prstGeom prst="rect">
            <a:avLst/>
          </a:prstGeom>
          <a:noFill/>
          <a:ln/>
        </p:spPr>
        <p:txBody>
          <a:bodyPr wrap="none" lIns="0" tIns="0" rIns="0" bIns="0" rtlCol="0" anchor="ctr"/>
          <a:lstStyle/>
          <a:p>
            <a:pPr algn="l" indent="0" marL="0">
              <a:buNone/>
            </a:pPr>
            <a:r>
              <a:rPr lang="en-US" sz="1350" spc="324" kern="0" dirty="0">
                <a:solidFill>
                  <a:srgbClr val="2F6F4F"/>
                </a:solidFill>
                <a:latin typeface="JetBrains Mono" pitchFamily="34" charset="0"/>
                <a:ea typeface="JetBrains Mono" pitchFamily="34" charset="-122"/>
                <a:cs typeface="JetBrains Mono" pitchFamily="34" charset="-120"/>
              </a:rPr>
              <a:t>04 · Setup</a:t>
            </a:r>
            <a:endParaRPr lang="en-US" sz="1350" dirty="0"/>
          </a:p>
        </p:txBody>
      </p:sp>
      <p:sp>
        <p:nvSpPr>
          <p:cNvPr id="29" name="Text 24"/>
          <p:cNvSpPr txBox="1"/>
          <p:nvPr/>
        </p:nvSpPr>
        <p:spPr>
          <a:xfrm>
            <a:off x="914400" y="1152144"/>
            <a:ext cx="11430000" cy="886054"/>
          </a:xfrm>
          <a:prstGeom prst="rect">
            <a:avLst/>
          </a:prstGeom>
          <a:noFill/>
          <a:ln/>
        </p:spPr>
        <p:txBody>
          <a:bodyPr wrap="none" lIns="0" tIns="0" rIns="0" bIns="0" rtlCol="0" anchor="ctr"/>
          <a:lstStyle/>
          <a:p>
            <a:pPr algn="l" indent="0" marL="0">
              <a:buNone/>
            </a:pPr>
            <a:r>
              <a:rPr lang="en-US" sz="6300" b="1" spc="-126" kern="0" dirty="0">
                <a:solidFill>
                  <a:srgbClr val="211C13"/>
                </a:solidFill>
                <a:latin typeface="Zen Kaku Gothic Antique" pitchFamily="34" charset="0"/>
                <a:ea typeface="Zen Kaku Gothic Antique" pitchFamily="34" charset="-122"/>
                <a:cs typeface="Zen Kaku Gothic Antique" pitchFamily="34" charset="-120"/>
              </a:rPr>
              <a:t>環境と事前準備</a:t>
            </a:r>
            <a:endParaRPr lang="en-US" sz="6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FE7D4"/>
        </a:solidFill>
      </p:bgPr>
    </p:bg>
    <p:spTree>
      <p:nvGrpSpPr>
        <p:cNvPr id="1" name=""/>
        <p:cNvGrpSpPr/>
        <p:nvPr/>
      </p:nvGrpSpPr>
      <p:grpSpPr>
        <a:xfrm>
          <a:off x="0" y="0"/>
          <a:ext cx="0" cy="0"/>
          <a:chOff x="0" y="0"/>
          <a:chExt cx="0" cy="0"/>
        </a:xfrm>
      </p:grpSpPr>
      <p:sp>
        <p:nvSpPr>
          <p:cNvPr id="3" name="Shape 0"/>
          <p:cNvSpPr/>
          <p:nvPr/>
        </p:nvSpPr>
        <p:spPr>
          <a:xfrm>
            <a:off x="914400" y="3238805"/>
            <a:ext cx="5333695" cy="5524805"/>
          </a:xfrm>
          <a:prstGeom prst="roundRect">
            <a:avLst>
              <a:gd name="adj" fmla="val 720"/>
            </a:avLst>
          </a:prstGeom>
          <a:solidFill>
            <a:srgbClr val="E5DBC4"/>
          </a:solidFill>
          <a:ln w="12700">
            <a:solidFill>
              <a:srgbClr val="FFFFFF">
                <a:alpha val="0"/>
              </a:srgbClr>
            </a:solidFill>
            <a:prstDash val="solid"/>
          </a:ln>
        </p:spPr>
      </p:sp>
      <p:sp>
        <p:nvSpPr>
          <p:cNvPr id="4" name="Shape 1"/>
          <p:cNvSpPr/>
          <p:nvPr/>
        </p:nvSpPr>
        <p:spPr>
          <a:xfrm>
            <a:off x="6476695" y="3238805"/>
            <a:ext cx="5333695" cy="5524805"/>
          </a:xfrm>
          <a:prstGeom prst="roundRect">
            <a:avLst>
              <a:gd name="adj" fmla="val 720"/>
            </a:avLst>
          </a:prstGeom>
          <a:solidFill>
            <a:srgbClr val="E5DBC4"/>
          </a:solidFill>
          <a:ln w="12700">
            <a:solidFill>
              <a:srgbClr val="FFFFFF">
                <a:alpha val="0"/>
              </a:srgbClr>
            </a:solidFill>
            <a:prstDash val="solid"/>
          </a:ln>
        </p:spPr>
      </p:sp>
      <p:sp>
        <p:nvSpPr>
          <p:cNvPr id="5" name="Shape 2"/>
          <p:cNvSpPr/>
          <p:nvPr/>
        </p:nvSpPr>
        <p:spPr>
          <a:xfrm>
            <a:off x="12039905" y="3238805"/>
            <a:ext cx="5333695" cy="5524805"/>
          </a:xfrm>
          <a:prstGeom prst="roundRect">
            <a:avLst>
              <a:gd name="adj" fmla="val 720"/>
            </a:avLst>
          </a:prstGeom>
          <a:solidFill>
            <a:srgbClr val="E5DBC4"/>
          </a:solidFill>
          <a:ln w="12700">
            <a:solidFill>
              <a:srgbClr val="FFFFFF">
                <a:alpha val="0"/>
              </a:srgbClr>
            </a:solidFill>
            <a:prstDash val="solid"/>
          </a:ln>
        </p:spPr>
      </p:sp>
      <p:pic>
        <p:nvPicPr>
          <p:cNvPr id="6" name="Image 0" descr="gen-dedup-9a1d7e96cb4f1260ea4533a46bae8213.png">    </p:cNvPr>
          <p:cNvPicPr>
            <a:picLocks noChangeAspect="1"/>
          </p:cNvPicPr>
          <p:nvPr/>
        </p:nvPicPr>
        <p:blipFill>
          <a:blip r:embed="rId1"/>
          <a:srcRect l="0" r="0" t="-403" b="-403"/>
          <a:stretch/>
        </p:blipFill>
        <p:spPr>
          <a:xfrm>
            <a:off x="914400" y="3238805"/>
            <a:ext cx="5333695" cy="57607"/>
          </a:xfrm>
          <a:prstGeom prst="rect">
            <a:avLst/>
          </a:prstGeom>
        </p:spPr>
      </p:pic>
      <p:pic>
        <p:nvPicPr>
          <p:cNvPr id="7" name="Image 1" descr="gen-dedup-1138a31e103a1e80bd505be9064d4fd8.png">    </p:cNvPr>
          <p:cNvPicPr>
            <a:picLocks noChangeAspect="1"/>
          </p:cNvPicPr>
          <p:nvPr/>
        </p:nvPicPr>
        <p:blipFill>
          <a:blip r:embed="rId2"/>
          <a:srcRect l="0" r="0" t="-403" b="-403"/>
          <a:stretch/>
        </p:blipFill>
        <p:spPr>
          <a:xfrm>
            <a:off x="6476695" y="3238805"/>
            <a:ext cx="5333695" cy="57607"/>
          </a:xfrm>
          <a:prstGeom prst="rect">
            <a:avLst/>
          </a:prstGeom>
        </p:spPr>
      </p:pic>
      <p:pic>
        <p:nvPicPr>
          <p:cNvPr id="8" name="Image 2" descr="gen-dedup-c36cf534fdeaaf41d14fa70406bc0f88.png">    </p:cNvPr>
          <p:cNvPicPr>
            <a:picLocks noChangeAspect="1"/>
          </p:cNvPicPr>
          <p:nvPr/>
        </p:nvPicPr>
        <p:blipFill>
          <a:blip r:embed="rId3"/>
          <a:srcRect l="0" r="0" t="-403" b="-403"/>
          <a:stretch/>
        </p:blipFill>
        <p:spPr>
          <a:xfrm>
            <a:off x="12039905" y="3238805"/>
            <a:ext cx="5333695" cy="57607"/>
          </a:xfrm>
          <a:prstGeom prst="rect">
            <a:avLst/>
          </a:prstGeom>
        </p:spPr>
      </p:pic>
      <p:sp>
        <p:nvSpPr>
          <p:cNvPr id="9" name="Text 3"/>
          <p:cNvSpPr txBox="1"/>
          <p:nvPr/>
        </p:nvSpPr>
        <p:spPr>
          <a:xfrm>
            <a:off x="1218895" y="3619195"/>
            <a:ext cx="4763110" cy="171907"/>
          </a:xfrm>
          <a:prstGeom prst="rect">
            <a:avLst/>
          </a:prstGeom>
          <a:noFill/>
          <a:ln/>
        </p:spPr>
        <p:txBody>
          <a:bodyPr wrap="none" lIns="0" tIns="0" rIns="0" bIns="0" rtlCol="0" anchor="ctr"/>
          <a:lstStyle/>
          <a:p>
            <a:pPr algn="l" indent="0" marL="0">
              <a:buNone/>
            </a:pPr>
            <a:r>
              <a:rPr lang="en-US" sz="1050" spc="231" kern="0" dirty="0">
                <a:solidFill>
                  <a:srgbClr val="B63A2A"/>
                </a:solidFill>
                <a:latin typeface="JetBrains Mono" pitchFamily="34" charset="0"/>
                <a:ea typeface="JetBrains Mono" pitchFamily="34" charset="-122"/>
                <a:cs typeface="JetBrains Mono" pitchFamily="34" charset="-120"/>
              </a:rPr>
              <a:t>01 · PRIMARY</a:t>
            </a:r>
            <a:endParaRPr lang="en-US" sz="1050" dirty="0"/>
          </a:p>
        </p:txBody>
      </p:sp>
      <p:sp>
        <p:nvSpPr>
          <p:cNvPr id="10" name="Text 4"/>
          <p:cNvSpPr txBox="1"/>
          <p:nvPr/>
        </p:nvSpPr>
        <p:spPr>
          <a:xfrm>
            <a:off x="1218895" y="3866998"/>
            <a:ext cx="4763110" cy="1924812"/>
          </a:xfrm>
          <a:prstGeom prst="rect">
            <a:avLst/>
          </a:prstGeom>
          <a:noFill/>
          <a:ln/>
        </p:spPr>
        <p:txBody>
          <a:bodyPr wrap="square" lIns="0" tIns="0" rIns="0" bIns="0" rtlCol="0" anchor="t"/>
          <a:lstStyle/>
          <a:p>
            <a:pPr algn="l" indent="0" marL="0">
              <a:lnSpc>
                <a:spcPct val="105000"/>
              </a:lnSpc>
              <a:buNone/>
            </a:pPr>
            <a:r>
              <a:rPr lang="en-US" sz="4800" b="1" spc="-96" kern="0" dirty="0">
                <a:solidFill>
                  <a:srgbClr val="211C13"/>
                </a:solidFill>
                <a:latin typeface="Zen Kaku Gothic Antique" pitchFamily="34" charset="0"/>
                <a:ea typeface="Zen Kaku Gothic Antique" pitchFamily="34" charset="-122"/>
                <a:cs typeface="Zen Kaku Gothic Antique" pitchFamily="34" charset="-120"/>
              </a:rPr>
              <a:t>SQL</a:t>
            </a:r>
            <a:pPr algn="l" indent="0" marL="0">
              <a:lnSpc>
                <a:spcPct val="105000"/>
              </a:lnSpc>
              <a:buNone/>
            </a:pPr>
            <a:endParaRPr lang="en-US" sz="4800" dirty="0"/>
          </a:p>
          <a:p>
            <a:pPr algn="l" indent="0" marL="0">
              <a:lnSpc>
                <a:spcPct val="105000"/>
              </a:lnSpc>
              <a:buNone/>
            </a:pPr>
            <a:r>
              <a:rPr lang="en-US" sz="4800" b="1" spc="-96" kern="0" dirty="0">
                <a:solidFill>
                  <a:srgbClr val="211C13"/>
                </a:solidFill>
                <a:latin typeface="Zen Kaku Gothic Antique" pitchFamily="34" charset="0"/>
                <a:ea typeface="Zen Kaku Gothic Antique" pitchFamily="34" charset="-122"/>
                <a:cs typeface="Zen Kaku Gothic Antique" pitchFamily="34" charset="-120"/>
              </a:rPr>
              <a:t>インジェクション</a:t>
            </a:r>
            <a:endParaRPr lang="en-US" sz="4800" dirty="0"/>
          </a:p>
        </p:txBody>
      </p:sp>
      <p:sp>
        <p:nvSpPr>
          <p:cNvPr id="11" name="Text 5"/>
          <p:cNvSpPr txBox="1"/>
          <p:nvPr/>
        </p:nvSpPr>
        <p:spPr>
          <a:xfrm>
            <a:off x="1218895" y="5940857"/>
            <a:ext cx="4763110" cy="1017727"/>
          </a:xfrm>
          <a:prstGeom prst="rect">
            <a:avLst/>
          </a:prstGeom>
          <a:noFill/>
          <a:ln/>
        </p:spPr>
        <p:txBody>
          <a:bodyPr wrap="square" lIns="0" tIns="0" rIns="0" bIns="0" rtlCol="0" anchor="t"/>
          <a:lstStyle/>
          <a:p>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公開ユーザー検索から、</a:t>
            </a:r>
            <a:pPr algn="l" indent="0" marL="0">
              <a:lnSpc>
                <a:spcPts val="2558"/>
              </a:lnSpc>
              <a:buNone/>
            </a:pPr>
            <a:endParaRPr lang="en-US" sz="1650" dirty="0"/>
          </a:p>
          <a:p>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非公開の架空ユーザーの</a:t>
            </a:r>
            <a:pPr algn="l" indent="0" marL="0">
              <a:lnSpc>
                <a:spcPts val="2558"/>
              </a:lnSpc>
              <a:buNone/>
            </a:pPr>
            <a:endParaRPr lang="en-US" sz="1650" dirty="0"/>
          </a:p>
          <a:p>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表示名を取得する。</a:t>
            </a:r>
            <a:endParaRPr lang="en-US" sz="1650" dirty="0"/>
          </a:p>
        </p:txBody>
      </p:sp>
      <p:pic>
        <p:nvPicPr>
          <p:cNvPr id="12" name="Image 3" descr="gen-dedup-278265645ef681d86e8ebce06c29a758.png">    </p:cNvPr>
          <p:cNvPicPr>
            <a:picLocks noChangeAspect="1"/>
          </p:cNvPicPr>
          <p:nvPr/>
        </p:nvPicPr>
        <p:blipFill>
          <a:blip r:embed="rId4"/>
          <a:srcRect l="-2089" r="-2089" t="0" b="0"/>
          <a:stretch/>
        </p:blipFill>
        <p:spPr>
          <a:xfrm>
            <a:off x="1218895" y="7180783"/>
            <a:ext cx="4724705" cy="9144"/>
          </a:xfrm>
          <a:prstGeom prst="rect">
            <a:avLst/>
          </a:prstGeom>
        </p:spPr>
      </p:pic>
      <p:sp>
        <p:nvSpPr>
          <p:cNvPr id="13" name="Text 6"/>
          <p:cNvSpPr txBox="1"/>
          <p:nvPr/>
        </p:nvSpPr>
        <p:spPr>
          <a:xfrm>
            <a:off x="1218895" y="7380122"/>
            <a:ext cx="4763110" cy="171907"/>
          </a:xfrm>
          <a:prstGeom prst="rect">
            <a:avLst/>
          </a:prstGeom>
          <a:noFill/>
          <a:ln/>
        </p:spPr>
        <p:txBody>
          <a:bodyPr wrap="none" lIns="0" tIns="0" rIns="0" bIns="0" rtlCol="0" anchor="ctr"/>
          <a:lstStyle/>
          <a:p>
            <a:pPr algn="l" indent="0" marL="0">
              <a:buNone/>
            </a:pPr>
            <a:r>
              <a:rPr lang="en-US" sz="1050" spc="189" kern="0" dirty="0">
                <a:solidFill>
                  <a:srgbClr val="5A4F3F"/>
                </a:solidFill>
                <a:latin typeface="JetBrains Mono" pitchFamily="34" charset="0"/>
                <a:ea typeface="JetBrains Mono" pitchFamily="34" charset="-122"/>
                <a:cs typeface="JetBrains Mono" pitchFamily="34" charset="-120"/>
              </a:rPr>
              <a:t>FOCUS</a:t>
            </a:r>
            <a:endParaRPr lang="en-US" sz="1050" dirty="0"/>
          </a:p>
        </p:txBody>
      </p:sp>
      <p:sp>
        <p:nvSpPr>
          <p:cNvPr id="14" name="Text 7"/>
          <p:cNvSpPr txBox="1"/>
          <p:nvPr/>
        </p:nvSpPr>
        <p:spPr>
          <a:xfrm>
            <a:off x="1218895" y="7608722"/>
            <a:ext cx="4763110" cy="286207"/>
          </a:xfrm>
          <a:prstGeom prst="rect">
            <a:avLst/>
          </a:prstGeom>
          <a:noFill/>
          <a:ln/>
        </p:spPr>
        <p:txBody>
          <a:bodyPr wrap="none" lIns="0" tIns="0" rIns="0" bIns="0" rtlCol="0" anchor="ctr"/>
          <a:lstStyle/>
          <a:p>
            <a:pPr algn="l" indent="0" marL="0">
              <a:buNone/>
            </a:pPr>
            <a:r>
              <a:rPr lang="en-US" sz="1500" dirty="0">
                <a:solidFill>
                  <a:srgbClr val="211C13"/>
                </a:solidFill>
                <a:latin typeface="Noto Sans JP" pitchFamily="34" charset="0"/>
                <a:ea typeface="Noto Sans JP" pitchFamily="34" charset="-122"/>
                <a:cs typeface="Noto Sans JP" pitchFamily="34" charset="-120"/>
              </a:rPr>
              <a:t>文字列連結 → パラメータ化クエリへの書き換え</a:t>
            </a:r>
            <a:endParaRPr lang="en-US" sz="1500" dirty="0"/>
          </a:p>
        </p:txBody>
      </p:sp>
      <p:sp>
        <p:nvSpPr>
          <p:cNvPr id="15" name="Text 8"/>
          <p:cNvSpPr txBox="1"/>
          <p:nvPr/>
        </p:nvSpPr>
        <p:spPr>
          <a:xfrm>
            <a:off x="6782105" y="3619195"/>
            <a:ext cx="4763110" cy="171907"/>
          </a:xfrm>
          <a:prstGeom prst="rect">
            <a:avLst/>
          </a:prstGeom>
          <a:noFill/>
          <a:ln/>
        </p:spPr>
        <p:txBody>
          <a:bodyPr wrap="none" lIns="0" tIns="0" rIns="0" bIns="0" rtlCol="0" anchor="ctr"/>
          <a:lstStyle/>
          <a:p>
            <a:pPr algn="l" indent="0" marL="0">
              <a:buNone/>
            </a:pPr>
            <a:r>
              <a:rPr lang="en-US" sz="1050" spc="231" kern="0" dirty="0">
                <a:solidFill>
                  <a:srgbClr val="B4791F"/>
                </a:solidFill>
                <a:latin typeface="JetBrains Mono" pitchFamily="34" charset="0"/>
                <a:ea typeface="JetBrains Mono" pitchFamily="34" charset="-122"/>
                <a:cs typeface="JetBrains Mono" pitchFamily="34" charset="-120"/>
              </a:rPr>
              <a:t>02 · PRIMARY</a:t>
            </a:r>
            <a:endParaRPr lang="en-US" sz="1050" dirty="0"/>
          </a:p>
        </p:txBody>
      </p:sp>
      <p:sp>
        <p:nvSpPr>
          <p:cNvPr id="16" name="Text 9"/>
          <p:cNvSpPr txBox="1"/>
          <p:nvPr/>
        </p:nvSpPr>
        <p:spPr>
          <a:xfrm>
            <a:off x="6782105" y="3866998"/>
            <a:ext cx="4763110" cy="1286561"/>
          </a:xfrm>
          <a:prstGeom prst="rect">
            <a:avLst/>
          </a:prstGeom>
          <a:noFill/>
          <a:ln/>
        </p:spPr>
        <p:txBody>
          <a:bodyPr wrap="square" lIns="0" tIns="0" rIns="0" bIns="0" rtlCol="0" anchor="t"/>
          <a:lstStyle/>
          <a:p>
            <a:pPr algn="l" indent="0" marL="0">
              <a:lnSpc>
                <a:spcPct val="105000"/>
              </a:lnSpc>
              <a:buNone/>
            </a:pPr>
            <a:r>
              <a:rPr lang="en-US" sz="4800" b="1" spc="-96" kern="0" dirty="0">
                <a:solidFill>
                  <a:srgbClr val="211C13"/>
                </a:solidFill>
                <a:latin typeface="Zen Kaku Gothic Antique" pitchFamily="34" charset="0"/>
                <a:ea typeface="Zen Kaku Gothic Antique" pitchFamily="34" charset="-122"/>
                <a:cs typeface="Zen Kaku Gothic Antique" pitchFamily="34" charset="-120"/>
              </a:rPr>
              <a:t>保存型</a:t>
            </a:r>
            <a:pPr algn="l" indent="0" marL="0">
              <a:lnSpc>
                <a:spcPct val="105000"/>
              </a:lnSpc>
              <a:buNone/>
            </a:pPr>
            <a:endParaRPr lang="en-US" sz="4800" dirty="0"/>
          </a:p>
          <a:p>
            <a:pPr algn="l" indent="0" marL="0">
              <a:lnSpc>
                <a:spcPct val="105000"/>
              </a:lnSpc>
              <a:buNone/>
            </a:pPr>
            <a:r>
              <a:rPr lang="en-US" sz="4800" b="1" spc="-96" kern="0" dirty="0">
                <a:solidFill>
                  <a:srgbClr val="211C13"/>
                </a:solidFill>
                <a:latin typeface="Zen Kaku Gothic Antique" pitchFamily="34" charset="0"/>
                <a:ea typeface="Zen Kaku Gothic Antique" pitchFamily="34" charset="-122"/>
                <a:cs typeface="Zen Kaku Gothic Antique" pitchFamily="34" charset="-120"/>
              </a:rPr>
              <a:t>XSS</a:t>
            </a:r>
            <a:endParaRPr lang="en-US" sz="4800" dirty="0"/>
          </a:p>
        </p:txBody>
      </p:sp>
      <p:sp>
        <p:nvSpPr>
          <p:cNvPr id="17" name="Text 10"/>
          <p:cNvSpPr txBox="1"/>
          <p:nvPr/>
        </p:nvSpPr>
        <p:spPr>
          <a:xfrm>
            <a:off x="6782105" y="5300777"/>
            <a:ext cx="4763110" cy="1017727"/>
          </a:xfrm>
          <a:prstGeom prst="rect">
            <a:avLst/>
          </a:prstGeom>
          <a:noFill/>
          <a:ln/>
        </p:spPr>
        <p:txBody>
          <a:bodyPr wrap="square" lIns="0" tIns="0" rIns="0" bIns="0" rtlCol="0" anchor="t"/>
          <a:lstStyle/>
          <a:p>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名前入力 → プレビュー → 保存 →</a:t>
            </a:r>
            <a:pPr algn="l" indent="0" marL="0">
              <a:lnSpc>
                <a:spcPts val="2558"/>
              </a:lnSpc>
              <a:buNone/>
            </a:pPr>
            <a:endParaRPr lang="en-US" sz="1650" dirty="0"/>
          </a:p>
          <a:p>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ランキング表示の経路で、</a:t>
            </a:r>
            <a:pPr algn="l" indent="0" marL="0">
              <a:lnSpc>
                <a:spcPts val="2558"/>
              </a:lnSpc>
              <a:buNone/>
            </a:pPr>
            <a:endParaRPr lang="en-US" sz="1650" dirty="0"/>
          </a:p>
          <a:p>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紙吹雪バナーを観察する。</a:t>
            </a:r>
            <a:endParaRPr lang="en-US" sz="1650" dirty="0"/>
          </a:p>
        </p:txBody>
      </p:sp>
      <p:pic>
        <p:nvPicPr>
          <p:cNvPr id="18" name="Image 4" descr="gen-dedup-278265645ef681d86e8ebce06c29a758.png">    </p:cNvPr>
          <p:cNvPicPr>
            <a:picLocks noChangeAspect="1"/>
          </p:cNvPicPr>
          <p:nvPr/>
        </p:nvPicPr>
        <p:blipFill>
          <a:blip r:embed="rId5"/>
          <a:srcRect l="-2089" r="-2089" t="0" b="0"/>
          <a:stretch/>
        </p:blipFill>
        <p:spPr>
          <a:xfrm>
            <a:off x="6782105" y="6540703"/>
            <a:ext cx="4724705" cy="9144"/>
          </a:xfrm>
          <a:prstGeom prst="rect">
            <a:avLst/>
          </a:prstGeom>
        </p:spPr>
      </p:pic>
      <p:sp>
        <p:nvSpPr>
          <p:cNvPr id="19" name="Text 11"/>
          <p:cNvSpPr txBox="1"/>
          <p:nvPr/>
        </p:nvSpPr>
        <p:spPr>
          <a:xfrm>
            <a:off x="6782105" y="6740042"/>
            <a:ext cx="4763110" cy="171907"/>
          </a:xfrm>
          <a:prstGeom prst="rect">
            <a:avLst/>
          </a:prstGeom>
          <a:noFill/>
          <a:ln/>
        </p:spPr>
        <p:txBody>
          <a:bodyPr wrap="none" lIns="0" tIns="0" rIns="0" bIns="0" rtlCol="0" anchor="ctr"/>
          <a:lstStyle/>
          <a:p>
            <a:pPr algn="l" indent="0" marL="0">
              <a:buNone/>
            </a:pPr>
            <a:r>
              <a:rPr lang="en-US" sz="1050" spc="189" kern="0" dirty="0">
                <a:solidFill>
                  <a:srgbClr val="5A4F3F"/>
                </a:solidFill>
                <a:latin typeface="JetBrains Mono" pitchFamily="34" charset="0"/>
                <a:ea typeface="JetBrains Mono" pitchFamily="34" charset="-122"/>
                <a:cs typeface="JetBrains Mono" pitchFamily="34" charset="-120"/>
              </a:rPr>
              <a:t>FOCUS</a:t>
            </a:r>
            <a:endParaRPr lang="en-US" sz="1050" dirty="0"/>
          </a:p>
        </p:txBody>
      </p:sp>
      <p:sp>
        <p:nvSpPr>
          <p:cNvPr id="20" name="Text 12"/>
          <p:cNvSpPr txBox="1"/>
          <p:nvPr/>
        </p:nvSpPr>
        <p:spPr>
          <a:xfrm>
            <a:off x="6782105" y="6968642"/>
            <a:ext cx="4763110" cy="286207"/>
          </a:xfrm>
          <a:prstGeom prst="rect">
            <a:avLst/>
          </a:prstGeom>
          <a:noFill/>
          <a:ln/>
        </p:spPr>
        <p:txBody>
          <a:bodyPr wrap="none" lIns="0" tIns="0" rIns="0" bIns="0" rtlCol="0" anchor="ctr"/>
          <a:lstStyle/>
          <a:p>
            <a:pPr algn="l" indent="0" marL="0">
              <a:buNone/>
            </a:pPr>
            <a:r>
              <a:rPr lang="en-US" sz="1500" dirty="0">
                <a:solidFill>
                  <a:srgbClr val="211C13"/>
                </a:solidFill>
                <a:latin typeface="Noto Sans JP" pitchFamily="34" charset="0"/>
                <a:ea typeface="Noto Sans JP" pitchFamily="34" charset="-122"/>
                <a:cs typeface="Noto Sans JP" pitchFamily="34" charset="-120"/>
              </a:rPr>
              <a:t>innerHTML と textContent の使い分け</a:t>
            </a:r>
            <a:endParaRPr lang="en-US" sz="1500" dirty="0"/>
          </a:p>
        </p:txBody>
      </p:sp>
      <p:sp>
        <p:nvSpPr>
          <p:cNvPr id="21" name="Text 13"/>
          <p:cNvSpPr txBox="1"/>
          <p:nvPr/>
        </p:nvSpPr>
        <p:spPr>
          <a:xfrm>
            <a:off x="12344400" y="3619195"/>
            <a:ext cx="4763110" cy="171907"/>
          </a:xfrm>
          <a:prstGeom prst="rect">
            <a:avLst/>
          </a:prstGeom>
          <a:noFill/>
          <a:ln/>
        </p:spPr>
        <p:txBody>
          <a:bodyPr wrap="none" lIns="0" tIns="0" rIns="0" bIns="0" rtlCol="0" anchor="ctr"/>
          <a:lstStyle/>
          <a:p>
            <a:pPr algn="l" indent="0" marL="0">
              <a:buNone/>
            </a:pPr>
            <a:r>
              <a:rPr lang="en-US" sz="1050" spc="231" kern="0" dirty="0">
                <a:solidFill>
                  <a:srgbClr val="2D5D5A"/>
                </a:solidFill>
                <a:latin typeface="JetBrains Mono" pitchFamily="34" charset="0"/>
                <a:ea typeface="JetBrains Mono" pitchFamily="34" charset="-122"/>
                <a:cs typeface="JetBrains Mono" pitchFamily="34" charset="-120"/>
              </a:rPr>
              <a:t>03 · BONUS</a:t>
            </a:r>
            <a:endParaRPr lang="en-US" sz="1050" dirty="0"/>
          </a:p>
        </p:txBody>
      </p:sp>
      <p:sp>
        <p:nvSpPr>
          <p:cNvPr id="22" name="Text 14"/>
          <p:cNvSpPr txBox="1"/>
          <p:nvPr/>
        </p:nvSpPr>
        <p:spPr>
          <a:xfrm>
            <a:off x="12344400" y="3866998"/>
            <a:ext cx="4763110" cy="1286561"/>
          </a:xfrm>
          <a:prstGeom prst="rect">
            <a:avLst/>
          </a:prstGeom>
          <a:noFill/>
          <a:ln/>
        </p:spPr>
        <p:txBody>
          <a:bodyPr wrap="square" lIns="0" tIns="0" rIns="0" bIns="0" rtlCol="0" anchor="t"/>
          <a:lstStyle/>
          <a:p>
            <a:pPr algn="l" indent="0" marL="0">
              <a:lnSpc>
                <a:spcPct val="105000"/>
              </a:lnSpc>
              <a:buNone/>
            </a:pPr>
            <a:r>
              <a:rPr lang="en-US" sz="4800" b="1" spc="-96" kern="0" dirty="0">
                <a:solidFill>
                  <a:srgbClr val="211C13"/>
                </a:solidFill>
                <a:latin typeface="Zen Kaku Gothic Antique" pitchFamily="34" charset="0"/>
                <a:ea typeface="Zen Kaku Gothic Antique" pitchFamily="34" charset="-122"/>
                <a:cs typeface="Zen Kaku Gothic Antique" pitchFamily="34" charset="-120"/>
              </a:rPr>
              <a:t>認可不備</a:t>
            </a:r>
            <a:pPr algn="l" indent="0" marL="0">
              <a:lnSpc>
                <a:spcPct val="105000"/>
              </a:lnSpc>
              <a:buNone/>
            </a:pPr>
            <a:endParaRPr lang="en-US" sz="4800" dirty="0"/>
          </a:p>
          <a:p>
            <a:pPr algn="l" indent="0" marL="0">
              <a:lnSpc>
                <a:spcPct val="105000"/>
              </a:lnSpc>
              <a:buNone/>
            </a:pPr>
            <a:r>
              <a:rPr lang="en-US" sz="4800" b="1" spc="-96" kern="0" dirty="0">
                <a:solidFill>
                  <a:srgbClr val="211C13"/>
                </a:solidFill>
                <a:latin typeface="Zen Kaku Gothic Antique" pitchFamily="34" charset="0"/>
                <a:ea typeface="Zen Kaku Gothic Antique" pitchFamily="34" charset="-122"/>
                <a:cs typeface="Zen Kaku Gothic Antique" pitchFamily="34" charset="-120"/>
              </a:rPr>
              <a:t>IDOR</a:t>
            </a:r>
            <a:endParaRPr lang="en-US" sz="4800" dirty="0"/>
          </a:p>
        </p:txBody>
      </p:sp>
      <p:sp>
        <p:nvSpPr>
          <p:cNvPr id="23" name="Text 15"/>
          <p:cNvSpPr txBox="1"/>
          <p:nvPr/>
        </p:nvSpPr>
        <p:spPr>
          <a:xfrm>
            <a:off x="12344400" y="5300777"/>
            <a:ext cx="4763110" cy="1017727"/>
          </a:xfrm>
          <a:prstGeom prst="rect">
            <a:avLst/>
          </a:prstGeom>
          <a:noFill/>
          <a:ln/>
        </p:spPr>
        <p:txBody>
          <a:bodyPr wrap="square" lIns="0" tIns="0" rIns="0" bIns="0" rtlCol="0" anchor="t"/>
          <a:lstStyle/>
          <a:p>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マイページ取得を観察し、ID を</a:t>
            </a:r>
            <a:pPr algn="l" indent="0" marL="0">
              <a:lnSpc>
                <a:spcPts val="2558"/>
              </a:lnSpc>
              <a:buNone/>
            </a:pPr>
            <a:endParaRPr lang="en-US" sz="1650" dirty="0"/>
          </a:p>
          <a:p>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変えて他者の非公開メモを</a:t>
            </a:r>
            <a:pPr algn="l" indent="0" marL="0">
              <a:lnSpc>
                <a:spcPts val="2558"/>
              </a:lnSpc>
              <a:buNone/>
            </a:pPr>
            <a:endParaRPr lang="en-US" sz="1650" dirty="0"/>
          </a:p>
          <a:p>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観察する。</a:t>
            </a:r>
            <a:endParaRPr lang="en-US" sz="1650" dirty="0"/>
          </a:p>
        </p:txBody>
      </p:sp>
      <p:pic>
        <p:nvPicPr>
          <p:cNvPr id="24" name="Image 5" descr="gen-dedup-278265645ef681d86e8ebce06c29a758.png">    </p:cNvPr>
          <p:cNvPicPr>
            <a:picLocks noChangeAspect="1"/>
          </p:cNvPicPr>
          <p:nvPr/>
        </p:nvPicPr>
        <p:blipFill>
          <a:blip r:embed="rId6"/>
          <a:srcRect l="-2089" r="-2089" t="0" b="0"/>
          <a:stretch/>
        </p:blipFill>
        <p:spPr>
          <a:xfrm>
            <a:off x="12344400" y="6540703"/>
            <a:ext cx="4724705" cy="9144"/>
          </a:xfrm>
          <a:prstGeom prst="rect">
            <a:avLst/>
          </a:prstGeom>
        </p:spPr>
      </p:pic>
      <p:sp>
        <p:nvSpPr>
          <p:cNvPr id="25" name="Text 16"/>
          <p:cNvSpPr txBox="1"/>
          <p:nvPr/>
        </p:nvSpPr>
        <p:spPr>
          <a:xfrm>
            <a:off x="12344400" y="6740042"/>
            <a:ext cx="4763110" cy="171907"/>
          </a:xfrm>
          <a:prstGeom prst="rect">
            <a:avLst/>
          </a:prstGeom>
          <a:noFill/>
          <a:ln/>
        </p:spPr>
        <p:txBody>
          <a:bodyPr wrap="none" lIns="0" tIns="0" rIns="0" bIns="0" rtlCol="0" anchor="ctr"/>
          <a:lstStyle/>
          <a:p>
            <a:pPr algn="l" indent="0" marL="0">
              <a:buNone/>
            </a:pPr>
            <a:r>
              <a:rPr lang="en-US" sz="1050" spc="189" kern="0" dirty="0">
                <a:solidFill>
                  <a:srgbClr val="5A4F3F"/>
                </a:solidFill>
                <a:latin typeface="JetBrains Mono" pitchFamily="34" charset="0"/>
                <a:ea typeface="JetBrains Mono" pitchFamily="34" charset="-122"/>
                <a:cs typeface="JetBrains Mono" pitchFamily="34" charset="-120"/>
              </a:rPr>
              <a:t>FOCUS</a:t>
            </a:r>
            <a:endParaRPr lang="en-US" sz="1050" dirty="0"/>
          </a:p>
        </p:txBody>
      </p:sp>
      <p:sp>
        <p:nvSpPr>
          <p:cNvPr id="26" name="Text 17"/>
          <p:cNvSpPr txBox="1"/>
          <p:nvPr/>
        </p:nvSpPr>
        <p:spPr>
          <a:xfrm>
            <a:off x="12344400" y="6968642"/>
            <a:ext cx="4763110" cy="286207"/>
          </a:xfrm>
          <a:prstGeom prst="rect">
            <a:avLst/>
          </a:prstGeom>
          <a:noFill/>
          <a:ln/>
        </p:spPr>
        <p:txBody>
          <a:bodyPr wrap="none" lIns="0" tIns="0" rIns="0" bIns="0" rtlCol="0" anchor="ctr"/>
          <a:lstStyle/>
          <a:p>
            <a:pPr algn="l" indent="0" marL="0">
              <a:buNone/>
            </a:pPr>
            <a:r>
              <a:rPr lang="en-US" sz="1500" dirty="0">
                <a:solidFill>
                  <a:srgbClr val="211C13"/>
                </a:solidFill>
                <a:latin typeface="Noto Sans JP" pitchFamily="34" charset="0"/>
                <a:ea typeface="Noto Sans JP" pitchFamily="34" charset="-122"/>
                <a:cs typeface="Noto Sans JP" pitchFamily="34" charset="-120"/>
              </a:rPr>
              <a:t>認証と認可の違い、所有者チェック</a:t>
            </a:r>
            <a:endParaRPr lang="en-US" sz="1500" dirty="0"/>
          </a:p>
        </p:txBody>
      </p:sp>
      <p:pic>
        <p:nvPicPr>
          <p:cNvPr id="27" name="Image 6" descr="gen-dedup-ff3b843c62efd2578b331bdfc9bb7c8f.png">    </p:cNvPr>
          <p:cNvPicPr>
            <a:picLocks noChangeAspect="1"/>
          </p:cNvPicPr>
          <p:nvPr/>
        </p:nvPicPr>
        <p:blipFill>
          <a:blip r:embed="rId7"/>
          <a:srcRect l="-2083" r="-2083" t="0" b="0"/>
          <a:stretch/>
        </p:blipFill>
        <p:spPr>
          <a:xfrm>
            <a:off x="914400" y="9334195"/>
            <a:ext cx="16459200" cy="9144"/>
          </a:xfrm>
          <a:prstGeom prst="rect">
            <a:avLst/>
          </a:prstGeom>
        </p:spPr>
      </p:pic>
      <p:sp>
        <p:nvSpPr>
          <p:cNvPr id="28" name="Text 18"/>
          <p:cNvSpPr txBox="1"/>
          <p:nvPr/>
        </p:nvSpPr>
        <p:spPr>
          <a:xfrm>
            <a:off x="914400" y="8953805"/>
            <a:ext cx="16459200" cy="200254"/>
          </a:xfrm>
          <a:prstGeom prst="rect">
            <a:avLst/>
          </a:prstGeom>
          <a:noFill/>
          <a:ln/>
        </p:spPr>
        <p:txBody>
          <a:bodyPr wrap="none" lIns="0" tIns="0" rIns="0" bIns="0" rtlCol="0" anchor="ctr"/>
          <a:lstStyle/>
          <a:p>
            <a:pPr algn="l" indent="0" marL="0">
              <a:buNone/>
            </a:pPr>
            <a:r>
              <a:rPr lang="en-US" sz="1200" spc="216" kern="0" dirty="0">
                <a:solidFill>
                  <a:srgbClr val="5A4F3F"/>
                </a:solidFill>
                <a:latin typeface="JetBrains Mono" pitchFamily="34" charset="0"/>
                <a:ea typeface="JetBrains Mono" pitchFamily="34" charset="-122"/>
                <a:cs typeface="JetBrains Mono" pitchFamily="34" charset="-120"/>
              </a:rPr>
              <a:t>Difficulty</a:t>
            </a:r>
            <a:endParaRPr lang="en-US" sz="1200" dirty="0"/>
          </a:p>
        </p:txBody>
      </p:sp>
      <p:sp>
        <p:nvSpPr>
          <p:cNvPr id="29" name="Shape 19"/>
          <p:cNvSpPr/>
          <p:nvPr/>
        </p:nvSpPr>
        <p:spPr>
          <a:xfrm>
            <a:off x="914400" y="9320479"/>
            <a:ext cx="171907" cy="171907"/>
          </a:xfrm>
          <a:prstGeom prst="rect">
            <a:avLst/>
          </a:prstGeom>
          <a:solidFill>
            <a:srgbClr val="B63A2A"/>
          </a:solidFill>
          <a:ln w="12700">
            <a:solidFill>
              <a:srgbClr val="FFFFFF">
                <a:alpha val="0"/>
              </a:srgbClr>
            </a:solidFill>
            <a:prstDash val="solid"/>
          </a:ln>
        </p:spPr>
      </p:sp>
      <p:sp>
        <p:nvSpPr>
          <p:cNvPr id="30" name="Text 20"/>
          <p:cNvSpPr txBox="1"/>
          <p:nvPr/>
        </p:nvSpPr>
        <p:spPr>
          <a:xfrm>
            <a:off x="1181405" y="9267444"/>
            <a:ext cx="1034186" cy="277063"/>
          </a:xfrm>
          <a:prstGeom prst="rect">
            <a:avLst/>
          </a:prstGeom>
          <a:noFill/>
          <a:ln/>
        </p:spPr>
        <p:txBody>
          <a:bodyPr wrap="none" lIns="0" tIns="0" rIns="0" bIns="0" rtlCol="0" anchor="ctr"/>
          <a:lstStyle/>
          <a:p>
            <a:pPr algn="l" indent="0" marL="0">
              <a:buNone/>
            </a:pPr>
            <a:r>
              <a:rPr lang="en-US" sz="1500" dirty="0">
                <a:solidFill>
                  <a:srgbClr val="211C13"/>
                </a:solidFill>
                <a:latin typeface="Noto Sans JP" pitchFamily="34" charset="0"/>
                <a:ea typeface="Noto Sans JP" pitchFamily="34" charset="-122"/>
                <a:cs typeface="Noto Sans JP" pitchFamily="34" charset="-120"/>
              </a:rPr>
              <a:t>問題1 中級</a:t>
            </a:r>
            <a:endParaRPr lang="en-US" sz="1500" dirty="0"/>
          </a:p>
        </p:txBody>
      </p:sp>
      <p:sp>
        <p:nvSpPr>
          <p:cNvPr id="31" name="Shape 21"/>
          <p:cNvSpPr/>
          <p:nvPr/>
        </p:nvSpPr>
        <p:spPr>
          <a:xfrm>
            <a:off x="2323490" y="9320479"/>
            <a:ext cx="171907" cy="171907"/>
          </a:xfrm>
          <a:prstGeom prst="rect">
            <a:avLst/>
          </a:prstGeom>
          <a:solidFill>
            <a:srgbClr val="B4791F"/>
          </a:solidFill>
          <a:ln w="12700">
            <a:solidFill>
              <a:srgbClr val="FFFFFF">
                <a:alpha val="0"/>
              </a:srgbClr>
            </a:solidFill>
            <a:prstDash val="solid"/>
          </a:ln>
        </p:spPr>
      </p:sp>
      <p:sp>
        <p:nvSpPr>
          <p:cNvPr id="32" name="Text 22"/>
          <p:cNvSpPr txBox="1"/>
          <p:nvPr/>
        </p:nvSpPr>
        <p:spPr>
          <a:xfrm>
            <a:off x="2589581" y="9267444"/>
            <a:ext cx="1034186" cy="277063"/>
          </a:xfrm>
          <a:prstGeom prst="rect">
            <a:avLst/>
          </a:prstGeom>
          <a:noFill/>
          <a:ln/>
        </p:spPr>
        <p:txBody>
          <a:bodyPr wrap="none" lIns="0" tIns="0" rIns="0" bIns="0" rtlCol="0" anchor="ctr"/>
          <a:lstStyle/>
          <a:p>
            <a:pPr algn="l" indent="0" marL="0">
              <a:buNone/>
            </a:pPr>
            <a:r>
              <a:rPr lang="en-US" sz="1500" dirty="0">
                <a:solidFill>
                  <a:srgbClr val="211C13"/>
                </a:solidFill>
                <a:latin typeface="Noto Sans JP" pitchFamily="34" charset="0"/>
                <a:ea typeface="Noto Sans JP" pitchFamily="34" charset="-122"/>
                <a:cs typeface="Noto Sans JP" pitchFamily="34" charset="-120"/>
              </a:rPr>
              <a:t>問題2 中級</a:t>
            </a:r>
            <a:endParaRPr lang="en-US" sz="1500" dirty="0"/>
          </a:p>
        </p:txBody>
      </p:sp>
      <p:sp>
        <p:nvSpPr>
          <p:cNvPr id="33" name="Shape 23"/>
          <p:cNvSpPr/>
          <p:nvPr/>
        </p:nvSpPr>
        <p:spPr>
          <a:xfrm>
            <a:off x="3731666" y="9320479"/>
            <a:ext cx="171907" cy="171907"/>
          </a:xfrm>
          <a:prstGeom prst="rect">
            <a:avLst/>
          </a:prstGeom>
          <a:solidFill>
            <a:srgbClr val="2D5D5A"/>
          </a:solidFill>
          <a:ln w="12700">
            <a:solidFill>
              <a:srgbClr val="FFFFFF">
                <a:alpha val="0"/>
              </a:srgbClr>
            </a:solidFill>
            <a:prstDash val="solid"/>
          </a:ln>
        </p:spPr>
      </p:sp>
      <p:sp>
        <p:nvSpPr>
          <p:cNvPr id="34" name="Text 24"/>
          <p:cNvSpPr txBox="1"/>
          <p:nvPr/>
        </p:nvSpPr>
        <p:spPr>
          <a:xfrm>
            <a:off x="3998671" y="9267444"/>
            <a:ext cx="2024482" cy="277063"/>
          </a:xfrm>
          <a:prstGeom prst="rect">
            <a:avLst/>
          </a:prstGeom>
          <a:noFill/>
          <a:ln/>
        </p:spPr>
        <p:txBody>
          <a:bodyPr wrap="none" lIns="0" tIns="0" rIns="0" bIns="0" rtlCol="0" anchor="ctr"/>
          <a:lstStyle/>
          <a:p>
            <a:pPr algn="l" indent="0" marL="0">
              <a:buNone/>
            </a:pPr>
            <a:r>
              <a:rPr lang="en-US" sz="1500" dirty="0">
                <a:solidFill>
                  <a:srgbClr val="211C13"/>
                </a:solidFill>
                <a:latin typeface="Noto Sans JP" pitchFamily="34" charset="0"/>
                <a:ea typeface="Noto Sans JP" pitchFamily="34" charset="-122"/>
                <a:cs typeface="Noto Sans JP" pitchFamily="34" charset="-120"/>
              </a:rPr>
              <a:t>問題3 上級・デモ中心</a:t>
            </a:r>
            <a:endParaRPr lang="en-US" sz="1500" dirty="0"/>
          </a:p>
        </p:txBody>
      </p:sp>
      <p:sp>
        <p:nvSpPr>
          <p:cNvPr id="35" name="Text 25"/>
          <p:cNvSpPr txBox="1"/>
          <p:nvPr/>
        </p:nvSpPr>
        <p:spPr>
          <a:xfrm>
            <a:off x="15239390" y="9282074"/>
            <a:ext cx="2143354" cy="247802"/>
          </a:xfrm>
          <a:prstGeom prst="rect">
            <a:avLst/>
          </a:prstGeom>
          <a:noFill/>
          <a:ln/>
        </p:spPr>
        <p:txBody>
          <a:bodyPr wrap="none" lIns="0" tIns="0" rIns="0" bIns="0" rtlCol="0" anchor="ctr"/>
          <a:lstStyle/>
          <a:p>
            <a:pPr algn="l" indent="0" marL="0">
              <a:buNone/>
            </a:pPr>
            <a:r>
              <a:rPr lang="en-US" sz="1350" dirty="0">
                <a:solidFill>
                  <a:srgbClr val="5A4F3F"/>
                </a:solidFill>
                <a:latin typeface="Noto Sans JP" pitchFamily="34" charset="0"/>
                <a:ea typeface="Noto Sans JP" pitchFamily="34" charset="-122"/>
                <a:cs typeface="Noto Sans JP" pitchFamily="34" charset="-120"/>
              </a:rPr>
              <a:t>暫定評価 — 事前試行で調整</a:t>
            </a:r>
            <a:endParaRPr lang="en-US" sz="1350" dirty="0"/>
          </a:p>
        </p:txBody>
      </p:sp>
      <p:sp>
        <p:nvSpPr>
          <p:cNvPr id="36" name="Text 26"/>
          <p:cNvSpPr txBox="1"/>
          <p:nvPr/>
        </p:nvSpPr>
        <p:spPr>
          <a:xfrm>
            <a:off x="914400" y="9562795"/>
            <a:ext cx="9525305" cy="228600"/>
          </a:xfrm>
          <a:prstGeom prst="rect">
            <a:avLst/>
          </a:prstGeom>
          <a:noFill/>
          <a:ln/>
        </p:spPr>
        <p:txBody>
          <a:bodyPr wrap="none" lIns="0" tIns="0" rIns="0" bIns="0" rtlCol="0" anchor="ctr"/>
          <a:lstStyle/>
          <a:p>
            <a:pPr algn="l" indent="0" marL="0">
              <a:buNone/>
            </a:pPr>
            <a:r>
              <a:rPr lang="en-US" sz="1200" spc="72" kern="0" dirty="0">
                <a:solidFill>
                  <a:srgbClr val="5A4F3F"/>
                </a:solidFill>
                <a:latin typeface="JetBrains Mono" pitchFamily="34" charset="0"/>
                <a:ea typeface="JetBrains Mono" pitchFamily="34" charset="-122"/>
                <a:cs typeface="JetBrains Mono" pitchFamily="34" charset="-120"/>
              </a:rPr>
              <a:t>提出や正解登録はありません — 講師が後ろで進捗を見て補助します</a:t>
            </a:r>
            <a:endParaRPr lang="en-US" sz="1200" dirty="0"/>
          </a:p>
        </p:txBody>
      </p:sp>
      <p:sp>
        <p:nvSpPr>
          <p:cNvPr id="37" name="Text 27"/>
          <p:cNvSpPr txBox="1"/>
          <p:nvPr/>
        </p:nvSpPr>
        <p:spPr>
          <a:xfrm>
            <a:off x="15468905" y="9562795"/>
            <a:ext cx="1905610" cy="200254"/>
          </a:xfrm>
          <a:prstGeom prst="rect">
            <a:avLst/>
          </a:prstGeom>
          <a:noFill/>
          <a:ln/>
        </p:spPr>
        <p:txBody>
          <a:bodyPr wrap="none" lIns="0" tIns="0" rIns="0" bIns="0" rtlCol="0" anchor="ctr"/>
          <a:lstStyle/>
          <a:p>
            <a:pPr algn="r" indent="0" marL="0">
              <a:buNone/>
            </a:pPr>
            <a:r>
              <a:rPr lang="en-US" sz="1200" spc="72" kern="0" dirty="0">
                <a:solidFill>
                  <a:srgbClr val="5A4F3F"/>
                </a:solidFill>
                <a:latin typeface="JetBrains Mono" pitchFamily="34" charset="0"/>
                <a:ea typeface="JetBrains Mono" pitchFamily="34" charset="-122"/>
                <a:cs typeface="JetBrains Mono" pitchFamily="34" charset="-120"/>
              </a:rPr>
              <a:t>05 / 32</a:t>
            </a:r>
            <a:endParaRPr lang="en-US" sz="1200" dirty="0"/>
          </a:p>
        </p:txBody>
      </p:sp>
      <p:sp>
        <p:nvSpPr>
          <p:cNvPr id="38" name="Text 28"/>
          <p:cNvSpPr txBox="1"/>
          <p:nvPr/>
        </p:nvSpPr>
        <p:spPr>
          <a:xfrm>
            <a:off x="914400" y="838505"/>
            <a:ext cx="11430000" cy="219456"/>
          </a:xfrm>
          <a:prstGeom prst="rect">
            <a:avLst/>
          </a:prstGeom>
          <a:noFill/>
          <a:ln/>
        </p:spPr>
        <p:txBody>
          <a:bodyPr wrap="none" lIns="0" tIns="0" rIns="0" bIns="0" rtlCol="0" anchor="ctr"/>
          <a:lstStyle/>
          <a:p>
            <a:pPr algn="l" indent="0" marL="0">
              <a:buNone/>
            </a:pPr>
            <a:r>
              <a:rPr lang="en-US" sz="1350" spc="324" kern="0" dirty="0">
                <a:solidFill>
                  <a:srgbClr val="5A4F3F"/>
                </a:solidFill>
                <a:latin typeface="JetBrains Mono" pitchFamily="34" charset="0"/>
                <a:ea typeface="JetBrains Mono" pitchFamily="34" charset="-122"/>
                <a:cs typeface="JetBrains Mono" pitchFamily="34" charset="-120"/>
              </a:rPr>
              <a:t>05 · 3 challenges</a:t>
            </a:r>
            <a:endParaRPr lang="en-US" sz="1350" dirty="0"/>
          </a:p>
        </p:txBody>
      </p:sp>
      <p:sp>
        <p:nvSpPr>
          <p:cNvPr id="39" name="Text 29"/>
          <p:cNvSpPr txBox="1"/>
          <p:nvPr/>
        </p:nvSpPr>
        <p:spPr>
          <a:xfrm>
            <a:off x="914400" y="1152144"/>
            <a:ext cx="11430000" cy="886054"/>
          </a:xfrm>
          <a:prstGeom prst="rect">
            <a:avLst/>
          </a:prstGeom>
          <a:noFill/>
          <a:ln/>
        </p:spPr>
        <p:txBody>
          <a:bodyPr wrap="none" lIns="0" tIns="0" rIns="0" bIns="0" rtlCol="0" anchor="ctr"/>
          <a:lstStyle/>
          <a:p>
            <a:pPr algn="l" indent="0" marL="0">
              <a:buNone/>
            </a:pPr>
            <a:r>
              <a:rPr lang="en-US" sz="6300" b="1" spc="-126" kern="0" dirty="0">
                <a:solidFill>
                  <a:srgbClr val="211C13"/>
                </a:solidFill>
                <a:latin typeface="Zen Kaku Gothic Antique" pitchFamily="34" charset="0"/>
                <a:ea typeface="Zen Kaku Gothic Antique" pitchFamily="34" charset="-122"/>
                <a:cs typeface="Zen Kaku Gothic Antique" pitchFamily="34" charset="-120"/>
              </a:rPr>
              <a:t>3つの課題</a:t>
            </a:r>
            <a:endParaRPr lang="en-US" sz="6300" dirty="0"/>
          </a:p>
        </p:txBody>
      </p:sp>
      <p:sp>
        <p:nvSpPr>
          <p:cNvPr id="40" name="Text 30"/>
          <p:cNvSpPr txBox="1"/>
          <p:nvPr/>
        </p:nvSpPr>
        <p:spPr>
          <a:xfrm>
            <a:off x="914400" y="2127809"/>
            <a:ext cx="11430000" cy="648310"/>
          </a:xfrm>
          <a:prstGeom prst="rect">
            <a:avLst/>
          </a:prstGeom>
          <a:noFill/>
          <a:ln/>
        </p:spPr>
        <p:txBody>
          <a:bodyPr wrap="square" lIns="0" tIns="0" rIns="0" bIns="0" rtlCol="0" anchor="ctr"/>
          <a:lstStyle/>
          <a:p>
            <a:pPr algn="l" indent="0" marL="0">
              <a:lnSpc>
                <a:spcPts val="2520"/>
              </a:lnSpc>
              <a:buNone/>
            </a:pPr>
            <a:r>
              <a:rPr lang="en-US" sz="1800" dirty="0">
                <a:solidFill>
                  <a:srgbClr val="5A4F3F"/>
                </a:solidFill>
                <a:latin typeface="Noto Sans JP" pitchFamily="34" charset="0"/>
                <a:ea typeface="Noto Sans JP" pitchFamily="34" charset="-122"/>
                <a:cs typeface="Noto Sans JP" pitchFamily="34" charset="-120"/>
              </a:rPr>
              <a:t>カードに目を通してから、05→15→24 の順に進みます。途中で離脱しても、コード例を見直せるように組んであります。</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FE7D4"/>
        </a:solidFill>
      </p:bgPr>
    </p:bg>
    <p:spTree>
      <p:nvGrpSpPr>
        <p:cNvPr id="1" name=""/>
        <p:cNvGrpSpPr/>
        <p:nvPr/>
      </p:nvGrpSpPr>
      <p:grpSpPr>
        <a:xfrm>
          <a:off x="0" y="0"/>
          <a:ext cx="0" cy="0"/>
          <a:chOff x="0" y="0"/>
          <a:chExt cx="0" cy="0"/>
        </a:xfrm>
      </p:grpSpPr>
      <p:sp>
        <p:nvSpPr>
          <p:cNvPr id="3" name="Shape 0"/>
          <p:cNvSpPr/>
          <p:nvPr/>
        </p:nvSpPr>
        <p:spPr>
          <a:xfrm>
            <a:off x="0" y="0"/>
            <a:ext cx="1904695" cy="10287000"/>
          </a:xfrm>
          <a:prstGeom prst="rect">
            <a:avLst/>
          </a:prstGeom>
          <a:solidFill>
            <a:srgbClr val="B63A2A"/>
          </a:solidFill>
          <a:ln w="12700">
            <a:solidFill>
              <a:srgbClr val="FFFFFF">
                <a:alpha val="0"/>
              </a:srgbClr>
            </a:solidFill>
            <a:prstDash val="solid"/>
          </a:ln>
        </p:spPr>
      </p:sp>
      <p:sp>
        <p:nvSpPr>
          <p:cNvPr id="4" name="Shape 1"/>
          <p:cNvSpPr/>
          <p:nvPr/>
        </p:nvSpPr>
        <p:spPr>
          <a:xfrm>
            <a:off x="2667305" y="4572000"/>
            <a:ext cx="7239305" cy="2286000"/>
          </a:xfrm>
          <a:prstGeom prst="roundRect">
            <a:avLst>
              <a:gd name="adj" fmla="val 1680"/>
            </a:avLst>
          </a:prstGeom>
          <a:solidFill>
            <a:srgbClr val="E5DBC4"/>
          </a:solidFill>
          <a:ln w="12700">
            <a:solidFill>
              <a:srgbClr val="FFFFFF">
                <a:alpha val="0"/>
              </a:srgbClr>
            </a:solidFill>
            <a:prstDash val="solid"/>
          </a:ln>
        </p:spPr>
      </p:sp>
      <p:sp>
        <p:nvSpPr>
          <p:cNvPr id="5" name="Shape 2"/>
          <p:cNvSpPr/>
          <p:nvPr/>
        </p:nvSpPr>
        <p:spPr>
          <a:xfrm>
            <a:off x="10287000" y="4572000"/>
            <a:ext cx="7239305" cy="2286000"/>
          </a:xfrm>
          <a:prstGeom prst="roundRect">
            <a:avLst>
              <a:gd name="adj" fmla="val 1680"/>
            </a:avLst>
          </a:prstGeom>
          <a:solidFill>
            <a:srgbClr val="1B1F25"/>
          </a:solidFill>
          <a:ln w="12700">
            <a:solidFill>
              <a:srgbClr val="FFFFFF">
                <a:alpha val="0"/>
              </a:srgbClr>
            </a:solidFill>
            <a:prstDash val="solid"/>
          </a:ln>
        </p:spPr>
      </p:sp>
      <p:sp>
        <p:nvSpPr>
          <p:cNvPr id="6" name="Shape 3"/>
          <p:cNvSpPr/>
          <p:nvPr/>
        </p:nvSpPr>
        <p:spPr>
          <a:xfrm>
            <a:off x="2667305" y="7048195"/>
            <a:ext cx="7239305" cy="1904695"/>
          </a:xfrm>
          <a:prstGeom prst="roundRect">
            <a:avLst>
              <a:gd name="adj" fmla="val 2016"/>
            </a:avLst>
          </a:prstGeom>
          <a:solidFill>
            <a:srgbClr val="E5DBC4"/>
          </a:solidFill>
          <a:ln w="12700">
            <a:solidFill>
              <a:srgbClr val="FFFFFF">
                <a:alpha val="0"/>
              </a:srgbClr>
            </a:solidFill>
            <a:prstDash val="solid"/>
          </a:ln>
        </p:spPr>
      </p:sp>
      <p:sp>
        <p:nvSpPr>
          <p:cNvPr id="7" name="Shape 4"/>
          <p:cNvSpPr/>
          <p:nvPr/>
        </p:nvSpPr>
        <p:spPr>
          <a:xfrm>
            <a:off x="10287000" y="7048195"/>
            <a:ext cx="7239305" cy="1904695"/>
          </a:xfrm>
          <a:prstGeom prst="roundRect">
            <a:avLst>
              <a:gd name="adj" fmla="val 2016"/>
            </a:avLst>
          </a:prstGeom>
          <a:solidFill>
            <a:srgbClr val="E5DBC4"/>
          </a:solidFill>
          <a:ln w="12700">
            <a:solidFill>
              <a:srgbClr val="FFFFFF">
                <a:alpha val="0"/>
              </a:srgbClr>
            </a:solidFill>
            <a:prstDash val="solid"/>
          </a:ln>
        </p:spPr>
      </p:sp>
      <p:sp>
        <p:nvSpPr>
          <p:cNvPr id="8" name="Text 5"/>
          <p:cNvSpPr txBox="1"/>
          <p:nvPr/>
        </p:nvSpPr>
        <p:spPr>
          <a:xfrm>
            <a:off x="228600" y="914400"/>
            <a:ext cx="1524305" cy="171907"/>
          </a:xfrm>
          <a:prstGeom prst="rect">
            <a:avLst/>
          </a:prstGeom>
          <a:noFill/>
          <a:ln/>
        </p:spPr>
        <p:txBody>
          <a:bodyPr wrap="none" lIns="0" tIns="0" rIns="0" bIns="0" rtlCol="0" anchor="ctr"/>
          <a:lstStyle/>
          <a:p>
            <a:pPr algn="l" indent="0" marL="0">
              <a:buNone/>
            </a:pPr>
            <a:r>
              <a:rPr lang="en-US" sz="1050" spc="231" kern="0" dirty="0">
                <a:solidFill>
                  <a:srgbClr val="F5EFDD"/>
                </a:solidFill>
                <a:latin typeface="JetBrains Mono" pitchFamily="34" charset="0"/>
                <a:ea typeface="JetBrains Mono" pitchFamily="34" charset="-122"/>
                <a:cs typeface="JetBrains Mono" pitchFamily="34" charset="-120"/>
              </a:rPr>
              <a:t>CHAPTER</a:t>
            </a:r>
            <a:endParaRPr lang="en-US" sz="1050" dirty="0"/>
          </a:p>
        </p:txBody>
      </p:sp>
      <p:sp>
        <p:nvSpPr>
          <p:cNvPr id="9" name="Text 6"/>
          <p:cNvSpPr txBox="1"/>
          <p:nvPr/>
        </p:nvSpPr>
        <p:spPr>
          <a:xfrm>
            <a:off x="228600" y="1143000"/>
            <a:ext cx="1524305" cy="876910"/>
          </a:xfrm>
          <a:prstGeom prst="rect">
            <a:avLst/>
          </a:prstGeom>
          <a:noFill/>
          <a:ln/>
        </p:spPr>
        <p:txBody>
          <a:bodyPr wrap="none" lIns="0" tIns="0" rIns="0" bIns="0" rtlCol="0" anchor="ctr"/>
          <a:lstStyle/>
          <a:p>
            <a:pPr algn="l" indent="0" marL="0">
              <a:buNone/>
            </a:pPr>
            <a:r>
              <a:rPr lang="en-US" sz="7200" b="1" spc="-144" kern="0" dirty="0">
                <a:solidFill>
                  <a:srgbClr val="F5EFDD"/>
                </a:solidFill>
                <a:latin typeface="Zen Kaku Gothic Antique" pitchFamily="34" charset="0"/>
                <a:ea typeface="Zen Kaku Gothic Antique" pitchFamily="34" charset="-122"/>
                <a:cs typeface="Zen Kaku Gothic Antique" pitchFamily="34" charset="-120"/>
              </a:rPr>
              <a:t>01</a:t>
            </a:r>
            <a:endParaRPr lang="en-US" sz="7200" dirty="0"/>
          </a:p>
        </p:txBody>
      </p:sp>
      <p:pic>
        <p:nvPicPr>
          <p:cNvPr id="10" name="Image 0" descr="gen-dedup-2173e259c8f89e09f8a89067735d6b02.png">    </p:cNvPr>
          <p:cNvPicPr>
            <a:picLocks noChangeAspect="1"/>
          </p:cNvPicPr>
          <p:nvPr/>
        </p:nvPicPr>
        <p:blipFill>
          <a:blip r:embed="rId1"/>
          <a:srcRect l="-404" r="-404" t="0" b="0"/>
          <a:stretch/>
        </p:blipFill>
        <p:spPr>
          <a:xfrm>
            <a:off x="228600" y="2182673"/>
            <a:ext cx="571500" cy="28346"/>
          </a:xfrm>
          <a:prstGeom prst="rect">
            <a:avLst/>
          </a:prstGeom>
        </p:spPr>
      </p:pic>
      <p:sp>
        <p:nvSpPr>
          <p:cNvPr id="11" name="Text 7"/>
          <p:cNvSpPr txBox="1"/>
          <p:nvPr/>
        </p:nvSpPr>
        <p:spPr>
          <a:xfrm>
            <a:off x="228600" y="8762695"/>
            <a:ext cx="1524305" cy="171907"/>
          </a:xfrm>
          <a:prstGeom prst="rect">
            <a:avLst/>
          </a:prstGeom>
          <a:noFill/>
          <a:ln/>
        </p:spPr>
        <p:txBody>
          <a:bodyPr wrap="none" lIns="0" tIns="0" rIns="0" bIns="0" rtlCol="0" anchor="ctr"/>
          <a:lstStyle/>
          <a:p>
            <a:pPr algn="l" indent="0" marL="0">
              <a:buNone/>
            </a:pPr>
            <a:r>
              <a:rPr lang="en-US" sz="1050" spc="231" kern="0" dirty="0">
                <a:solidFill>
                  <a:srgbClr val="F5EFDD">
                    <a:alpha val="80000"/>
                  </a:srgbClr>
                </a:solidFill>
                <a:latin typeface="JetBrains Mono" pitchFamily="34" charset="0"/>
                <a:ea typeface="JetBrains Mono" pitchFamily="34" charset="-122"/>
                <a:cs typeface="JetBrains Mono" pitchFamily="34" charset="-120"/>
              </a:rPr>
              <a:t>05–19</a:t>
            </a:r>
            <a:endParaRPr lang="en-US" sz="1050" dirty="0"/>
          </a:p>
        </p:txBody>
      </p:sp>
      <p:sp>
        <p:nvSpPr>
          <p:cNvPr id="12" name="Text 8"/>
          <p:cNvSpPr txBox="1"/>
          <p:nvPr/>
        </p:nvSpPr>
        <p:spPr>
          <a:xfrm>
            <a:off x="228600" y="8973007"/>
            <a:ext cx="1524305" cy="228600"/>
          </a:xfrm>
          <a:prstGeom prst="rect">
            <a:avLst/>
          </a:prstGeom>
          <a:noFill/>
          <a:ln/>
        </p:spPr>
        <p:txBody>
          <a:bodyPr wrap="none" lIns="0" tIns="0" rIns="0" bIns="0" rtlCol="0" anchor="ctr"/>
          <a:lstStyle/>
          <a:p>
            <a:pPr algn="l" indent="0" marL="0">
              <a:buNone/>
            </a:pPr>
            <a:r>
              <a:rPr lang="en-US" sz="1200" dirty="0">
                <a:solidFill>
                  <a:srgbClr val="F5EFDD">
                    <a:alpha val="90000"/>
                  </a:srgbClr>
                </a:solidFill>
                <a:latin typeface="Noto Sans JP" pitchFamily="34" charset="0"/>
                <a:ea typeface="Noto Sans JP" pitchFamily="34" charset="-122"/>
                <a:cs typeface="Noto Sans JP" pitchFamily="34" charset="-120"/>
              </a:rPr>
              <a:t>本編 約14分</a:t>
            </a:r>
            <a:endParaRPr lang="en-US" sz="1200" dirty="0"/>
          </a:p>
        </p:txBody>
      </p:sp>
      <p:sp>
        <p:nvSpPr>
          <p:cNvPr id="13" name="Text 9"/>
          <p:cNvSpPr txBox="1"/>
          <p:nvPr/>
        </p:nvSpPr>
        <p:spPr>
          <a:xfrm>
            <a:off x="2971800" y="4819802"/>
            <a:ext cx="6667805" cy="191110"/>
          </a:xfrm>
          <a:prstGeom prst="rect">
            <a:avLst/>
          </a:prstGeom>
          <a:noFill/>
          <a:ln/>
        </p:spPr>
        <p:txBody>
          <a:bodyPr wrap="none" lIns="0" tIns="0" rIns="0" bIns="0" rtlCol="0" anchor="ctr"/>
          <a:lstStyle/>
          <a:p>
            <a:pPr algn="l" indent="0" marL="0">
              <a:buNone/>
            </a:pPr>
            <a:r>
              <a:rPr lang="en-US" sz="1050" spc="189" kern="0" dirty="0">
                <a:solidFill>
                  <a:srgbClr val="5A4F3F"/>
                </a:solidFill>
                <a:latin typeface="JetBrains Mono" pitchFamily="34" charset="0"/>
                <a:ea typeface="JetBrains Mono" pitchFamily="34" charset="-122"/>
                <a:cs typeface="JetBrains Mono" pitchFamily="34" charset="-120"/>
              </a:rPr>
              <a:t>観測したい成功条件</a:t>
            </a:r>
            <a:endParaRPr lang="en-US" sz="1050" dirty="0"/>
          </a:p>
        </p:txBody>
      </p:sp>
      <p:sp>
        <p:nvSpPr>
          <p:cNvPr id="14" name="Text 10"/>
          <p:cNvSpPr txBox="1"/>
          <p:nvPr/>
        </p:nvSpPr>
        <p:spPr>
          <a:xfrm>
            <a:off x="2971800" y="5103266"/>
            <a:ext cx="6667805" cy="1107338"/>
          </a:xfrm>
          <a:prstGeom prst="rect">
            <a:avLst/>
          </a:prstGeom>
          <a:noFill/>
          <a:ln/>
        </p:spPr>
        <p:txBody>
          <a:bodyPr wrap="square" lIns="0" tIns="0" rIns="0" bIns="0" rtlCol="0" anchor="t"/>
          <a:lstStyle/>
          <a:p>
            <a:pPr algn="l" indent="0" marL="0">
              <a:lnSpc>
                <a:spcPts val="2790"/>
              </a:lnSpc>
              <a:buNone/>
            </a:pPr>
            <a:r>
              <a:rPr lang="en-US" sz="1800" dirty="0">
                <a:solidFill>
                  <a:srgbClr val="211C13"/>
                </a:solidFill>
                <a:latin typeface="Noto Sans JP" pitchFamily="34" charset="0"/>
                <a:ea typeface="Noto Sans JP" pitchFamily="34" charset="-122"/>
                <a:cs typeface="Noto Sans JP" pitchFamily="34" charset="-120"/>
              </a:rPr>
              <a:t>リスト画面または DevTools のレスポンスで、</a:t>
            </a:r>
            <a:pPr algn="l" indent="0" marL="0">
              <a:lnSpc>
                <a:spcPts val="2790"/>
              </a:lnSpc>
              <a:buNone/>
            </a:pPr>
            <a:endParaRPr lang="en-US" sz="1800" dirty="0"/>
          </a:p>
          <a:p>
            <a:pPr algn="l" indent="0" marL="0">
              <a:lnSpc>
                <a:spcPts val="2790"/>
              </a:lnSpc>
              <a:buNone/>
            </a:pPr>
            <a:r>
              <a:rPr lang="en-US" sz="1800" dirty="0">
                <a:solidFill>
                  <a:srgbClr val="211C13"/>
                </a:solidFill>
                <a:latin typeface="Noto Sans JP" pitchFamily="34" charset="0"/>
                <a:ea typeface="Noto Sans JP" pitchFamily="34" charset="-122"/>
                <a:cs typeface="Noto Sans JP" pitchFamily="34" charset="-120"/>
              </a:rPr>
              <a:t>「公開 = false」の架空ユーザーの表示名が</a:t>
            </a:r>
            <a:pPr algn="l" indent="0" marL="0">
              <a:lnSpc>
                <a:spcPts val="2790"/>
              </a:lnSpc>
              <a:buNone/>
            </a:pPr>
            <a:endParaRPr lang="en-US" sz="1800" dirty="0"/>
          </a:p>
          <a:p>
            <a:pPr algn="l" indent="0" marL="0">
              <a:lnSpc>
                <a:spcPts val="2790"/>
              </a:lnSpc>
              <a:buNone/>
            </a:pPr>
            <a:r>
              <a:rPr lang="en-US" sz="1800" dirty="0">
                <a:solidFill>
                  <a:srgbClr val="211C13"/>
                </a:solidFill>
                <a:latin typeface="Noto Sans JP" pitchFamily="34" charset="0"/>
                <a:ea typeface="Noto Sans JP" pitchFamily="34" charset="-122"/>
                <a:cs typeface="Noto Sans JP" pitchFamily="34" charset="-120"/>
              </a:rPr>
              <a:t>1件以上、出てくること</a:t>
            </a:r>
            <a:endParaRPr lang="en-US" sz="1800" dirty="0"/>
          </a:p>
        </p:txBody>
      </p:sp>
      <p:sp>
        <p:nvSpPr>
          <p:cNvPr id="15" name="Text 11"/>
          <p:cNvSpPr txBox="1"/>
          <p:nvPr/>
        </p:nvSpPr>
        <p:spPr>
          <a:xfrm>
            <a:off x="10591495" y="4819802"/>
            <a:ext cx="6667805" cy="191110"/>
          </a:xfrm>
          <a:prstGeom prst="rect">
            <a:avLst/>
          </a:prstGeom>
          <a:noFill/>
          <a:ln/>
        </p:spPr>
        <p:txBody>
          <a:bodyPr wrap="none" lIns="0" tIns="0" rIns="0" bIns="0" rtlCol="0" anchor="ctr"/>
          <a:lstStyle/>
          <a:p>
            <a:pPr algn="l" indent="0" marL="0">
              <a:buNone/>
            </a:pPr>
            <a:r>
              <a:rPr lang="en-US" sz="1050" spc="189" kern="0" dirty="0">
                <a:solidFill>
                  <a:srgbClr val="D4922A"/>
                </a:solidFill>
                <a:latin typeface="JetBrains Mono" pitchFamily="34" charset="0"/>
                <a:ea typeface="JetBrains Mono" pitchFamily="34" charset="-122"/>
                <a:cs typeface="JetBrains Mono" pitchFamily="34" charset="-120"/>
              </a:rPr>
              <a:t>着手前の確認</a:t>
            </a:r>
            <a:endParaRPr lang="en-US" sz="1050" dirty="0"/>
          </a:p>
        </p:txBody>
      </p:sp>
      <p:sp>
        <p:nvSpPr>
          <p:cNvPr id="16" name="Text 12"/>
          <p:cNvSpPr txBox="1"/>
          <p:nvPr/>
        </p:nvSpPr>
        <p:spPr>
          <a:xfrm>
            <a:off x="10591495" y="5103266"/>
            <a:ext cx="6667805" cy="1107338"/>
          </a:xfrm>
          <a:prstGeom prst="rect">
            <a:avLst/>
          </a:prstGeom>
          <a:noFill/>
          <a:ln/>
        </p:spPr>
        <p:txBody>
          <a:bodyPr wrap="square" lIns="0" tIns="0" rIns="0" bIns="0" rtlCol="0" anchor="t"/>
          <a:lstStyle/>
          <a:p>
            <a:pPr algn="l" indent="0" marL="0">
              <a:lnSpc>
                <a:spcPts val="2790"/>
              </a:lnSpc>
              <a:buNone/>
            </a:pPr>
            <a:r>
              <a:rPr lang="en-US" sz="1800" dirty="0">
                <a:solidFill>
                  <a:srgbClr val="F5EFDD"/>
                </a:solidFill>
                <a:latin typeface="Noto Sans JP" pitchFamily="34" charset="0"/>
                <a:ea typeface="Noto Sans JP" pitchFamily="34" charset="-122"/>
                <a:cs typeface="Noto Sans JP" pitchFamily="34" charset="-120"/>
              </a:rPr>
              <a:t>現行 UI の検索欄に何という名前が付き、</a:t>
            </a:r>
            <a:pPr algn="l" indent="0" marL="0">
              <a:lnSpc>
                <a:spcPts val="2790"/>
              </a:lnSpc>
              <a:buNone/>
            </a:pPr>
            <a:endParaRPr lang="en-US" sz="1800" dirty="0"/>
          </a:p>
          <a:p>
            <a:pPr algn="l" indent="0" marL="0">
              <a:lnSpc>
                <a:spcPts val="2790"/>
              </a:lnSpc>
              <a:buNone/>
            </a:pPr>
            <a:r>
              <a:rPr lang="en-US" sz="1800" dirty="0">
                <a:solidFill>
                  <a:srgbClr val="F5EFDD"/>
                </a:solidFill>
                <a:latin typeface="Noto Sans JP" pitchFamily="34" charset="0"/>
                <a:ea typeface="Noto Sans JP" pitchFamily="34" charset="-122"/>
                <a:cs typeface="Noto Sans JP" pitchFamily="34" charset="-120"/>
              </a:rPr>
              <a:t>検索結果がどこへ送られているかを</a:t>
            </a:r>
            <a:pPr algn="l" indent="0" marL="0">
              <a:lnSpc>
                <a:spcPts val="2790"/>
              </a:lnSpc>
              <a:buNone/>
            </a:pPr>
            <a:endParaRPr lang="en-US" sz="1800" dirty="0"/>
          </a:p>
          <a:p>
            <a:pPr algn="l" indent="0" marL="0">
              <a:lnSpc>
                <a:spcPts val="2790"/>
              </a:lnSpc>
              <a:buNone/>
            </a:pPr>
            <a:r>
              <a:rPr lang="en-US" sz="1800" dirty="0">
                <a:solidFill>
                  <a:srgbClr val="F5EFDD"/>
                </a:solidFill>
                <a:latin typeface="Noto Sans JP" pitchFamily="34" charset="0"/>
                <a:ea typeface="Noto Sans JP" pitchFamily="34" charset="-122"/>
                <a:cs typeface="Noto Sans JP" pitchFamily="34" charset="-120"/>
              </a:rPr>
              <a:t>DevTools の Network で確かめてから。</a:t>
            </a:r>
            <a:endParaRPr lang="en-US" sz="1800" dirty="0"/>
          </a:p>
        </p:txBody>
      </p:sp>
      <p:sp>
        <p:nvSpPr>
          <p:cNvPr id="17" name="Text 13"/>
          <p:cNvSpPr txBox="1"/>
          <p:nvPr/>
        </p:nvSpPr>
        <p:spPr>
          <a:xfrm>
            <a:off x="2971800" y="7295998"/>
            <a:ext cx="6667805" cy="191110"/>
          </a:xfrm>
          <a:prstGeom prst="rect">
            <a:avLst/>
          </a:prstGeom>
          <a:noFill/>
          <a:ln/>
        </p:spPr>
        <p:txBody>
          <a:bodyPr wrap="none" lIns="0" tIns="0" rIns="0" bIns="0" rtlCol="0" anchor="ctr"/>
          <a:lstStyle/>
          <a:p>
            <a:pPr algn="l" indent="0" marL="0">
              <a:buNone/>
            </a:pPr>
            <a:r>
              <a:rPr lang="en-US" sz="1050" spc="189" kern="0" dirty="0">
                <a:solidFill>
                  <a:srgbClr val="5A4F3F"/>
                </a:solidFill>
                <a:latin typeface="JetBrains Mono" pitchFamily="34" charset="0"/>
                <a:ea typeface="JetBrains Mono" pitchFamily="34" charset="-122"/>
                <a:cs typeface="JetBrains Mono" pitchFamily="34" charset="-120"/>
              </a:rPr>
              <a:t>扱うパラメータ</a:t>
            </a:r>
            <a:endParaRPr lang="en-US" sz="1050" dirty="0"/>
          </a:p>
        </p:txBody>
      </p:sp>
      <p:sp>
        <p:nvSpPr>
          <p:cNvPr id="18" name="Text 14"/>
          <p:cNvSpPr txBox="1"/>
          <p:nvPr/>
        </p:nvSpPr>
        <p:spPr>
          <a:xfrm>
            <a:off x="2971800" y="7584948"/>
            <a:ext cx="6667805" cy="720547"/>
          </a:xfrm>
          <a:prstGeom prst="rect">
            <a:avLst/>
          </a:prstGeom>
          <a:noFill/>
          <a:ln/>
        </p:spPr>
        <p:txBody>
          <a:bodyPr wrap="square" lIns="0" tIns="0" rIns="0" bIns="0" rtlCol="0" anchor="t"/>
          <a:lstStyle/>
          <a:p>
            <a:pPr algn="l" indent="0" marL="0">
              <a:lnSpc>
                <a:spcPts val="2700"/>
              </a:lnSpc>
              <a:buNone/>
            </a:pPr>
            <a:r>
              <a:rPr lang="en-US" sz="1800" dirty="0">
                <a:solidFill>
                  <a:srgbClr val="211C13"/>
                </a:solidFill>
                <a:latin typeface="Noto Sans JP" pitchFamily="34" charset="0"/>
                <a:ea typeface="Noto Sans JP" pitchFamily="34" charset="-122"/>
                <a:cs typeface="Noto Sans JP" pitchFamily="34" charset="-120"/>
              </a:rPr>
              <a:t>入力欄 / リクエストのクエリ文字列 / レスポンスの配列</a:t>
            </a:r>
            <a:pPr algn="l" indent="0" marL="0">
              <a:lnSpc>
                <a:spcPts val="2700"/>
              </a:lnSpc>
              <a:buNone/>
            </a:pPr>
            <a:endParaRPr lang="en-US" sz="1800" dirty="0"/>
          </a:p>
          <a:p>
            <a:pPr algn="l" indent="0" marL="0">
              <a:lnSpc>
                <a:spcPts val="2700"/>
              </a:lnSpc>
              <a:buNone/>
            </a:pPr>
            <a:r>
              <a:rPr lang="en-US" sz="1800" dirty="0">
                <a:solidFill>
                  <a:srgbClr val="211C13"/>
                </a:solidFill>
                <a:latin typeface="Noto Sans JP" pitchFamily="34" charset="0"/>
                <a:ea typeface="Noto Sans JP" pitchFamily="34" charset="-122"/>
                <a:cs typeface="Noto Sans JP" pitchFamily="34" charset="-120"/>
              </a:rPr>
              <a:t>1回の操作で何件返るか件数も見ておくと後で解説しやすい</a:t>
            </a:r>
            <a:endParaRPr lang="en-US" sz="1800" dirty="0"/>
          </a:p>
        </p:txBody>
      </p:sp>
      <p:sp>
        <p:nvSpPr>
          <p:cNvPr id="19" name="Text 15"/>
          <p:cNvSpPr txBox="1"/>
          <p:nvPr/>
        </p:nvSpPr>
        <p:spPr>
          <a:xfrm>
            <a:off x="10591495" y="7295998"/>
            <a:ext cx="6667805" cy="171907"/>
          </a:xfrm>
          <a:prstGeom prst="rect">
            <a:avLst/>
          </a:prstGeom>
          <a:noFill/>
          <a:ln/>
        </p:spPr>
        <p:txBody>
          <a:bodyPr wrap="none" lIns="0" tIns="0" rIns="0" bIns="0" rtlCol="0" anchor="ctr"/>
          <a:lstStyle/>
          <a:p>
            <a:pPr algn="l" indent="0" marL="0">
              <a:buNone/>
            </a:pPr>
            <a:r>
              <a:rPr lang="en-US" sz="1050" spc="189" kern="0" dirty="0">
                <a:solidFill>
                  <a:srgbClr val="5A4F3F"/>
                </a:solidFill>
                <a:latin typeface="JetBrains Mono" pitchFamily="34" charset="0"/>
                <a:ea typeface="JetBrains Mono" pitchFamily="34" charset="-122"/>
                <a:cs typeface="JetBrains Mono" pitchFamily="34" charset="-120"/>
              </a:rPr>
              <a:t>Not in scope</a:t>
            </a:r>
            <a:endParaRPr lang="en-US" sz="1050" dirty="0"/>
          </a:p>
        </p:txBody>
      </p:sp>
      <p:sp>
        <p:nvSpPr>
          <p:cNvPr id="20" name="Text 16"/>
          <p:cNvSpPr txBox="1"/>
          <p:nvPr/>
        </p:nvSpPr>
        <p:spPr>
          <a:xfrm>
            <a:off x="10591495" y="7566660"/>
            <a:ext cx="6667805" cy="720547"/>
          </a:xfrm>
          <a:prstGeom prst="rect">
            <a:avLst/>
          </a:prstGeom>
          <a:noFill/>
          <a:ln/>
        </p:spPr>
        <p:txBody>
          <a:bodyPr wrap="square" lIns="0" tIns="0" rIns="0" bIns="0" rtlCol="0" anchor="t"/>
          <a:lstStyle/>
          <a:p>
            <a:pPr algn="l" indent="0" marL="0">
              <a:lnSpc>
                <a:spcPts val="2700"/>
              </a:lnSpc>
              <a:buNone/>
            </a:pPr>
            <a:r>
              <a:rPr lang="en-US" sz="1800" dirty="0">
                <a:solidFill>
                  <a:srgbClr val="211C13"/>
                </a:solidFill>
                <a:latin typeface="Noto Sans JP" pitchFamily="34" charset="0"/>
                <a:ea typeface="Noto Sans JP" pitchFamily="34" charset="-122"/>
                <a:cs typeface="Noto Sans JP" pitchFamily="34" charset="-120"/>
              </a:rPr>
              <a:t>管理者権限奪取 / データ書き換え / 大量取得は扱わない。</a:t>
            </a:r>
            <a:pPr algn="l" indent="0" marL="0">
              <a:lnSpc>
                <a:spcPts val="2700"/>
              </a:lnSpc>
              <a:buNone/>
            </a:pPr>
            <a:endParaRPr lang="en-US" sz="1800" dirty="0"/>
          </a:p>
          <a:p>
            <a:pPr algn="l" indent="0" marL="0">
              <a:lnSpc>
                <a:spcPts val="2700"/>
              </a:lnSpc>
              <a:buNone/>
            </a:pPr>
            <a:r>
              <a:rPr lang="en-US" sz="1800" dirty="0">
                <a:solidFill>
                  <a:srgbClr val="211C13"/>
                </a:solidFill>
                <a:latin typeface="Noto Sans JP" pitchFamily="34" charset="0"/>
                <a:ea typeface="Noto Sans JP" pitchFamily="34" charset="-122"/>
                <a:cs typeface="Noto Sans JP" pitchFamily="34" charset="-120"/>
              </a:rPr>
              <a:t>観察と再現の演習。</a:t>
            </a:r>
            <a:endParaRPr lang="en-US" sz="1800" dirty="0"/>
          </a:p>
        </p:txBody>
      </p:sp>
      <p:pic>
        <p:nvPicPr>
          <p:cNvPr id="21" name="Image 1" descr="gen-dedup-ff3b843c62efd2578b331bdfc9bb7c8f.png">    </p:cNvPr>
          <p:cNvPicPr>
            <a:picLocks noChangeAspect="1"/>
          </p:cNvPicPr>
          <p:nvPr/>
        </p:nvPicPr>
        <p:blipFill>
          <a:blip r:embed="rId2"/>
          <a:srcRect l="-2083" r="-2083" t="0" b="0"/>
          <a:stretch/>
        </p:blipFill>
        <p:spPr>
          <a:xfrm>
            <a:off x="914400" y="9334195"/>
            <a:ext cx="16459200" cy="9144"/>
          </a:xfrm>
          <a:prstGeom prst="rect">
            <a:avLst/>
          </a:prstGeom>
        </p:spPr>
      </p:pic>
      <p:sp>
        <p:nvSpPr>
          <p:cNvPr id="22" name="Text 17"/>
          <p:cNvSpPr txBox="1"/>
          <p:nvPr/>
        </p:nvSpPr>
        <p:spPr>
          <a:xfrm>
            <a:off x="2667305" y="914400"/>
            <a:ext cx="14287500" cy="219456"/>
          </a:xfrm>
          <a:prstGeom prst="rect">
            <a:avLst/>
          </a:prstGeom>
          <a:noFill/>
          <a:ln/>
        </p:spPr>
        <p:txBody>
          <a:bodyPr wrap="none" lIns="0" tIns="0" rIns="0" bIns="0" rtlCol="0" anchor="ctr"/>
          <a:lstStyle/>
          <a:p>
            <a:pPr algn="l" indent="0" marL="0">
              <a:buNone/>
            </a:pPr>
            <a:r>
              <a:rPr lang="en-US" sz="1350" spc="324" kern="0" dirty="0">
                <a:solidFill>
                  <a:srgbClr val="B63A2A"/>
                </a:solidFill>
                <a:latin typeface="JetBrains Mono" pitchFamily="34" charset="0"/>
                <a:ea typeface="JetBrains Mono" pitchFamily="34" charset="-122"/>
                <a:cs typeface="JetBrains Mono" pitchFamily="34" charset="-120"/>
              </a:rPr>
              <a:t>06 · Challenge 01</a:t>
            </a:r>
            <a:endParaRPr lang="en-US" sz="1350" dirty="0"/>
          </a:p>
        </p:txBody>
      </p:sp>
      <p:sp>
        <p:nvSpPr>
          <p:cNvPr id="23" name="Text 18"/>
          <p:cNvSpPr txBox="1"/>
          <p:nvPr/>
        </p:nvSpPr>
        <p:spPr>
          <a:xfrm>
            <a:off x="2667305" y="1228954"/>
            <a:ext cx="14287500" cy="991210"/>
          </a:xfrm>
          <a:prstGeom prst="rect">
            <a:avLst/>
          </a:prstGeom>
          <a:noFill/>
          <a:ln/>
        </p:spPr>
        <p:txBody>
          <a:bodyPr wrap="none" lIns="0" tIns="0" rIns="0" bIns="0" rtlCol="0" anchor="ctr"/>
          <a:lstStyle/>
          <a:p>
            <a:pPr algn="l" indent="0" marL="0">
              <a:buNone/>
            </a:pPr>
            <a:r>
              <a:rPr lang="en-US" sz="7800" b="1" spc="-156" kern="0" dirty="0">
                <a:solidFill>
                  <a:srgbClr val="211C13"/>
                </a:solidFill>
                <a:latin typeface="Zen Kaku Gothic Antique" pitchFamily="34" charset="0"/>
                <a:ea typeface="Zen Kaku Gothic Antique" pitchFamily="34" charset="-122"/>
                <a:cs typeface="Zen Kaku Gothic Antique" pitchFamily="34" charset="-120"/>
              </a:rPr>
              <a:t>SQLインジェクション</a:t>
            </a:r>
            <a:endParaRPr lang="en-US" sz="7800" dirty="0"/>
          </a:p>
        </p:txBody>
      </p:sp>
      <p:pic>
        <p:nvPicPr>
          <p:cNvPr id="24" name="Image 2" descr="gen-dedup-5ab677a74b1a6b6fd874c9ba1a697ba7.png">    </p:cNvPr>
          <p:cNvPicPr>
            <a:picLocks noChangeAspect="1"/>
          </p:cNvPicPr>
          <p:nvPr/>
        </p:nvPicPr>
        <p:blipFill>
          <a:blip r:embed="rId3"/>
          <a:srcRect l="0" r="0" t="-408" b="-408"/>
          <a:stretch/>
        </p:blipFill>
        <p:spPr>
          <a:xfrm>
            <a:off x="2667305" y="2391156"/>
            <a:ext cx="1904695" cy="38405"/>
          </a:xfrm>
          <a:prstGeom prst="rect">
            <a:avLst/>
          </a:prstGeom>
        </p:spPr>
      </p:pic>
      <p:sp>
        <p:nvSpPr>
          <p:cNvPr id="25" name="Text 19"/>
          <p:cNvSpPr txBox="1"/>
          <p:nvPr/>
        </p:nvSpPr>
        <p:spPr>
          <a:xfrm>
            <a:off x="2667305" y="2611526"/>
            <a:ext cx="14287500" cy="960120"/>
          </a:xfrm>
          <a:prstGeom prst="rect">
            <a:avLst/>
          </a:prstGeom>
          <a:noFill/>
          <a:ln/>
        </p:spPr>
        <p:txBody>
          <a:bodyPr wrap="square" lIns="0" tIns="0" rIns="0" bIns="0" rtlCol="0" anchor="t"/>
          <a:lstStyle/>
          <a:p>
            <a:pPr algn="l" indent="0" marL="0">
              <a:lnSpc>
                <a:spcPts val="3600"/>
              </a:lnSpc>
              <a:buNone/>
            </a:pPr>
            <a:r>
              <a:rPr lang="en-US" sz="2400" dirty="0">
                <a:solidFill>
                  <a:srgbClr val="211C13"/>
                </a:solidFill>
                <a:latin typeface="Noto Sans JP" pitchFamily="34" charset="0"/>
                <a:ea typeface="Noto Sans JP" pitchFamily="34" charset="-122"/>
                <a:cs typeface="Noto Sans JP" pitchFamily="34" charset="-120"/>
              </a:rPr>
              <a:t>公開ユーザーだけを返すはずの検索から、</a:t>
            </a:r>
            <a:pPr algn="l" indent="0" marL="0">
              <a:lnSpc>
                <a:spcPts val="3600"/>
              </a:lnSpc>
              <a:buNone/>
            </a:pPr>
            <a:endParaRPr lang="en-US" sz="2400" dirty="0"/>
          </a:p>
          <a:p>
            <a:pPr algn="l" indent="0" marL="0">
              <a:lnSpc>
                <a:spcPts val="3600"/>
              </a:lnSpc>
              <a:buNone/>
            </a:pPr>
            <a:r>
              <a:rPr lang="en-US" sz="2400" dirty="0">
                <a:solidFill>
                  <a:srgbClr val="211C13"/>
                </a:solidFill>
                <a:latin typeface="Noto Sans JP" pitchFamily="34" charset="0"/>
                <a:ea typeface="Noto Sans JP" pitchFamily="34" charset="-122"/>
                <a:cs typeface="Noto Sans JP" pitchFamily="34" charset="-120"/>
              </a:rPr>
              <a:t>非公開ユーザーの表示名を取り出す。</a:t>
            </a:r>
            <a:endParaRPr lang="en-US" sz="2400" dirty="0"/>
          </a:p>
        </p:txBody>
      </p:sp>
      <p:sp>
        <p:nvSpPr>
          <p:cNvPr id="26" name="Text 20"/>
          <p:cNvSpPr txBox="1"/>
          <p:nvPr/>
        </p:nvSpPr>
        <p:spPr>
          <a:xfrm>
            <a:off x="2667305" y="9562795"/>
            <a:ext cx="9525305" cy="228600"/>
          </a:xfrm>
          <a:prstGeom prst="rect">
            <a:avLst/>
          </a:prstGeom>
          <a:noFill/>
          <a:ln/>
        </p:spPr>
        <p:txBody>
          <a:bodyPr wrap="none" lIns="0" tIns="0" rIns="0" bIns="0" rtlCol="0" anchor="ctr"/>
          <a:lstStyle/>
          <a:p>
            <a:pPr algn="l" indent="0" marL="0">
              <a:buNone/>
            </a:pPr>
            <a:r>
              <a:rPr lang="en-US" sz="1200" spc="72" kern="0" dirty="0">
                <a:solidFill>
                  <a:srgbClr val="5A4F3F"/>
                </a:solidFill>
                <a:latin typeface="JetBrains Mono" pitchFamily="34" charset="0"/>
                <a:ea typeface="JetBrains Mono" pitchFamily="34" charset="-122"/>
                <a:cs typeface="JetBrains Mono" pitchFamily="34" charset="-120"/>
              </a:rPr>
              <a:t>参加者向け — 次のスライドに「問題文」が出ます。10分を目安に個人で探索してください</a:t>
            </a:r>
            <a:endParaRPr lang="en-US" sz="1200" dirty="0"/>
          </a:p>
        </p:txBody>
      </p:sp>
      <p:sp>
        <p:nvSpPr>
          <p:cNvPr id="27" name="Text 21"/>
          <p:cNvSpPr txBox="1"/>
          <p:nvPr/>
        </p:nvSpPr>
        <p:spPr>
          <a:xfrm>
            <a:off x="15468905" y="9562795"/>
            <a:ext cx="1905610" cy="200254"/>
          </a:xfrm>
          <a:prstGeom prst="rect">
            <a:avLst/>
          </a:prstGeom>
          <a:noFill/>
          <a:ln/>
        </p:spPr>
        <p:txBody>
          <a:bodyPr wrap="none" lIns="0" tIns="0" rIns="0" bIns="0" rtlCol="0" anchor="ctr"/>
          <a:lstStyle/>
          <a:p>
            <a:pPr algn="r" indent="0" marL="0">
              <a:buNone/>
            </a:pPr>
            <a:r>
              <a:rPr lang="en-US" sz="1200" spc="72" kern="0" dirty="0">
                <a:solidFill>
                  <a:srgbClr val="5A4F3F"/>
                </a:solidFill>
                <a:latin typeface="JetBrains Mono" pitchFamily="34" charset="0"/>
                <a:ea typeface="JetBrains Mono" pitchFamily="34" charset="-122"/>
                <a:cs typeface="JetBrains Mono" pitchFamily="34" charset="-120"/>
              </a:rPr>
              <a:t>06 / 32</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FE7D4"/>
        </a:solidFill>
      </p:bgPr>
    </p:bg>
    <p:spTree>
      <p:nvGrpSpPr>
        <p:cNvPr id="1" name=""/>
        <p:cNvGrpSpPr/>
        <p:nvPr/>
      </p:nvGrpSpPr>
      <p:grpSpPr>
        <a:xfrm>
          <a:off x="0" y="0"/>
          <a:ext cx="0" cy="0"/>
          <a:chOff x="0" y="0"/>
          <a:chExt cx="0" cy="0"/>
        </a:xfrm>
      </p:grpSpPr>
      <p:sp>
        <p:nvSpPr>
          <p:cNvPr id="3" name="Shape 0"/>
          <p:cNvSpPr/>
          <p:nvPr/>
        </p:nvSpPr>
        <p:spPr>
          <a:xfrm>
            <a:off x="0" y="0"/>
            <a:ext cx="1904695" cy="10287000"/>
          </a:xfrm>
          <a:prstGeom prst="rect">
            <a:avLst/>
          </a:prstGeom>
          <a:solidFill>
            <a:srgbClr val="B63A2A"/>
          </a:solidFill>
          <a:ln w="12700">
            <a:solidFill>
              <a:srgbClr val="FFFFFF">
                <a:alpha val="0"/>
              </a:srgbClr>
            </a:solidFill>
            <a:prstDash val="solid"/>
          </a:ln>
        </p:spPr>
      </p:sp>
      <p:sp>
        <p:nvSpPr>
          <p:cNvPr id="4" name="Shape 1"/>
          <p:cNvSpPr/>
          <p:nvPr/>
        </p:nvSpPr>
        <p:spPr>
          <a:xfrm>
            <a:off x="2667305" y="3238805"/>
            <a:ext cx="14859000" cy="5333695"/>
          </a:xfrm>
          <a:prstGeom prst="roundRect">
            <a:avLst>
              <a:gd name="adj" fmla="val 720"/>
            </a:avLst>
          </a:prstGeom>
          <a:solidFill>
            <a:srgbClr val="E5DBC4"/>
          </a:solidFill>
          <a:ln w="12700">
            <a:solidFill>
              <a:srgbClr val="FFFFFF">
                <a:alpha val="0"/>
              </a:srgbClr>
            </a:solidFill>
            <a:prstDash val="solid"/>
          </a:ln>
        </p:spPr>
      </p:sp>
      <p:sp>
        <p:nvSpPr>
          <p:cNvPr id="5" name="Text 2"/>
          <p:cNvSpPr txBox="1"/>
          <p:nvPr/>
        </p:nvSpPr>
        <p:spPr>
          <a:xfrm>
            <a:off x="228600" y="914400"/>
            <a:ext cx="1524305" cy="171907"/>
          </a:xfrm>
          <a:prstGeom prst="rect">
            <a:avLst/>
          </a:prstGeom>
          <a:noFill/>
          <a:ln/>
        </p:spPr>
        <p:txBody>
          <a:bodyPr wrap="none" lIns="0" tIns="0" rIns="0" bIns="0" rtlCol="0" anchor="ctr"/>
          <a:lstStyle/>
          <a:p>
            <a:pPr algn="l" indent="0" marL="0">
              <a:buNone/>
            </a:pPr>
            <a:r>
              <a:rPr lang="en-US" sz="1050" spc="231" kern="0" dirty="0">
                <a:solidFill>
                  <a:srgbClr val="F5EFDD"/>
                </a:solidFill>
                <a:latin typeface="JetBrains Mono" pitchFamily="34" charset="0"/>
                <a:ea typeface="JetBrains Mono" pitchFamily="34" charset="-122"/>
                <a:cs typeface="JetBrains Mono" pitchFamily="34" charset="-120"/>
              </a:rPr>
              <a:t>PROBLEM</a:t>
            </a:r>
            <a:endParaRPr lang="en-US" sz="1050" dirty="0"/>
          </a:p>
        </p:txBody>
      </p:sp>
      <p:sp>
        <p:nvSpPr>
          <p:cNvPr id="6" name="Text 3"/>
          <p:cNvSpPr txBox="1"/>
          <p:nvPr/>
        </p:nvSpPr>
        <p:spPr>
          <a:xfrm>
            <a:off x="228600" y="1143000"/>
            <a:ext cx="1524305" cy="876910"/>
          </a:xfrm>
          <a:prstGeom prst="rect">
            <a:avLst/>
          </a:prstGeom>
          <a:noFill/>
          <a:ln/>
        </p:spPr>
        <p:txBody>
          <a:bodyPr wrap="none" lIns="0" tIns="0" rIns="0" bIns="0" rtlCol="0" anchor="ctr"/>
          <a:lstStyle/>
          <a:p>
            <a:pPr algn="l" indent="0" marL="0">
              <a:buNone/>
            </a:pPr>
            <a:r>
              <a:rPr lang="en-US" sz="7200" b="1" spc="-144" kern="0" dirty="0">
                <a:solidFill>
                  <a:srgbClr val="F5EFDD"/>
                </a:solidFill>
                <a:latin typeface="Zen Kaku Gothic Antique" pitchFamily="34" charset="0"/>
                <a:ea typeface="Zen Kaku Gothic Antique" pitchFamily="34" charset="-122"/>
                <a:cs typeface="Zen Kaku Gothic Antique" pitchFamily="34" charset="-120"/>
              </a:rPr>
              <a:t>01</a:t>
            </a:r>
            <a:endParaRPr lang="en-US" sz="7200" dirty="0"/>
          </a:p>
        </p:txBody>
      </p:sp>
      <p:pic>
        <p:nvPicPr>
          <p:cNvPr id="7" name="Image 0" descr="gen-dedup-2173e259c8f89e09f8a89067735d6b02.png">    </p:cNvPr>
          <p:cNvPicPr>
            <a:picLocks noChangeAspect="1"/>
          </p:cNvPicPr>
          <p:nvPr/>
        </p:nvPicPr>
        <p:blipFill>
          <a:blip r:embed="rId1"/>
          <a:srcRect l="-404" r="-404" t="0" b="0"/>
          <a:stretch/>
        </p:blipFill>
        <p:spPr>
          <a:xfrm>
            <a:off x="228600" y="2182673"/>
            <a:ext cx="571500" cy="28346"/>
          </a:xfrm>
          <a:prstGeom prst="rect">
            <a:avLst/>
          </a:prstGeom>
        </p:spPr>
      </p:pic>
      <p:sp>
        <p:nvSpPr>
          <p:cNvPr id="8" name="Text 4"/>
          <p:cNvSpPr txBox="1"/>
          <p:nvPr/>
        </p:nvSpPr>
        <p:spPr>
          <a:xfrm>
            <a:off x="2971800" y="3461918"/>
            <a:ext cx="14287500" cy="1043330"/>
          </a:xfrm>
          <a:prstGeom prst="rect">
            <a:avLst/>
          </a:prstGeom>
          <a:noFill/>
          <a:ln/>
        </p:spPr>
        <p:txBody>
          <a:bodyPr wrap="square" lIns="0" tIns="0" rIns="0" bIns="0" rtlCol="0" anchor="t"/>
          <a:lstStyle/>
          <a:p>
            <a:pPr algn="l" indent="0" marL="0">
              <a:lnSpc>
                <a:spcPts val="3915"/>
              </a:lnSpc>
              <a:buNone/>
            </a:pPr>
            <a:r>
              <a:rPr lang="en-US" sz="2700" b="1" dirty="0">
                <a:solidFill>
                  <a:srgbClr val="211C13"/>
                </a:solidFill>
                <a:latin typeface="Noto Sans JP" pitchFamily="34" charset="0"/>
                <a:ea typeface="Noto Sans JP" pitchFamily="34" charset="-122"/>
                <a:cs typeface="Noto Sans JP" pitchFamily="34" charset="-120"/>
              </a:rPr>
              <a:t>「公開ユーザーが表示される」絞り込み検索から始めて、</a:t>
            </a:r>
            <a:pPr algn="l" indent="0" marL="0">
              <a:lnSpc>
                <a:spcPts val="3915"/>
              </a:lnSpc>
              <a:buNone/>
            </a:pPr>
            <a:endParaRPr lang="en-US" sz="2700" dirty="0"/>
          </a:p>
          <a:p>
            <a:pPr algn="l" indent="0" marL="0">
              <a:lnSpc>
                <a:spcPts val="3915"/>
              </a:lnSpc>
              <a:buNone/>
            </a:pPr>
            <a:r>
              <a:rPr lang="en-US" sz="2700" b="1" dirty="0">
                <a:solidFill>
                  <a:srgbClr val="211C13"/>
                </a:solidFill>
                <a:latin typeface="Noto Sans JP" pitchFamily="34" charset="0"/>
                <a:ea typeface="Noto Sans JP" pitchFamily="34" charset="-122"/>
                <a:cs typeface="Noto Sans JP" pitchFamily="34" charset="-120"/>
              </a:rPr>
              <a:t>非公開ユーザー（is_public = false）の表示名を読み出す。</a:t>
            </a:r>
            <a:endParaRPr lang="en-US" sz="2700" dirty="0"/>
          </a:p>
        </p:txBody>
      </p:sp>
      <p:sp>
        <p:nvSpPr>
          <p:cNvPr id="9" name="Text 5"/>
          <p:cNvSpPr txBox="1"/>
          <p:nvPr/>
        </p:nvSpPr>
        <p:spPr>
          <a:xfrm>
            <a:off x="2971800" y="4842662"/>
            <a:ext cx="6858000" cy="171907"/>
          </a:xfrm>
          <a:prstGeom prst="rect">
            <a:avLst/>
          </a:prstGeom>
          <a:noFill/>
          <a:ln/>
        </p:spPr>
        <p:txBody>
          <a:bodyPr wrap="none" lIns="0" tIns="0" rIns="0" bIns="0" rtlCol="0" anchor="ctr"/>
          <a:lstStyle/>
          <a:p>
            <a:pPr algn="l" indent="0" marL="0">
              <a:buNone/>
            </a:pPr>
            <a:r>
              <a:rPr lang="en-US" sz="1050" spc="189" kern="0" dirty="0">
                <a:solidFill>
                  <a:srgbClr val="B63A2A"/>
                </a:solidFill>
                <a:latin typeface="JetBrains Mono" pitchFamily="34" charset="0"/>
                <a:ea typeface="JetBrains Mono" pitchFamily="34" charset="-122"/>
                <a:cs typeface="JetBrains Mono" pitchFamily="34" charset="-120"/>
              </a:rPr>
              <a:t>CAN OBSERVE</a:t>
            </a:r>
            <a:endParaRPr lang="en-US" sz="1050" dirty="0"/>
          </a:p>
        </p:txBody>
      </p:sp>
      <p:sp>
        <p:nvSpPr>
          <p:cNvPr id="10" name="Text 6"/>
          <p:cNvSpPr txBox="1"/>
          <p:nvPr/>
        </p:nvSpPr>
        <p:spPr>
          <a:xfrm>
            <a:off x="2998622" y="5072177"/>
            <a:ext cx="6839407" cy="1200607"/>
          </a:xfrm>
          <a:prstGeom prst="rect">
            <a:avLst/>
          </a:prstGeom>
          <a:noFill/>
          <a:ln/>
        </p:spPr>
        <p:txBody>
          <a:bodyPr wrap="square" lIns="0" tIns="0" rIns="0" bIns="0" rtlCol="0" anchor="t"/>
          <a:lstStyle/>
          <a:p>
            <a:pPr algn="l" marL="266700" indent="-266700">
              <a:lnSpc>
                <a:spcPts val="2558"/>
              </a:lnSpc>
              <a:spcAft>
                <a:spcPts val="600"/>
              </a:spcAft>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558"/>
              </a:lnSpc>
              <a:spcAft>
                <a:spcPts val="600"/>
              </a:spcAft>
              <a:buSzPct val="100000"/>
              <a:buChar char="•"/>
            </a:pPr>
            <a:r>
              <a:rPr lang="en-US" sz="1650" dirty="0">
                <a:solidFill>
                  <a:srgbClr val="211C13"/>
                </a:solidFill>
                <a:latin typeface="Noto Sans JP" pitchFamily="34" charset="0"/>
                <a:ea typeface="Noto Sans JP" pitchFamily="34" charset="-122"/>
                <a:cs typeface="Noto Sans JP" pitchFamily="34" charset="-120"/>
              </a:rPr>
              <a:t>アプリ画面の検索欄</a:t>
            </a:r>
            <a:pPr algn="l" marL="266700" indent="-266700">
              <a:lnSpc>
                <a:spcPts val="2558"/>
              </a:lnSpc>
              <a:spcAft>
                <a:spcPts val="600"/>
              </a:spcAft>
              <a:buSzPct val="100000"/>
              <a:buChar char="•"/>
            </a:pPr>
            <a:endParaRPr lang="en-US" sz="1650" dirty="0"/>
          </a:p>
          <a:p>
            <a:pPr algn="l" marL="266700" indent="-266700">
              <a:lnSpc>
                <a:spcPts val="2558"/>
              </a:lnSpc>
              <a:spcAft>
                <a:spcPts val="600"/>
              </a:spcAft>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558"/>
              </a:lnSpc>
              <a:spcAft>
                <a:spcPts val="600"/>
              </a:spcAft>
              <a:buSzPct val="100000"/>
              <a:buChar char="•"/>
            </a:pPr>
            <a:r>
              <a:rPr lang="en-US" sz="1650" dirty="0">
                <a:solidFill>
                  <a:srgbClr val="211C13"/>
                </a:solidFill>
                <a:latin typeface="Noto Sans JP" pitchFamily="34" charset="0"/>
                <a:ea typeface="Noto Sans JP" pitchFamily="34" charset="-122"/>
                <a:cs typeface="Noto Sans JP" pitchFamily="34" charset="-120"/>
              </a:rPr>
              <a:t>Network タブの該当リクエスト</a:t>
            </a:r>
            <a:pPr algn="l" marL="266700" indent="-266700">
              <a:lnSpc>
                <a:spcPts val="2558"/>
              </a:lnSpc>
              <a:spcAft>
                <a:spcPts val="600"/>
              </a:spcAft>
              <a:buSzPct val="100000"/>
              <a:buChar char="•"/>
            </a:pPr>
            <a:endParaRPr lang="en-US" sz="1650" dirty="0"/>
          </a:p>
          <a:p>
            <a:pPr algn="l" marL="266700" indent="-266700">
              <a:lnSpc>
                <a:spcPts val="2558"/>
              </a:lnSpc>
              <a:spcAft>
                <a:spcPts val="600"/>
              </a:spcAft>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558"/>
              </a:lnSpc>
              <a:spcAft>
                <a:spcPts val="600"/>
              </a:spcAft>
              <a:buSzPct val="100000"/>
              <a:buChar char="•"/>
            </a:pPr>
            <a:r>
              <a:rPr lang="en-US" sz="1650" dirty="0">
                <a:solidFill>
                  <a:srgbClr val="211C13"/>
                </a:solidFill>
                <a:latin typeface="Noto Sans JP" pitchFamily="34" charset="0"/>
                <a:ea typeface="Noto Sans JP" pitchFamily="34" charset="-122"/>
                <a:cs typeface="Noto Sans JP" pitchFamily="34" charset="-120"/>
              </a:rPr>
              <a:t>Console から </a:t>
            </a:r>
            <a:pPr algn="l" marL="266700" indent="-266700">
              <a:lnSpc>
                <a:spcPts val="2558"/>
              </a:lnSpc>
              <a:spcAft>
                <a:spcPts val="600"/>
              </a:spcAft>
              <a:buSzPct val="100000"/>
              <a:buChar char="•"/>
            </a:pPr>
            <a:r>
              <a:rPr lang="en-US" sz="1650" dirty="0">
                <a:solidFill>
                  <a:srgbClr val="211C13"/>
                </a:solidFill>
                <a:latin typeface="JetBrains Mono" pitchFamily="34" charset="0"/>
                <a:ea typeface="JetBrains Mono" pitchFamily="34" charset="-122"/>
                <a:cs typeface="JetBrains Mono" pitchFamily="34" charset="-120"/>
              </a:rPr>
              <a:t>fetch</a:t>
            </a:r>
            <a:pPr algn="l" marL="266700" indent="-266700">
              <a:lnSpc>
                <a:spcPts val="2558"/>
              </a:lnSpc>
              <a:spcAft>
                <a:spcPts val="600"/>
              </a:spcAft>
              <a:buSzPct val="100000"/>
              <a:buChar char="•"/>
            </a:pPr>
            <a:r>
              <a:rPr lang="en-US" sz="1650" dirty="0">
                <a:solidFill>
                  <a:srgbClr val="211C13"/>
                </a:solidFill>
                <a:latin typeface="Noto Sans JP" pitchFamily="34" charset="0"/>
                <a:ea typeface="Noto Sans JP" pitchFamily="34" charset="-122"/>
                <a:cs typeface="Noto Sans JP" pitchFamily="34" charset="-120"/>
              </a:rPr>
              <a:t> を投げてレスポンスを見る</a:t>
            </a:r>
            <a:endParaRPr lang="en-US" sz="1650" dirty="0"/>
          </a:p>
        </p:txBody>
      </p:sp>
      <p:sp>
        <p:nvSpPr>
          <p:cNvPr id="11" name="Text 7"/>
          <p:cNvSpPr txBox="1"/>
          <p:nvPr/>
        </p:nvSpPr>
        <p:spPr>
          <a:xfrm>
            <a:off x="10134295" y="4842662"/>
            <a:ext cx="6858000" cy="171907"/>
          </a:xfrm>
          <a:prstGeom prst="rect">
            <a:avLst/>
          </a:prstGeom>
          <a:noFill/>
          <a:ln/>
        </p:spPr>
        <p:txBody>
          <a:bodyPr wrap="none" lIns="0" tIns="0" rIns="0" bIns="0" rtlCol="0" anchor="ctr"/>
          <a:lstStyle/>
          <a:p>
            <a:pPr algn="l" indent="0" marL="0">
              <a:buNone/>
            </a:pPr>
            <a:r>
              <a:rPr lang="en-US" sz="1050" spc="189" kern="0" dirty="0">
                <a:solidFill>
                  <a:srgbClr val="2F6F4F"/>
                </a:solidFill>
                <a:latin typeface="JetBrains Mono" pitchFamily="34" charset="0"/>
                <a:ea typeface="JetBrains Mono" pitchFamily="34" charset="-122"/>
                <a:cs typeface="JetBrains Mono" pitchFamily="34" charset="-120"/>
              </a:rPr>
              <a:t>SUCCESS LOOKS LIKE</a:t>
            </a:r>
            <a:endParaRPr lang="en-US" sz="1050" dirty="0"/>
          </a:p>
        </p:txBody>
      </p:sp>
      <p:sp>
        <p:nvSpPr>
          <p:cNvPr id="12" name="Text 8"/>
          <p:cNvSpPr txBox="1"/>
          <p:nvPr/>
        </p:nvSpPr>
        <p:spPr>
          <a:xfrm>
            <a:off x="10161118" y="5072177"/>
            <a:ext cx="6839407" cy="1496873"/>
          </a:xfrm>
          <a:prstGeom prst="rect">
            <a:avLst/>
          </a:prstGeom>
          <a:noFill/>
          <a:ln/>
        </p:spPr>
        <p:txBody>
          <a:bodyPr wrap="square" lIns="0" tIns="0" rIns="0" bIns="0" rtlCol="0" anchor="t"/>
          <a:lstStyle/>
          <a:p>
            <a:pPr algn="l" marL="266700" indent="-266700">
              <a:lnSpc>
                <a:spcPts val="2558"/>
              </a:lnSpc>
              <a:spcAft>
                <a:spcPts val="600"/>
              </a:spcAft>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558"/>
              </a:lnSpc>
              <a:spcAft>
                <a:spcPts val="600"/>
              </a:spcAft>
              <a:buSzPct val="100000"/>
              <a:buChar char="•"/>
            </a:pPr>
            <a:r>
              <a:rPr lang="en-US" sz="1650" dirty="0">
                <a:solidFill>
                  <a:srgbClr val="211C13"/>
                </a:solidFill>
                <a:latin typeface="Noto Sans JP" pitchFamily="34" charset="0"/>
                <a:ea typeface="Noto Sans JP" pitchFamily="34" charset="-122"/>
                <a:cs typeface="Noto Sans JP" pitchFamily="34" charset="-120"/>
              </a:rPr>
              <a:t>非公開の表示名が1件以上</a:t>
            </a:r>
            <a:pPr algn="l" indent="0" marL="0">
              <a:lnSpc>
                <a:spcPts val="2558"/>
              </a:lnSpc>
              <a:spcAft>
                <a:spcPts val="600"/>
              </a:spcAft>
              <a:buNone/>
            </a:pPr>
            <a:endParaRPr lang="en-US" sz="1650" dirty="0"/>
          </a:p>
          <a:p>
            <a:pPr algn="l" marL="266700" indent="-266700">
              <a:lnSpc>
                <a:spcPts val="2558"/>
              </a:lnSpc>
              <a:spcAft>
                <a:spcPts val="600"/>
              </a:spcAft>
              <a:buSzPct val="100000"/>
              <a:buChar char="•"/>
            </a:pPr>
            <a:r>
              <a:rPr lang="en-US" sz="1650" dirty="0">
                <a:solidFill>
                  <a:srgbClr val="211C13"/>
                </a:solidFill>
                <a:latin typeface="Noto Sans JP" pitchFamily="34" charset="0"/>
                <a:ea typeface="Noto Sans JP" pitchFamily="34" charset="-122"/>
                <a:cs typeface="Noto Sans JP" pitchFamily="34" charset="-120"/>
              </a:rPr>
              <a:t>画面またはレスポンスに出る</a:t>
            </a:r>
            <a:pPr algn="l" marL="266700" indent="-266700">
              <a:lnSpc>
                <a:spcPts val="2558"/>
              </a:lnSpc>
              <a:spcAft>
                <a:spcPts val="600"/>
              </a:spcAft>
              <a:buSzPct val="100000"/>
              <a:buChar char="•"/>
            </a:pPr>
            <a:endParaRPr lang="en-US" sz="1650" dirty="0"/>
          </a:p>
          <a:p>
            <a:pPr algn="l" marL="266700" indent="-266700">
              <a:lnSpc>
                <a:spcPts val="2558"/>
              </a:lnSpc>
              <a:spcAft>
                <a:spcPts val="600"/>
              </a:spcAft>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558"/>
              </a:lnSpc>
              <a:spcAft>
                <a:spcPts val="600"/>
              </a:spcAft>
              <a:buSzPct val="100000"/>
              <a:buChar char="•"/>
            </a:pPr>
            <a:r>
              <a:rPr lang="en-US" sz="1650" dirty="0">
                <a:solidFill>
                  <a:srgbClr val="211C13"/>
                </a:solidFill>
                <a:latin typeface="Noto Sans JP" pitchFamily="34" charset="0"/>
                <a:ea typeface="Noto Sans JP" pitchFamily="34" charset="-122"/>
                <a:cs typeface="Noto Sans JP" pitchFamily="34" charset="-120"/>
              </a:rPr>
              <a:t>件数が見える場合は想定件数より増える</a:t>
            </a:r>
            <a:pPr algn="l" marL="266700" indent="-266700">
              <a:lnSpc>
                <a:spcPts val="2558"/>
              </a:lnSpc>
              <a:spcAft>
                <a:spcPts val="600"/>
              </a:spcAft>
              <a:buSzPct val="100000"/>
              <a:buChar char="•"/>
            </a:pPr>
            <a:endParaRPr lang="en-US" sz="1650" dirty="0"/>
          </a:p>
          <a:p>
            <a:pPr algn="l" marL="266700" indent="-266700">
              <a:lnSpc>
                <a:spcPts val="2558"/>
              </a:lnSpc>
              <a:spcAft>
                <a:spcPts val="600"/>
              </a:spcAft>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558"/>
              </a:lnSpc>
              <a:spcAft>
                <a:spcPts val="600"/>
              </a:spcAft>
              <a:buSzPct val="100000"/>
              <a:buChar char="•"/>
            </a:pPr>
            <a:r>
              <a:rPr lang="en-US" sz="1650" dirty="0">
                <a:solidFill>
                  <a:srgbClr val="211C13"/>
                </a:solidFill>
                <a:latin typeface="Noto Sans JP" pitchFamily="34" charset="0"/>
                <a:ea typeface="Noto Sans JP" pitchFamily="34" charset="-122"/>
                <a:cs typeface="Noto Sans JP" pitchFamily="34" charset="-120"/>
              </a:rPr>
              <a:t>API の JSON 内に思わぬフィールドが見える</a:t>
            </a:r>
            <a:endParaRPr lang="en-US" sz="1650" dirty="0"/>
          </a:p>
        </p:txBody>
      </p:sp>
      <p:pic>
        <p:nvPicPr>
          <p:cNvPr id="13" name="Image 1" descr="gen-dedup-ff3b843c62efd2578b331bdfc9bb7c8f.png">    </p:cNvPr>
          <p:cNvPicPr>
            <a:picLocks noChangeAspect="1"/>
          </p:cNvPicPr>
          <p:nvPr/>
        </p:nvPicPr>
        <p:blipFill>
          <a:blip r:embed="rId2"/>
          <a:srcRect l="-2083" r="-2083" t="0" b="0"/>
          <a:stretch/>
        </p:blipFill>
        <p:spPr>
          <a:xfrm>
            <a:off x="914400" y="9334195"/>
            <a:ext cx="16459200" cy="9144"/>
          </a:xfrm>
          <a:prstGeom prst="rect">
            <a:avLst/>
          </a:prstGeom>
        </p:spPr>
      </p:pic>
      <p:sp>
        <p:nvSpPr>
          <p:cNvPr id="14" name="Text 9"/>
          <p:cNvSpPr txBox="1"/>
          <p:nvPr/>
        </p:nvSpPr>
        <p:spPr>
          <a:xfrm>
            <a:off x="2667305" y="914400"/>
            <a:ext cx="14287500" cy="219456"/>
          </a:xfrm>
          <a:prstGeom prst="rect">
            <a:avLst/>
          </a:prstGeom>
          <a:noFill/>
          <a:ln/>
        </p:spPr>
        <p:txBody>
          <a:bodyPr wrap="none" lIns="0" tIns="0" rIns="0" bIns="0" rtlCol="0" anchor="ctr"/>
          <a:lstStyle/>
          <a:p>
            <a:pPr algn="l" indent="0" marL="0">
              <a:buNone/>
            </a:pPr>
            <a:r>
              <a:rPr lang="en-US" sz="1350" spc="324" kern="0" dirty="0">
                <a:solidFill>
                  <a:srgbClr val="B63A2A"/>
                </a:solidFill>
                <a:latin typeface="JetBrains Mono" pitchFamily="34" charset="0"/>
                <a:ea typeface="JetBrains Mono" pitchFamily="34" charset="-122"/>
                <a:cs typeface="JetBrains Mono" pitchFamily="34" charset="-120"/>
              </a:rPr>
              <a:t>Problem statement</a:t>
            </a:r>
            <a:endParaRPr lang="en-US" sz="1350" dirty="0"/>
          </a:p>
        </p:txBody>
      </p:sp>
      <p:sp>
        <p:nvSpPr>
          <p:cNvPr id="15" name="Text 10"/>
          <p:cNvSpPr txBox="1"/>
          <p:nvPr/>
        </p:nvSpPr>
        <p:spPr>
          <a:xfrm>
            <a:off x="2667305" y="1228954"/>
            <a:ext cx="14287500" cy="914400"/>
          </a:xfrm>
          <a:prstGeom prst="rect">
            <a:avLst/>
          </a:prstGeom>
          <a:noFill/>
          <a:ln/>
        </p:spPr>
        <p:txBody>
          <a:bodyPr wrap="none" lIns="0" tIns="0" rIns="0" bIns="0" rtlCol="0" anchor="ctr"/>
          <a:lstStyle/>
          <a:p>
            <a:pPr algn="l" indent="0" marL="0">
              <a:buNone/>
            </a:pPr>
            <a:r>
              <a:rPr lang="en-US" sz="7200" b="1" spc="-144" kern="0" dirty="0">
                <a:solidFill>
                  <a:srgbClr val="211C13"/>
                </a:solidFill>
                <a:latin typeface="Zen Kaku Gothic Antique" pitchFamily="34" charset="0"/>
                <a:ea typeface="Zen Kaku Gothic Antique" pitchFamily="34" charset="-122"/>
                <a:cs typeface="Zen Kaku Gothic Antique" pitchFamily="34" charset="-120"/>
              </a:rPr>
              <a:t>問題文</a:t>
            </a:r>
            <a:endParaRPr lang="en-US" sz="7200" dirty="0"/>
          </a:p>
        </p:txBody>
      </p:sp>
      <p:sp>
        <p:nvSpPr>
          <p:cNvPr id="16" name="Text 11"/>
          <p:cNvSpPr txBox="1"/>
          <p:nvPr/>
        </p:nvSpPr>
        <p:spPr>
          <a:xfrm>
            <a:off x="2667305" y="2276856"/>
            <a:ext cx="14287500" cy="247802"/>
          </a:xfrm>
          <a:prstGeom prst="rect">
            <a:avLst/>
          </a:prstGeom>
          <a:noFill/>
          <a:ln/>
        </p:spPr>
        <p:txBody>
          <a:bodyPr wrap="none" lIns="0" tIns="0" rIns="0" bIns="0" rtlCol="0" anchor="ctr"/>
          <a:lstStyle/>
          <a:p>
            <a:pPr algn="l" indent="0" marL="0">
              <a:buNone/>
            </a:pPr>
            <a:r>
              <a:rPr lang="en-US" sz="1350" spc="243" kern="0" dirty="0">
                <a:solidFill>
                  <a:srgbClr val="5A4F3F"/>
                </a:solidFill>
                <a:latin typeface="JetBrains Mono" pitchFamily="34" charset="0"/>
                <a:ea typeface="JetBrains Mono" pitchFamily="34" charset="-122"/>
                <a:cs typeface="JetBrains Mono" pitchFamily="34" charset="-120"/>
              </a:rPr>
              <a:t>— このスライドには解答を書きません</a:t>
            </a:r>
            <a:endParaRPr lang="en-US" sz="1350" dirty="0"/>
          </a:p>
        </p:txBody>
      </p:sp>
      <p:sp>
        <p:nvSpPr>
          <p:cNvPr id="17" name="Text 12"/>
          <p:cNvSpPr txBox="1"/>
          <p:nvPr/>
        </p:nvSpPr>
        <p:spPr>
          <a:xfrm>
            <a:off x="2667305" y="8953805"/>
            <a:ext cx="10478110" cy="247802"/>
          </a:xfrm>
          <a:prstGeom prst="rect">
            <a:avLst/>
          </a:prstGeom>
          <a:noFill/>
          <a:ln/>
        </p:spPr>
        <p:txBody>
          <a:bodyPr wrap="none" lIns="0" tIns="0" rIns="0" bIns="0" rtlCol="0" anchor="ctr"/>
          <a:lstStyle/>
          <a:p>
            <a:pPr algn="l" indent="0" marL="0">
              <a:buNone/>
            </a:pPr>
            <a:r>
              <a:rPr lang="en-US" sz="1350" spc="243" kern="0" dirty="0">
                <a:solidFill>
                  <a:srgbClr val="5A4F3F"/>
                </a:solidFill>
                <a:latin typeface="JetBrains Mono" pitchFamily="34" charset="0"/>
                <a:ea typeface="JetBrains Mono" pitchFamily="34" charset="-122"/>
                <a:cs typeface="JetBrains Mono" pitchFamily="34" charset="-120"/>
              </a:rPr>
              <a:t>出題範囲外 — 大量取得・管理者奪取・書き換えは扱わない</a:t>
            </a:r>
            <a:endParaRPr lang="en-US" sz="1350" dirty="0"/>
          </a:p>
        </p:txBody>
      </p:sp>
      <p:sp>
        <p:nvSpPr>
          <p:cNvPr id="18" name="Text 13"/>
          <p:cNvSpPr txBox="1"/>
          <p:nvPr/>
        </p:nvSpPr>
        <p:spPr>
          <a:xfrm>
            <a:off x="2667305" y="9258300"/>
            <a:ext cx="10478110" cy="277063"/>
          </a:xfrm>
          <a:prstGeom prst="rect">
            <a:avLst/>
          </a:prstGeom>
          <a:noFill/>
          <a:ln/>
        </p:spPr>
        <p:txBody>
          <a:bodyPr wrap="none" lIns="0" tIns="0" rIns="0" bIns="0" rtlCol="0" anchor="ctr"/>
          <a:lstStyle/>
          <a:p>
            <a:pPr algn="l" indent="0" marL="0">
              <a:buNone/>
            </a:pPr>
            <a:r>
              <a:rPr lang="en-US" sz="1500" dirty="0">
                <a:solidFill>
                  <a:srgbClr val="211C13"/>
                </a:solidFill>
                <a:latin typeface="Noto Sans JP" pitchFamily="34" charset="0"/>
                <a:ea typeface="Noto Sans JP" pitchFamily="34" charset="-122"/>
                <a:cs typeface="Noto Sans JP" pitchFamily="34" charset="-120"/>
              </a:rPr>
              <a:t>観察 → 仮説 → 1リクエスト。再現できたら控えめに講師を呼んで見せてください。</a:t>
            </a:r>
            <a:endParaRPr lang="en-US" sz="1500" dirty="0"/>
          </a:p>
        </p:txBody>
      </p:sp>
      <p:sp>
        <p:nvSpPr>
          <p:cNvPr id="19" name="Text 14"/>
          <p:cNvSpPr txBox="1"/>
          <p:nvPr/>
        </p:nvSpPr>
        <p:spPr>
          <a:xfrm>
            <a:off x="2667305" y="9562795"/>
            <a:ext cx="9525305" cy="228600"/>
          </a:xfrm>
          <a:prstGeom prst="rect">
            <a:avLst/>
          </a:prstGeom>
          <a:noFill/>
          <a:ln/>
        </p:spPr>
        <p:txBody>
          <a:bodyPr wrap="none" lIns="0" tIns="0" rIns="0" bIns="0" rtlCol="0" anchor="ctr"/>
          <a:lstStyle/>
          <a:p>
            <a:pPr algn="l" indent="0" marL="0">
              <a:buNone/>
            </a:pPr>
            <a:r>
              <a:rPr lang="en-US" sz="1200" spc="72" kern="0" dirty="0">
                <a:solidFill>
                  <a:srgbClr val="5A4F3F"/>
                </a:solidFill>
                <a:latin typeface="JetBrains Mono" pitchFamily="34" charset="0"/>
                <a:ea typeface="JetBrains Mono" pitchFamily="34" charset="-122"/>
                <a:cs typeface="JetBrains Mono" pitchFamily="34" charset="-120"/>
              </a:rPr>
              <a:t>タイマー目安 10分 — 詰まっても、以降のヒントを順に公開します</a:t>
            </a:r>
            <a:endParaRPr lang="en-US" sz="1200" dirty="0"/>
          </a:p>
        </p:txBody>
      </p:sp>
      <p:sp>
        <p:nvSpPr>
          <p:cNvPr id="20" name="Text 15"/>
          <p:cNvSpPr txBox="1"/>
          <p:nvPr/>
        </p:nvSpPr>
        <p:spPr>
          <a:xfrm>
            <a:off x="15468905" y="9562795"/>
            <a:ext cx="1905610" cy="200254"/>
          </a:xfrm>
          <a:prstGeom prst="rect">
            <a:avLst/>
          </a:prstGeom>
          <a:noFill/>
          <a:ln/>
        </p:spPr>
        <p:txBody>
          <a:bodyPr wrap="none" lIns="0" tIns="0" rIns="0" bIns="0" rtlCol="0" anchor="ctr"/>
          <a:lstStyle/>
          <a:p>
            <a:pPr algn="r" indent="0" marL="0">
              <a:buNone/>
            </a:pPr>
            <a:r>
              <a:rPr lang="en-US" sz="1200" spc="72" kern="0" dirty="0">
                <a:solidFill>
                  <a:srgbClr val="5A4F3F"/>
                </a:solidFill>
                <a:latin typeface="JetBrains Mono" pitchFamily="34" charset="0"/>
                <a:ea typeface="JetBrains Mono" pitchFamily="34" charset="-122"/>
                <a:cs typeface="JetBrains Mono" pitchFamily="34" charset="-120"/>
              </a:rPr>
              <a:t>07 / 32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FE7D4"/>
        </a:solidFill>
      </p:bgPr>
    </p:bg>
    <p:spTree>
      <p:nvGrpSpPr>
        <p:cNvPr id="1" name=""/>
        <p:cNvGrpSpPr/>
        <p:nvPr/>
      </p:nvGrpSpPr>
      <p:grpSpPr>
        <a:xfrm>
          <a:off x="0" y="0"/>
          <a:ext cx="0" cy="0"/>
          <a:chOff x="0" y="0"/>
          <a:chExt cx="0" cy="0"/>
        </a:xfrm>
      </p:grpSpPr>
      <p:sp>
        <p:nvSpPr>
          <p:cNvPr id="3" name="Shape 0"/>
          <p:cNvSpPr/>
          <p:nvPr/>
        </p:nvSpPr>
        <p:spPr>
          <a:xfrm>
            <a:off x="0" y="0"/>
            <a:ext cx="1904695" cy="10287000"/>
          </a:xfrm>
          <a:prstGeom prst="rect">
            <a:avLst/>
          </a:prstGeom>
          <a:solidFill>
            <a:srgbClr val="B63A2A"/>
          </a:solidFill>
          <a:ln w="12700">
            <a:solidFill>
              <a:srgbClr val="FFFFFF">
                <a:alpha val="0"/>
              </a:srgbClr>
            </a:solidFill>
            <a:prstDash val="solid"/>
          </a:ln>
        </p:spPr>
      </p:sp>
      <p:sp>
        <p:nvSpPr>
          <p:cNvPr id="4" name="Shape 1"/>
          <p:cNvSpPr/>
          <p:nvPr/>
        </p:nvSpPr>
        <p:spPr>
          <a:xfrm>
            <a:off x="2667305" y="2857500"/>
            <a:ext cx="10477195" cy="6476695"/>
          </a:xfrm>
          <a:prstGeom prst="roundRect">
            <a:avLst>
              <a:gd name="adj" fmla="val 593"/>
            </a:avLst>
          </a:prstGeom>
          <a:solidFill>
            <a:srgbClr val="E5DBC4"/>
          </a:solidFill>
          <a:ln w="12700">
            <a:solidFill>
              <a:srgbClr val="FFFFFF">
                <a:alpha val="0"/>
              </a:srgbClr>
            </a:solidFill>
            <a:prstDash val="solid"/>
          </a:ln>
        </p:spPr>
      </p:sp>
      <p:sp>
        <p:nvSpPr>
          <p:cNvPr id="5" name="Shape 2"/>
          <p:cNvSpPr/>
          <p:nvPr/>
        </p:nvSpPr>
        <p:spPr>
          <a:xfrm>
            <a:off x="13525805" y="2857500"/>
            <a:ext cx="4000500" cy="6476695"/>
          </a:xfrm>
          <a:prstGeom prst="roundRect">
            <a:avLst>
              <a:gd name="adj" fmla="val 960"/>
            </a:avLst>
          </a:prstGeom>
          <a:solidFill>
            <a:srgbClr val="1B1F25"/>
          </a:solidFill>
          <a:ln w="12700">
            <a:solidFill>
              <a:srgbClr val="FFFFFF">
                <a:alpha val="0"/>
              </a:srgbClr>
            </a:solidFill>
            <a:prstDash val="solid"/>
          </a:ln>
        </p:spPr>
      </p:sp>
      <p:sp>
        <p:nvSpPr>
          <p:cNvPr id="6" name="Text 3"/>
          <p:cNvSpPr txBox="1"/>
          <p:nvPr/>
        </p:nvSpPr>
        <p:spPr>
          <a:xfrm>
            <a:off x="228600" y="914400"/>
            <a:ext cx="1524305" cy="171907"/>
          </a:xfrm>
          <a:prstGeom prst="rect">
            <a:avLst/>
          </a:prstGeom>
          <a:noFill/>
          <a:ln/>
        </p:spPr>
        <p:txBody>
          <a:bodyPr wrap="none" lIns="0" tIns="0" rIns="0" bIns="0" rtlCol="0" anchor="ctr"/>
          <a:lstStyle/>
          <a:p>
            <a:pPr algn="l" indent="0" marL="0">
              <a:buNone/>
            </a:pPr>
            <a:r>
              <a:rPr lang="en-US" sz="1050" spc="231" kern="0" dirty="0">
                <a:solidFill>
                  <a:srgbClr val="F5EFDD"/>
                </a:solidFill>
                <a:latin typeface="JetBrains Mono" pitchFamily="34" charset="0"/>
                <a:ea typeface="JetBrains Mono" pitchFamily="34" charset="-122"/>
                <a:cs typeface="JetBrains Mono" pitchFamily="34" charset="-120"/>
              </a:rPr>
              <a:t>HINT</a:t>
            </a:r>
            <a:endParaRPr lang="en-US" sz="1050" dirty="0"/>
          </a:p>
        </p:txBody>
      </p:sp>
      <p:sp>
        <p:nvSpPr>
          <p:cNvPr id="7" name="Text 4"/>
          <p:cNvSpPr txBox="1"/>
          <p:nvPr/>
        </p:nvSpPr>
        <p:spPr>
          <a:xfrm>
            <a:off x="228600" y="1143000"/>
            <a:ext cx="1786738" cy="876910"/>
          </a:xfrm>
          <a:prstGeom prst="rect">
            <a:avLst/>
          </a:prstGeom>
          <a:noFill/>
          <a:ln/>
        </p:spPr>
        <p:txBody>
          <a:bodyPr wrap="none" lIns="0" tIns="0" rIns="0" bIns="0" rtlCol="0" anchor="ctr"/>
          <a:lstStyle/>
          <a:p>
            <a:pPr algn="l" indent="0" marL="0">
              <a:buNone/>
            </a:pPr>
            <a:r>
              <a:rPr lang="en-US" sz="7200" b="1" spc="-144" kern="0" dirty="0">
                <a:solidFill>
                  <a:srgbClr val="F5EFDD"/>
                </a:solidFill>
                <a:latin typeface="Zen Kaku Gothic Antique" pitchFamily="34" charset="0"/>
                <a:ea typeface="Zen Kaku Gothic Antique" pitchFamily="34" charset="-122"/>
                <a:cs typeface="Zen Kaku Gothic Antique" pitchFamily="34" charset="-120"/>
              </a:rPr>
              <a:t>1/3</a:t>
            </a:r>
            <a:endParaRPr lang="en-US" sz="7200" dirty="0"/>
          </a:p>
        </p:txBody>
      </p:sp>
      <p:pic>
        <p:nvPicPr>
          <p:cNvPr id="8" name="Image 0" descr="gen-dedup-2173e259c8f89e09f8a89067735d6b02.png">    </p:cNvPr>
          <p:cNvPicPr>
            <a:picLocks noChangeAspect="1"/>
          </p:cNvPicPr>
          <p:nvPr/>
        </p:nvPicPr>
        <p:blipFill>
          <a:blip r:embed="rId1"/>
          <a:srcRect l="-404" r="-404" t="0" b="0"/>
          <a:stretch/>
        </p:blipFill>
        <p:spPr>
          <a:xfrm>
            <a:off x="228600" y="2182673"/>
            <a:ext cx="571500" cy="28346"/>
          </a:xfrm>
          <a:prstGeom prst="rect">
            <a:avLst/>
          </a:prstGeom>
        </p:spPr>
      </p:pic>
      <p:sp>
        <p:nvSpPr>
          <p:cNvPr id="9" name="Text 5"/>
          <p:cNvSpPr txBox="1"/>
          <p:nvPr/>
        </p:nvSpPr>
        <p:spPr>
          <a:xfrm>
            <a:off x="2971800" y="3143707"/>
            <a:ext cx="9906610" cy="171907"/>
          </a:xfrm>
          <a:prstGeom prst="rect">
            <a:avLst/>
          </a:prstGeom>
          <a:noFill/>
          <a:ln/>
        </p:spPr>
        <p:txBody>
          <a:bodyPr wrap="none" lIns="0" tIns="0" rIns="0" bIns="0" rtlCol="0" anchor="ctr"/>
          <a:lstStyle/>
          <a:p>
            <a:pPr algn="l" indent="0" marL="0">
              <a:buNone/>
            </a:pPr>
            <a:r>
              <a:rPr lang="en-US" sz="1050" spc="189" kern="0" dirty="0">
                <a:solidFill>
                  <a:srgbClr val="B63A2A"/>
                </a:solidFill>
                <a:latin typeface="JetBrains Mono" pitchFamily="34" charset="0"/>
                <a:ea typeface="JetBrains Mono" pitchFamily="34" charset="-122"/>
                <a:cs typeface="JetBrains Mono" pitchFamily="34" charset="-120"/>
              </a:rPr>
              <a:t>STEP</a:t>
            </a:r>
            <a:endParaRPr lang="en-US" sz="1050" dirty="0"/>
          </a:p>
        </p:txBody>
      </p:sp>
      <p:sp>
        <p:nvSpPr>
          <p:cNvPr id="10" name="Text 6"/>
          <p:cNvSpPr txBox="1"/>
          <p:nvPr/>
        </p:nvSpPr>
        <p:spPr>
          <a:xfrm>
            <a:off x="2971800" y="3390595"/>
            <a:ext cx="9906610" cy="438912"/>
          </a:xfrm>
          <a:prstGeom prst="rect">
            <a:avLst/>
          </a:prstGeom>
          <a:noFill/>
          <a:ln/>
        </p:spPr>
        <p:txBody>
          <a:bodyPr wrap="none" lIns="0" tIns="0" rIns="0" bIns="0" rtlCol="0" anchor="ctr"/>
          <a:lstStyle/>
          <a:p>
            <a:pPr algn="l" indent="0" marL="0">
              <a:buNone/>
            </a:pPr>
            <a:r>
              <a:rPr lang="en-US" sz="2850" b="1" dirty="0">
                <a:solidFill>
                  <a:srgbClr val="211C13"/>
                </a:solidFill>
                <a:latin typeface="Noto Sans JP" pitchFamily="34" charset="0"/>
                <a:ea typeface="Noto Sans JP" pitchFamily="34" charset="-122"/>
                <a:cs typeface="Noto Sans JP" pitchFamily="34" charset="-120"/>
              </a:rPr>
              <a:t>やみくもに送らず、リクエストの形を見る。</a:t>
            </a:r>
            <a:endParaRPr lang="en-US" sz="2850" dirty="0"/>
          </a:p>
        </p:txBody>
      </p:sp>
      <p:sp>
        <p:nvSpPr>
          <p:cNvPr id="11" name="Text 7"/>
          <p:cNvSpPr txBox="1"/>
          <p:nvPr/>
        </p:nvSpPr>
        <p:spPr>
          <a:xfrm>
            <a:off x="2971800" y="4053535"/>
            <a:ext cx="9906610" cy="362102"/>
          </a:xfrm>
          <a:prstGeom prst="rect">
            <a:avLst/>
          </a:prstGeom>
          <a:noFill/>
          <a:ln/>
        </p:spPr>
        <p:txBody>
          <a:bodyPr wrap="none" lIns="0" tIns="0" rIns="0" bIns="0" rtlCol="0" anchor="ctr"/>
          <a:lstStyle/>
          <a:p>
            <a:pPr algn="l" indent="0" marL="0">
              <a:buNone/>
            </a:pPr>
            <a:r>
              <a:rPr lang="en-US" sz="1800" dirty="0">
                <a:solidFill>
                  <a:srgbClr val="211C13"/>
                </a:solidFill>
                <a:latin typeface="Noto Sans JP" pitchFamily="34" charset="0"/>
                <a:ea typeface="Noto Sans JP" pitchFamily="34" charset="-122"/>
                <a:cs typeface="Noto Sans JP" pitchFamily="34" charset="-120"/>
              </a:rPr>
              <a:t>通常検索を1回、DevTools の Network タブで観察：</a:t>
            </a:r>
            <a:endParaRPr lang="en-US" sz="1800" dirty="0"/>
          </a:p>
        </p:txBody>
      </p:sp>
      <p:sp>
        <p:nvSpPr>
          <p:cNvPr id="12" name="Text 8"/>
          <p:cNvSpPr txBox="1"/>
          <p:nvPr/>
        </p:nvSpPr>
        <p:spPr>
          <a:xfrm>
            <a:off x="2998622" y="4527194"/>
            <a:ext cx="9887102" cy="1127455"/>
          </a:xfrm>
          <a:prstGeom prst="rect">
            <a:avLst/>
          </a:prstGeom>
          <a:noFill/>
          <a:ln/>
        </p:spPr>
        <p:txBody>
          <a:bodyPr wrap="square" lIns="0" tIns="0" rIns="0" bIns="0" rtlCol="0" anchor="t"/>
          <a:lstStyle/>
          <a:p>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URL のクエリ文字列は何が載っているか</a:t>
            </a:r>
            <a:pPr algn="l" marL="266700" indent="-266700">
              <a:lnSpc>
                <a:spcPts val="2805"/>
              </a:lnSpc>
              <a:buSzPct val="100000"/>
              <a:buChar char="•"/>
            </a:pPr>
            <a:endParaRPr lang="en-US" sz="1650" dirty="0"/>
          </a:p>
          <a:p>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リクエスト本文（Body）に何かを書いているか</a:t>
            </a:r>
            <a:pPr algn="l" marL="266700" indent="-266700">
              <a:lnSpc>
                <a:spcPts val="2805"/>
              </a:lnSpc>
              <a:buSzPct val="100000"/>
              <a:buChar char="•"/>
            </a:pPr>
            <a:endParaRPr lang="en-US" sz="1650" dirty="0"/>
          </a:p>
          <a:p>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レスポンスの形（配列？件数つき？）</a:t>
            </a:r>
            <a:endParaRPr lang="en-US" sz="1650" dirty="0"/>
          </a:p>
        </p:txBody>
      </p:sp>
      <p:sp>
        <p:nvSpPr>
          <p:cNvPr id="13" name="Text 9"/>
          <p:cNvSpPr txBox="1"/>
          <p:nvPr/>
        </p:nvSpPr>
        <p:spPr>
          <a:xfrm>
            <a:off x="2971800" y="5934456"/>
            <a:ext cx="9906610" cy="228600"/>
          </a:xfrm>
          <a:prstGeom prst="rect">
            <a:avLst/>
          </a:prstGeom>
          <a:noFill/>
          <a:ln/>
        </p:spPr>
        <p:txBody>
          <a:bodyPr wrap="none" lIns="0" tIns="0" rIns="0" bIns="0" rtlCol="0" anchor="ctr"/>
          <a:lstStyle/>
          <a:p>
            <a:pPr algn="l" indent="0" marL="0">
              <a:buNone/>
            </a:pPr>
            <a:r>
              <a:rPr lang="en-US" sz="1200" spc="72" kern="0" dirty="0">
                <a:solidFill>
                  <a:srgbClr val="5A4F3F"/>
                </a:solidFill>
                <a:latin typeface="JetBrains Mono" pitchFamily="34" charset="0"/>
                <a:ea typeface="JetBrains Mono" pitchFamily="34" charset="-122"/>
                <a:cs typeface="JetBrains Mono" pitchFamily="34" charset="-120"/>
              </a:rPr>
              <a:t>ヒント：本文は Base64 かもしれません — 暗号化や難読化ではなく、 ペイロードの確認手段です（必要なとき講師が補足）</a:t>
            </a:r>
            <a:endParaRPr lang="en-US" sz="1200" dirty="0"/>
          </a:p>
        </p:txBody>
      </p:sp>
      <p:sp>
        <p:nvSpPr>
          <p:cNvPr id="14" name="Text 10"/>
          <p:cNvSpPr txBox="1"/>
          <p:nvPr/>
        </p:nvSpPr>
        <p:spPr>
          <a:xfrm>
            <a:off x="13830300" y="3143707"/>
            <a:ext cx="3429000" cy="191110"/>
          </a:xfrm>
          <a:prstGeom prst="rect">
            <a:avLst/>
          </a:prstGeom>
          <a:noFill/>
          <a:ln/>
        </p:spPr>
        <p:txBody>
          <a:bodyPr wrap="none" lIns="0" tIns="0" rIns="0" bIns="0" rtlCol="0" anchor="ctr"/>
          <a:lstStyle/>
          <a:p>
            <a:pPr algn="l" indent="0" marL="0">
              <a:buNone/>
            </a:pPr>
            <a:r>
              <a:rPr lang="en-US" sz="1050" spc="189" kern="0" dirty="0">
                <a:solidFill>
                  <a:srgbClr val="D4922A"/>
                </a:solidFill>
                <a:latin typeface="JetBrains Mono" pitchFamily="34" charset="0"/>
                <a:ea typeface="JetBrains Mono" pitchFamily="34" charset="-122"/>
                <a:cs typeface="JetBrains Mono" pitchFamily="34" charset="-120"/>
              </a:rPr>
              <a:t>観察メモ</a:t>
            </a:r>
            <a:endParaRPr lang="en-US" sz="1050" dirty="0"/>
          </a:p>
        </p:txBody>
      </p:sp>
      <p:sp>
        <p:nvSpPr>
          <p:cNvPr id="15" name="Text 11"/>
          <p:cNvSpPr txBox="1"/>
          <p:nvPr/>
        </p:nvSpPr>
        <p:spPr>
          <a:xfrm>
            <a:off x="13830300" y="3429000"/>
            <a:ext cx="3429000" cy="1258214"/>
          </a:xfrm>
          <a:prstGeom prst="rect">
            <a:avLst/>
          </a:prstGeom>
          <a:noFill/>
          <a:ln/>
        </p:spPr>
        <p:txBody>
          <a:bodyPr wrap="square" lIns="0" tIns="0" rIns="0" bIns="0" rtlCol="0" anchor="t"/>
          <a:lstStyle/>
          <a:p>
            <a:pPr algn="l" indent="0" marL="0">
              <a:lnSpc>
                <a:spcPts val="2400"/>
              </a:lnSpc>
              <a:buNone/>
            </a:pPr>
            <a:r>
              <a:rPr lang="en-US" sz="1500" dirty="0">
                <a:solidFill>
                  <a:srgbClr val="F5EFDD"/>
                </a:solidFill>
                <a:latin typeface="Noto Sans JP" pitchFamily="34" charset="0"/>
                <a:ea typeface="Noto Sans JP" pitchFamily="34" charset="-122"/>
                <a:cs typeface="Noto Sans JP" pitchFamily="34" charset="-120"/>
              </a:rPr>
              <a:t>講師が後ろから進捗を見て補助します。</a:t>
            </a:r>
            <a:pPr algn="l" indent="0" marL="0">
              <a:lnSpc>
                <a:spcPts val="2400"/>
              </a:lnSpc>
              <a:buNone/>
            </a:pPr>
            <a:endParaRPr lang="en-US" sz="1500" dirty="0"/>
          </a:p>
          <a:p>
            <a:pPr algn="l" indent="0" marL="0">
              <a:lnSpc>
                <a:spcPts val="2400"/>
              </a:lnSpc>
              <a:buNone/>
            </a:pPr>
            <a:r>
              <a:rPr lang="en-US" sz="1500" dirty="0">
                <a:solidFill>
                  <a:srgbClr val="F5EFDD"/>
                </a:solidFill>
                <a:latin typeface="Noto Sans JP" pitchFamily="34" charset="0"/>
                <a:ea typeface="Noto Sans JP" pitchFamily="34" charset="-122"/>
                <a:cs typeface="Noto Sans JP" pitchFamily="34" charset="-120"/>
              </a:rPr>
              <a:t>観察した URL とレスポンスの JSON 形を、</a:t>
            </a:r>
            <a:pPr algn="l" indent="0" marL="0">
              <a:lnSpc>
                <a:spcPts val="2400"/>
              </a:lnSpc>
              <a:buNone/>
            </a:pPr>
            <a:endParaRPr lang="en-US" sz="1500" dirty="0"/>
          </a:p>
          <a:p>
            <a:pPr algn="l" indent="0" marL="0">
              <a:lnSpc>
                <a:spcPts val="2400"/>
              </a:lnSpc>
              <a:buNone/>
            </a:pPr>
            <a:r>
              <a:rPr lang="en-US" sz="1500" dirty="0">
                <a:solidFill>
                  <a:srgbClr val="F5EFDD"/>
                </a:solidFill>
                <a:latin typeface="Noto Sans JP" pitchFamily="34" charset="0"/>
                <a:ea typeface="Noto Sans JP" pitchFamily="34" charset="-122"/>
                <a:cs typeface="Noto Sans JP" pitchFamily="34" charset="-120"/>
              </a:rPr>
              <a:t>メモしておくと後で活きます。</a:t>
            </a:r>
            <a:endParaRPr lang="en-US" sz="1500" dirty="0"/>
          </a:p>
        </p:txBody>
      </p:sp>
      <p:sp>
        <p:nvSpPr>
          <p:cNvPr id="16" name="Text 12"/>
          <p:cNvSpPr txBox="1"/>
          <p:nvPr/>
        </p:nvSpPr>
        <p:spPr>
          <a:xfrm>
            <a:off x="13830300" y="4990795"/>
            <a:ext cx="3429000" cy="171907"/>
          </a:xfrm>
          <a:prstGeom prst="rect">
            <a:avLst/>
          </a:prstGeom>
          <a:noFill/>
          <a:ln/>
        </p:spPr>
        <p:txBody>
          <a:bodyPr wrap="none" lIns="0" tIns="0" rIns="0" bIns="0" rtlCol="0" anchor="ctr"/>
          <a:lstStyle/>
          <a:p>
            <a:pPr algn="l" indent="0" marL="0">
              <a:buNone/>
            </a:pPr>
            <a:r>
              <a:rPr lang="en-US" sz="1050" spc="189" kern="0" dirty="0">
                <a:solidFill>
                  <a:srgbClr val="D4922A"/>
                </a:solidFill>
                <a:latin typeface="JetBrains Mono" pitchFamily="34" charset="0"/>
                <a:ea typeface="JetBrains Mono" pitchFamily="34" charset="-122"/>
                <a:cs typeface="JetBrains Mono" pitchFamily="34" charset="-120"/>
              </a:rPr>
              <a:t>WHERE TO LOOK</a:t>
            </a:r>
            <a:endParaRPr lang="en-US" sz="1050" dirty="0"/>
          </a:p>
        </p:txBody>
      </p:sp>
      <p:sp>
        <p:nvSpPr>
          <p:cNvPr id="17" name="Text 13"/>
          <p:cNvSpPr txBox="1"/>
          <p:nvPr/>
        </p:nvSpPr>
        <p:spPr>
          <a:xfrm>
            <a:off x="13830300" y="5263286"/>
            <a:ext cx="3429000" cy="918972"/>
          </a:xfrm>
          <a:prstGeom prst="rect">
            <a:avLst/>
          </a:prstGeom>
          <a:noFill/>
          <a:ln/>
        </p:spPr>
        <p:txBody>
          <a:bodyPr wrap="square" lIns="0" tIns="0" rIns="0" bIns="0" rtlCol="0" anchor="t"/>
          <a:lstStyle/>
          <a:p>
            <a:pPr algn="l" indent="0" marL="0">
              <a:lnSpc>
                <a:spcPts val="2325"/>
              </a:lnSpc>
              <a:buNone/>
            </a:pPr>
            <a:r>
              <a:rPr lang="en-US" sz="1500" dirty="0">
                <a:solidFill>
                  <a:srgbClr val="ECE4D2"/>
                </a:solidFill>
                <a:latin typeface="JetBrains Mono" pitchFamily="34" charset="0"/>
                <a:ea typeface="JetBrains Mono" pitchFamily="34" charset="-122"/>
                <a:cs typeface="JetBrains Mono" pitchFamily="34" charset="-120"/>
              </a:rPr>
              <a:t>Network → Headers</a:t>
            </a:r>
            <a:pPr algn="l" indent="0" marL="0">
              <a:lnSpc>
                <a:spcPts val="2325"/>
              </a:lnSpc>
              <a:buNone/>
            </a:pPr>
            <a:endParaRPr lang="en-US" sz="1500" dirty="0"/>
          </a:p>
          <a:p>
            <a:pPr algn="l" indent="0" marL="0">
              <a:lnSpc>
                <a:spcPts val="2325"/>
              </a:lnSpc>
              <a:buNone/>
            </a:pPr>
            <a:r>
              <a:rPr lang="en-US" sz="1500" dirty="0">
                <a:solidFill>
                  <a:srgbClr val="ECE4D2"/>
                </a:solidFill>
                <a:latin typeface="JetBrains Mono" pitchFamily="34" charset="0"/>
                <a:ea typeface="JetBrains Mono" pitchFamily="34" charset="-122"/>
                <a:cs typeface="JetBrains Mono" pitchFamily="34" charset="-120"/>
              </a:rPr>
              <a:t>Network → Payload</a:t>
            </a:r>
            <a:pPr algn="l" indent="0" marL="0">
              <a:lnSpc>
                <a:spcPts val="2325"/>
              </a:lnSpc>
              <a:buNone/>
            </a:pPr>
            <a:endParaRPr lang="en-US" sz="1500" dirty="0"/>
          </a:p>
          <a:p>
            <a:pPr algn="l" indent="0" marL="0">
              <a:lnSpc>
                <a:spcPts val="2325"/>
              </a:lnSpc>
              <a:buNone/>
            </a:pPr>
            <a:r>
              <a:rPr lang="en-US" sz="1500" dirty="0">
                <a:solidFill>
                  <a:srgbClr val="ECE4D2"/>
                </a:solidFill>
                <a:latin typeface="JetBrains Mono" pitchFamily="34" charset="0"/>
                <a:ea typeface="JetBrains Mono" pitchFamily="34" charset="-122"/>
                <a:cs typeface="JetBrains Mono" pitchFamily="34" charset="-120"/>
              </a:rPr>
              <a:t>Network → Response</a:t>
            </a:r>
            <a:endParaRPr lang="en-US" sz="1500" dirty="0"/>
          </a:p>
        </p:txBody>
      </p:sp>
      <p:pic>
        <p:nvPicPr>
          <p:cNvPr id="18" name="Image 1" descr="gen-dedup-ff3b843c62efd2578b331bdfc9bb7c8f.png">    </p:cNvPr>
          <p:cNvPicPr>
            <a:picLocks noChangeAspect="1"/>
          </p:cNvPicPr>
          <p:nvPr/>
        </p:nvPicPr>
        <p:blipFill>
          <a:blip r:embed="rId2"/>
          <a:srcRect l="-2083" r="-2083" t="0" b="0"/>
          <a:stretch/>
        </p:blipFill>
        <p:spPr>
          <a:xfrm>
            <a:off x="914400" y="9334195"/>
            <a:ext cx="16459200" cy="9144"/>
          </a:xfrm>
          <a:prstGeom prst="rect">
            <a:avLst/>
          </a:prstGeom>
        </p:spPr>
      </p:pic>
      <p:sp>
        <p:nvSpPr>
          <p:cNvPr id="19" name="Text 14"/>
          <p:cNvSpPr txBox="1"/>
          <p:nvPr/>
        </p:nvSpPr>
        <p:spPr>
          <a:xfrm>
            <a:off x="2667305" y="914400"/>
            <a:ext cx="14287500" cy="219456"/>
          </a:xfrm>
          <a:prstGeom prst="rect">
            <a:avLst/>
          </a:prstGeom>
          <a:noFill/>
          <a:ln/>
        </p:spPr>
        <p:txBody>
          <a:bodyPr wrap="none" lIns="0" tIns="0" rIns="0" bIns="0" rtlCol="0" anchor="ctr"/>
          <a:lstStyle/>
          <a:p>
            <a:pPr algn="l" indent="0" marL="0">
              <a:buNone/>
            </a:pPr>
            <a:r>
              <a:rPr lang="en-US" sz="1350" spc="324" kern="0" dirty="0">
                <a:solidFill>
                  <a:srgbClr val="B63A2A"/>
                </a:solidFill>
                <a:latin typeface="JetBrains Mono" pitchFamily="34" charset="0"/>
                <a:ea typeface="JetBrains Mono" pitchFamily="34" charset="-122"/>
                <a:cs typeface="JetBrains Mono" pitchFamily="34" charset="-120"/>
              </a:rPr>
              <a:t>Hint · 1 of 3</a:t>
            </a:r>
            <a:endParaRPr lang="en-US" sz="1350" dirty="0"/>
          </a:p>
        </p:txBody>
      </p:sp>
      <p:sp>
        <p:nvSpPr>
          <p:cNvPr id="20" name="Text 15"/>
          <p:cNvSpPr txBox="1"/>
          <p:nvPr/>
        </p:nvSpPr>
        <p:spPr>
          <a:xfrm>
            <a:off x="2667305" y="1228954"/>
            <a:ext cx="14287500" cy="838505"/>
          </a:xfrm>
          <a:prstGeom prst="rect">
            <a:avLst/>
          </a:prstGeom>
          <a:noFill/>
          <a:ln/>
        </p:spPr>
        <p:txBody>
          <a:bodyPr wrap="none" lIns="0" tIns="0" rIns="0" bIns="0" rtlCol="0" anchor="ctr"/>
          <a:lstStyle/>
          <a:p>
            <a:pPr algn="l" indent="0" marL="0">
              <a:buNone/>
            </a:pPr>
            <a:r>
              <a:rPr lang="en-US" sz="6600" b="1" spc="-132" kern="0" dirty="0">
                <a:solidFill>
                  <a:srgbClr val="211C13"/>
                </a:solidFill>
                <a:latin typeface="Zen Kaku Gothic Antique" pitchFamily="34" charset="0"/>
                <a:ea typeface="Zen Kaku Gothic Antique" pitchFamily="34" charset="-122"/>
                <a:cs typeface="Zen Kaku Gothic Antique" pitchFamily="34" charset="-120"/>
              </a:rPr>
              <a:t>まず観察だけ。</a:t>
            </a:r>
            <a:endParaRPr lang="en-US" sz="6600" dirty="0"/>
          </a:p>
        </p:txBody>
      </p:sp>
      <p:sp>
        <p:nvSpPr>
          <p:cNvPr id="21" name="Text 16"/>
          <p:cNvSpPr txBox="1"/>
          <p:nvPr/>
        </p:nvSpPr>
        <p:spPr>
          <a:xfrm>
            <a:off x="2667305" y="9562795"/>
            <a:ext cx="9525305" cy="228600"/>
          </a:xfrm>
          <a:prstGeom prst="rect">
            <a:avLst/>
          </a:prstGeom>
          <a:noFill/>
          <a:ln/>
        </p:spPr>
        <p:txBody>
          <a:bodyPr wrap="none" lIns="0" tIns="0" rIns="0" bIns="0" rtlCol="0" anchor="ctr"/>
          <a:lstStyle/>
          <a:p>
            <a:pPr algn="l" indent="0" marL="0">
              <a:buNone/>
            </a:pPr>
            <a:r>
              <a:rPr lang="en-US" sz="1200" spc="72" kern="0" dirty="0">
                <a:solidFill>
                  <a:srgbClr val="5A4F3F"/>
                </a:solidFill>
                <a:latin typeface="JetBrains Mono" pitchFamily="34" charset="0"/>
                <a:ea typeface="JetBrains Mono" pitchFamily="34" charset="-122"/>
                <a:cs typeface="JetBrains Mono" pitchFamily="34" charset="-120"/>
              </a:rPr>
              <a:t>ヒント2/3 と 3/3 は、参加者の状況を見て順次公開</a:t>
            </a:r>
            <a:endParaRPr lang="en-US" sz="1200" dirty="0"/>
          </a:p>
        </p:txBody>
      </p:sp>
      <p:sp>
        <p:nvSpPr>
          <p:cNvPr id="22" name="Text 17"/>
          <p:cNvSpPr txBox="1"/>
          <p:nvPr/>
        </p:nvSpPr>
        <p:spPr>
          <a:xfrm>
            <a:off x="15468905" y="9562795"/>
            <a:ext cx="1905610" cy="200254"/>
          </a:xfrm>
          <a:prstGeom prst="rect">
            <a:avLst/>
          </a:prstGeom>
          <a:noFill/>
          <a:ln/>
        </p:spPr>
        <p:txBody>
          <a:bodyPr wrap="none" lIns="0" tIns="0" rIns="0" bIns="0" rtlCol="0" anchor="ctr"/>
          <a:lstStyle/>
          <a:p>
            <a:pPr algn="r" indent="0" marL="0">
              <a:buNone/>
            </a:pPr>
            <a:r>
              <a:rPr lang="en-US" sz="1200" spc="72" kern="0" dirty="0">
                <a:solidFill>
                  <a:srgbClr val="5A4F3F"/>
                </a:solidFill>
                <a:latin typeface="JetBrains Mono" pitchFamily="34" charset="0"/>
                <a:ea typeface="JetBrains Mono" pitchFamily="34" charset="-122"/>
                <a:cs typeface="JetBrains Mono" pitchFamily="34" charset="-120"/>
              </a:rPr>
              <a:t>08 / 32</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FE7D4"/>
        </a:solidFill>
      </p:bgPr>
    </p:bg>
    <p:spTree>
      <p:nvGrpSpPr>
        <p:cNvPr id="1" name=""/>
        <p:cNvGrpSpPr/>
        <p:nvPr/>
      </p:nvGrpSpPr>
      <p:grpSpPr>
        <a:xfrm>
          <a:off x="0" y="0"/>
          <a:ext cx="0" cy="0"/>
          <a:chOff x="0" y="0"/>
          <a:chExt cx="0" cy="0"/>
        </a:xfrm>
      </p:grpSpPr>
      <p:sp>
        <p:nvSpPr>
          <p:cNvPr id="3" name="Shape 0"/>
          <p:cNvSpPr/>
          <p:nvPr/>
        </p:nvSpPr>
        <p:spPr>
          <a:xfrm>
            <a:off x="0" y="0"/>
            <a:ext cx="1904695" cy="10287000"/>
          </a:xfrm>
          <a:prstGeom prst="rect">
            <a:avLst/>
          </a:prstGeom>
          <a:solidFill>
            <a:srgbClr val="B63A2A"/>
          </a:solidFill>
          <a:ln w="12700">
            <a:solidFill>
              <a:srgbClr val="FFFFFF">
                <a:alpha val="0"/>
              </a:srgbClr>
            </a:solidFill>
            <a:prstDash val="solid"/>
          </a:ln>
        </p:spPr>
      </p:sp>
      <p:sp>
        <p:nvSpPr>
          <p:cNvPr id="4" name="Shape 1"/>
          <p:cNvSpPr/>
          <p:nvPr/>
        </p:nvSpPr>
        <p:spPr>
          <a:xfrm>
            <a:off x="2667305" y="2857500"/>
            <a:ext cx="10477195" cy="6476695"/>
          </a:xfrm>
          <a:prstGeom prst="roundRect">
            <a:avLst>
              <a:gd name="adj" fmla="val 593"/>
            </a:avLst>
          </a:prstGeom>
          <a:solidFill>
            <a:srgbClr val="E5DBC4"/>
          </a:solidFill>
          <a:ln w="12700">
            <a:solidFill>
              <a:srgbClr val="FFFFFF">
                <a:alpha val="0"/>
              </a:srgbClr>
            </a:solidFill>
            <a:prstDash val="solid"/>
          </a:ln>
        </p:spPr>
      </p:sp>
      <p:sp>
        <p:nvSpPr>
          <p:cNvPr id="5" name="Shape 2"/>
          <p:cNvSpPr/>
          <p:nvPr/>
        </p:nvSpPr>
        <p:spPr>
          <a:xfrm>
            <a:off x="13525805" y="2857500"/>
            <a:ext cx="4000500" cy="6476695"/>
          </a:xfrm>
          <a:prstGeom prst="roundRect">
            <a:avLst>
              <a:gd name="adj" fmla="val 960"/>
            </a:avLst>
          </a:prstGeom>
          <a:solidFill>
            <a:srgbClr val="1B1F25"/>
          </a:solidFill>
          <a:ln w="12700">
            <a:solidFill>
              <a:srgbClr val="FFFFFF">
                <a:alpha val="0"/>
              </a:srgbClr>
            </a:solidFill>
            <a:prstDash val="solid"/>
          </a:ln>
        </p:spPr>
      </p:sp>
      <p:sp>
        <p:nvSpPr>
          <p:cNvPr id="6" name="Text 3"/>
          <p:cNvSpPr txBox="1"/>
          <p:nvPr/>
        </p:nvSpPr>
        <p:spPr>
          <a:xfrm>
            <a:off x="228600" y="914400"/>
            <a:ext cx="1524305" cy="171907"/>
          </a:xfrm>
          <a:prstGeom prst="rect">
            <a:avLst/>
          </a:prstGeom>
          <a:noFill/>
          <a:ln/>
        </p:spPr>
        <p:txBody>
          <a:bodyPr wrap="none" lIns="0" tIns="0" rIns="0" bIns="0" rtlCol="0" anchor="ctr"/>
          <a:lstStyle/>
          <a:p>
            <a:pPr algn="l" indent="0" marL="0">
              <a:buNone/>
            </a:pPr>
            <a:r>
              <a:rPr lang="en-US" sz="1050" spc="231" kern="0" dirty="0">
                <a:solidFill>
                  <a:srgbClr val="F5EFDD"/>
                </a:solidFill>
                <a:latin typeface="JetBrains Mono" pitchFamily="34" charset="0"/>
                <a:ea typeface="JetBrains Mono" pitchFamily="34" charset="-122"/>
                <a:cs typeface="JetBrains Mono" pitchFamily="34" charset="-120"/>
              </a:rPr>
              <a:t>HINT</a:t>
            </a:r>
            <a:endParaRPr lang="en-US" sz="1050" dirty="0"/>
          </a:p>
        </p:txBody>
      </p:sp>
      <p:sp>
        <p:nvSpPr>
          <p:cNvPr id="7" name="Text 4"/>
          <p:cNvSpPr txBox="1"/>
          <p:nvPr/>
        </p:nvSpPr>
        <p:spPr>
          <a:xfrm>
            <a:off x="228600" y="1143000"/>
            <a:ext cx="1786738" cy="876910"/>
          </a:xfrm>
          <a:prstGeom prst="rect">
            <a:avLst/>
          </a:prstGeom>
          <a:noFill/>
          <a:ln/>
        </p:spPr>
        <p:txBody>
          <a:bodyPr wrap="none" lIns="0" tIns="0" rIns="0" bIns="0" rtlCol="0" anchor="ctr"/>
          <a:lstStyle/>
          <a:p>
            <a:pPr algn="l" indent="0" marL="0">
              <a:buNone/>
            </a:pPr>
            <a:r>
              <a:rPr lang="en-US" sz="7200" b="1" spc="-144" kern="0" dirty="0">
                <a:solidFill>
                  <a:srgbClr val="F5EFDD"/>
                </a:solidFill>
                <a:latin typeface="Zen Kaku Gothic Antique" pitchFamily="34" charset="0"/>
                <a:ea typeface="Zen Kaku Gothic Antique" pitchFamily="34" charset="-122"/>
                <a:cs typeface="Zen Kaku Gothic Antique" pitchFamily="34" charset="-120"/>
              </a:rPr>
              <a:t>2/3</a:t>
            </a:r>
            <a:endParaRPr lang="en-US" sz="7200" dirty="0"/>
          </a:p>
        </p:txBody>
      </p:sp>
      <p:pic>
        <p:nvPicPr>
          <p:cNvPr id="8" name="Image 0" descr="gen-dedup-2173e259c8f89e09f8a89067735d6b02.png">    </p:cNvPr>
          <p:cNvPicPr>
            <a:picLocks noChangeAspect="1"/>
          </p:cNvPicPr>
          <p:nvPr/>
        </p:nvPicPr>
        <p:blipFill>
          <a:blip r:embed="rId1"/>
          <a:srcRect l="-404" r="-404" t="0" b="0"/>
          <a:stretch/>
        </p:blipFill>
        <p:spPr>
          <a:xfrm>
            <a:off x="228600" y="2182673"/>
            <a:ext cx="571500" cy="28346"/>
          </a:xfrm>
          <a:prstGeom prst="rect">
            <a:avLst/>
          </a:prstGeom>
        </p:spPr>
      </p:pic>
      <p:sp>
        <p:nvSpPr>
          <p:cNvPr id="9" name="Text 5"/>
          <p:cNvSpPr txBox="1"/>
          <p:nvPr/>
        </p:nvSpPr>
        <p:spPr>
          <a:xfrm>
            <a:off x="2971800" y="3143707"/>
            <a:ext cx="9906610" cy="191110"/>
          </a:xfrm>
          <a:prstGeom prst="rect">
            <a:avLst/>
          </a:prstGeom>
          <a:noFill/>
          <a:ln/>
        </p:spPr>
        <p:txBody>
          <a:bodyPr wrap="none" lIns="0" tIns="0" rIns="0" bIns="0" rtlCol="0" anchor="ctr"/>
          <a:lstStyle/>
          <a:p>
            <a:pPr algn="l" indent="0" marL="0">
              <a:buNone/>
            </a:pPr>
            <a:r>
              <a:rPr lang="en-US" sz="1050" spc="189" kern="0" dirty="0">
                <a:solidFill>
                  <a:srgbClr val="B63A2A"/>
                </a:solidFill>
                <a:latin typeface="JetBrains Mono" pitchFamily="34" charset="0"/>
                <a:ea typeface="JetBrains Mono" pitchFamily="34" charset="-122"/>
                <a:cs typeface="JetBrains Mono" pitchFamily="34" charset="-120"/>
              </a:rPr>
              <a:t>TRY · 効く書き換えばかりではありません</a:t>
            </a:r>
            <a:endParaRPr lang="en-US" sz="1050" dirty="0"/>
          </a:p>
        </p:txBody>
      </p:sp>
      <p:sp>
        <p:nvSpPr>
          <p:cNvPr id="10" name="Text 6"/>
          <p:cNvSpPr txBox="1"/>
          <p:nvPr/>
        </p:nvSpPr>
        <p:spPr>
          <a:xfrm>
            <a:off x="2971800" y="3461918"/>
            <a:ext cx="9906610" cy="814730"/>
          </a:xfrm>
          <a:prstGeom prst="rect">
            <a:avLst/>
          </a:prstGeom>
          <a:noFill/>
          <a:ln/>
        </p:spPr>
        <p:txBody>
          <a:bodyPr wrap="square" lIns="0" tIns="0" rIns="0" bIns="0" rtlCol="0" anchor="t"/>
          <a:lstStyle/>
          <a:p>
            <a:pPr algn="l" indent="0" marL="0">
              <a:lnSpc>
                <a:spcPts val="3023"/>
              </a:lnSpc>
              <a:buNone/>
            </a:pPr>
            <a:r>
              <a:rPr lang="en-US" sz="1950" dirty="0">
                <a:solidFill>
                  <a:srgbClr val="211C13"/>
                </a:solidFill>
                <a:latin typeface="Noto Sans JP" pitchFamily="34" charset="0"/>
                <a:ea typeface="Noto Sans JP" pitchFamily="34" charset="-122"/>
                <a:cs typeface="Noto Sans JP" pitchFamily="34" charset="-120"/>
              </a:rPr>
              <a:t>サーバー側がどこかで文字列を連結していると仮定して、</a:t>
            </a:r>
            <a:pPr algn="l" indent="0" marL="0">
              <a:lnSpc>
                <a:spcPts val="3023"/>
              </a:lnSpc>
              <a:buNone/>
            </a:pPr>
            <a:endParaRPr lang="en-US" sz="1950" dirty="0"/>
          </a:p>
          <a:p>
            <a:pPr algn="l" indent="0" marL="0">
              <a:lnSpc>
                <a:spcPts val="3023"/>
              </a:lnSpc>
              <a:buNone/>
            </a:pPr>
            <a:r>
              <a:rPr lang="en-US" sz="1950" dirty="0">
                <a:solidFill>
                  <a:srgbClr val="211C13"/>
                </a:solidFill>
                <a:latin typeface="Noto Sans JP" pitchFamily="34" charset="0"/>
                <a:ea typeface="Noto Sans JP" pitchFamily="34" charset="-122"/>
                <a:cs typeface="Noto Sans JP" pitchFamily="34" charset="-120"/>
              </a:rPr>
              <a:t>そこに「常に真になる条件」を足せないか試します。</a:t>
            </a:r>
            <a:endParaRPr lang="en-US" sz="1950" dirty="0"/>
          </a:p>
        </p:txBody>
      </p:sp>
      <p:sp>
        <p:nvSpPr>
          <p:cNvPr id="11" name="Text 7"/>
          <p:cNvSpPr txBox="1"/>
          <p:nvPr/>
        </p:nvSpPr>
        <p:spPr>
          <a:xfrm>
            <a:off x="2998622" y="4433926"/>
            <a:ext cx="9887102" cy="1262786"/>
          </a:xfrm>
          <a:prstGeom prst="rect">
            <a:avLst/>
          </a:prstGeom>
          <a:noFill/>
          <a:ln/>
        </p:spPr>
        <p:txBody>
          <a:bodyPr wrap="square" lIns="0" tIns="0" rIns="0" bIns="0" rtlCol="0" anchor="t"/>
          <a:lstStyle/>
          <a:p>
            <a:pPr algn="l" marL="266700" indent="-266700">
              <a:lnSpc>
                <a:spcPts val="3053"/>
              </a:lnSpc>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3053"/>
              </a:lnSpc>
              <a:buSzPct val="100000"/>
              <a:buChar char="•"/>
            </a:pPr>
            <a:r>
              <a:rPr lang="en-US" sz="1650" dirty="0">
                <a:solidFill>
                  <a:srgbClr val="211C13"/>
                </a:solidFill>
                <a:latin typeface="Noto Sans JP" pitchFamily="34" charset="0"/>
                <a:ea typeface="Noto Sans JP" pitchFamily="34" charset="-122"/>
                <a:cs typeface="Noto Sans JP" pitchFamily="34" charset="-120"/>
              </a:rPr>
              <a:t>小さな変化：</a:t>
            </a:r>
            <a:pPr algn="l" marL="266700" indent="-266700">
              <a:lnSpc>
                <a:spcPts val="3053"/>
              </a:lnSpc>
              <a:buSzPct val="100000"/>
              <a:buChar char="•"/>
            </a:pPr>
            <a:r>
              <a:rPr lang="en-US" sz="1650" dirty="0">
                <a:solidFill>
                  <a:srgbClr val="211C13"/>
                </a:solidFill>
                <a:latin typeface="JetBrains Mono" pitchFamily="34" charset="0"/>
                <a:ea typeface="JetBrains Mono" pitchFamily="34" charset="-122"/>
                <a:cs typeface="JetBrains Mono" pitchFamily="34" charset="-120"/>
              </a:rPr>
              <a:t>'</a:t>
            </a:r>
            <a:pPr algn="l" marL="266700" indent="-266700">
              <a:lnSpc>
                <a:spcPts val="3053"/>
              </a:lnSpc>
              <a:buSzPct val="100000"/>
              <a:buChar char="•"/>
            </a:pPr>
            <a:r>
              <a:rPr lang="en-US" sz="1650" dirty="0">
                <a:solidFill>
                  <a:srgbClr val="211C13"/>
                </a:solidFill>
                <a:latin typeface="Noto Sans JP" pitchFamily="34" charset="0"/>
                <a:ea typeface="Noto Sans JP" pitchFamily="34" charset="-122"/>
                <a:cs typeface="Noto Sans JP" pitchFamily="34" charset="-120"/>
              </a:rPr>
              <a:t>（引用符）や記号1つで挙動が変わるか</a:t>
            </a:r>
            <a:pPr algn="l" marL="266700" indent="-266700">
              <a:lnSpc>
                <a:spcPts val="3053"/>
              </a:lnSpc>
              <a:buSzPct val="100000"/>
              <a:buChar char="•"/>
            </a:pPr>
            <a:endParaRPr lang="en-US" sz="1650" dirty="0"/>
          </a:p>
          <a:p>
            <a:pPr algn="l" marL="266700" indent="-266700">
              <a:lnSpc>
                <a:spcPts val="3053"/>
              </a:lnSpc>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3053"/>
              </a:lnSpc>
              <a:buSzPct val="100000"/>
              <a:buChar char="•"/>
            </a:pPr>
            <a:r>
              <a:rPr lang="en-US" sz="1650" dirty="0">
                <a:solidFill>
                  <a:srgbClr val="211C13"/>
                </a:solidFill>
                <a:latin typeface="Noto Sans JP" pitchFamily="34" charset="0"/>
                <a:ea typeface="Noto Sans JP" pitchFamily="34" charset="-122"/>
                <a:cs typeface="Noto Sans JP" pitchFamily="34" charset="-120"/>
              </a:rPr>
              <a:t>条件の追加：OR で常に真になる式を足してみる</a:t>
            </a:r>
            <a:pPr algn="l" marL="266700" indent="-266700">
              <a:lnSpc>
                <a:spcPts val="3053"/>
              </a:lnSpc>
              <a:buSzPct val="100000"/>
              <a:buChar char="•"/>
            </a:pPr>
            <a:endParaRPr lang="en-US" sz="1650" dirty="0"/>
          </a:p>
          <a:p>
            <a:pPr algn="l" marL="266700" indent="-266700">
              <a:lnSpc>
                <a:spcPts val="3053"/>
              </a:lnSpc>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3053"/>
              </a:lnSpc>
              <a:buSzPct val="100000"/>
              <a:buChar char="•"/>
            </a:pPr>
            <a:r>
              <a:rPr lang="en-US" sz="1650" dirty="0">
                <a:solidFill>
                  <a:srgbClr val="211C13"/>
                </a:solidFill>
                <a:latin typeface="Noto Sans JP" pitchFamily="34" charset="0"/>
                <a:ea typeface="Noto Sans JP" pitchFamily="34" charset="-122"/>
                <a:cs typeface="Noto Sans JP" pitchFamily="34" charset="-120"/>
              </a:rPr>
              <a:t>少しだけ抽象化：フィールド名で</a:t>
            </a:r>
            <a:pPr algn="l" marL="266700" indent="-266700">
              <a:lnSpc>
                <a:spcPts val="3053"/>
              </a:lnSpc>
              <a:buSzPct val="100000"/>
              <a:buChar char="•"/>
            </a:pPr>
            <a:r>
              <a:rPr lang="en-US" sz="1650" b="1" dirty="0">
                <a:solidFill>
                  <a:srgbClr val="211C13"/>
                </a:solidFill>
                <a:latin typeface="Noto Sans JP" pitchFamily="34" charset="0"/>
                <a:ea typeface="Noto Sans JP" pitchFamily="34" charset="-122"/>
                <a:cs typeface="Noto Sans JP" pitchFamily="34" charset="-120"/>
              </a:rPr>
              <a:t>絞り込み条件が曲がるか</a:t>
            </a:r>
            <a:endParaRPr lang="en-US" sz="1650" dirty="0"/>
          </a:p>
        </p:txBody>
      </p:sp>
      <p:sp>
        <p:nvSpPr>
          <p:cNvPr id="12" name="Text 8"/>
          <p:cNvSpPr txBox="1"/>
          <p:nvPr/>
        </p:nvSpPr>
        <p:spPr>
          <a:xfrm>
            <a:off x="2971800" y="5979262"/>
            <a:ext cx="9906610" cy="457200"/>
          </a:xfrm>
          <a:prstGeom prst="rect">
            <a:avLst/>
          </a:prstGeom>
          <a:noFill/>
          <a:ln/>
        </p:spPr>
        <p:txBody>
          <a:bodyPr wrap="square" lIns="0" tIns="0" rIns="0" bIns="0" rtlCol="0" anchor="t"/>
          <a:lstStyle/>
          <a:p>
            <a:pPr algn="l" indent="0" marL="0">
              <a:buNone/>
            </a:pPr>
            <a:r>
              <a:rPr lang="en-US" sz="1200" spc="72" kern="0" dirty="0">
                <a:solidFill>
                  <a:srgbClr val="5A4F3F"/>
                </a:solidFill>
                <a:latin typeface="JetBrains Mono" pitchFamily="34" charset="0"/>
                <a:ea typeface="JetBrains Mono" pitchFamily="34" charset="-122"/>
                <a:cs typeface="JetBrains Mono" pitchFamily="34" charset="-120"/>
              </a:rPr>
              <a:t>注意 — エラーを吐いて500を返す実装でも、装飾目的の応答でもなく、</a:t>
            </a:r>
            <a:pPr algn="l" indent="0" marL="0">
              <a:buNone/>
            </a:pPr>
            <a:endParaRPr lang="en-US" sz="1200" dirty="0"/>
          </a:p>
          <a:p>
            <a:pPr algn="l" indent="0" marL="0">
              <a:buNone/>
            </a:pPr>
            <a:r>
              <a:rPr lang="en-US" sz="1200" spc="72" kern="0" dirty="0">
                <a:solidFill>
                  <a:srgbClr val="5A4F3F"/>
                </a:solidFill>
                <a:latin typeface="JetBrains Mono" pitchFamily="34" charset="0"/>
                <a:ea typeface="JetBrains Mono" pitchFamily="34" charset="-122"/>
                <a:cs typeface="JetBrains Mono" pitchFamily="34" charset="-120"/>
              </a:rPr>
              <a:t>リストに想定外のレコードが増えるかを確認するのが成功条件</a:t>
            </a:r>
            <a:endParaRPr lang="en-US" sz="1200" dirty="0"/>
          </a:p>
        </p:txBody>
      </p:sp>
      <p:sp>
        <p:nvSpPr>
          <p:cNvPr id="13" name="Text 9"/>
          <p:cNvSpPr txBox="1"/>
          <p:nvPr/>
        </p:nvSpPr>
        <p:spPr>
          <a:xfrm>
            <a:off x="13830300" y="3143707"/>
            <a:ext cx="3429000" cy="191110"/>
          </a:xfrm>
          <a:prstGeom prst="rect">
            <a:avLst/>
          </a:prstGeom>
          <a:noFill/>
          <a:ln/>
        </p:spPr>
        <p:txBody>
          <a:bodyPr wrap="none" lIns="0" tIns="0" rIns="0" bIns="0" rtlCol="0" anchor="ctr"/>
          <a:lstStyle/>
          <a:p>
            <a:pPr algn="l" indent="0" marL="0">
              <a:buNone/>
            </a:pPr>
            <a:r>
              <a:rPr lang="en-US" sz="1050" spc="189" kern="0" dirty="0">
                <a:solidFill>
                  <a:srgbClr val="D4922A"/>
                </a:solidFill>
                <a:latin typeface="JetBrains Mono" pitchFamily="34" charset="0"/>
                <a:ea typeface="JetBrains Mono" pitchFamily="34" charset="-122"/>
                <a:cs typeface="JetBrains Mono" pitchFamily="34" charset="-120"/>
              </a:rPr>
              <a:t>Console で投げる</a:t>
            </a:r>
            <a:endParaRPr lang="en-US" sz="1050" dirty="0"/>
          </a:p>
        </p:txBody>
      </p:sp>
      <p:sp>
        <p:nvSpPr>
          <p:cNvPr id="14" name="Text 10"/>
          <p:cNvSpPr txBox="1"/>
          <p:nvPr/>
        </p:nvSpPr>
        <p:spPr>
          <a:xfrm>
            <a:off x="13830300" y="3434486"/>
            <a:ext cx="3429000" cy="1233526"/>
          </a:xfrm>
          <a:prstGeom prst="rect">
            <a:avLst/>
          </a:prstGeom>
          <a:noFill/>
          <a:ln/>
        </p:spPr>
        <p:txBody>
          <a:bodyPr wrap="square" lIns="0" tIns="0" rIns="0" bIns="0" rtlCol="0" anchor="t"/>
          <a:lstStyle/>
          <a:p>
            <a:pPr algn="l" indent="0" marL="0">
              <a:lnSpc>
                <a:spcPts val="2325"/>
              </a:lnSpc>
              <a:buNone/>
            </a:pPr>
            <a:r>
              <a:rPr lang="en-US" sz="1500" dirty="0">
                <a:solidFill>
                  <a:srgbClr val="F5EFDD"/>
                </a:solidFill>
                <a:latin typeface="Noto Sans JP" pitchFamily="34" charset="0"/>
                <a:ea typeface="Noto Sans JP" pitchFamily="34" charset="-122"/>
                <a:cs typeface="Noto Sans JP" pitchFamily="34" charset="-120"/>
              </a:rPr>
              <a:t>結果を見やすくするためにも、</a:t>
            </a:r>
            <a:pPr algn="l" indent="0" marL="0">
              <a:lnSpc>
                <a:spcPts val="2325"/>
              </a:lnSpc>
              <a:buNone/>
            </a:pPr>
            <a:endParaRPr lang="en-US" sz="1500" dirty="0"/>
          </a:p>
          <a:p>
            <a:pPr algn="l" indent="0" marL="0">
              <a:lnSpc>
                <a:spcPts val="2325"/>
              </a:lnSpc>
              <a:buNone/>
            </a:pPr>
            <a:r>
              <a:rPr lang="en-US" sz="1500" dirty="0">
                <a:solidFill>
                  <a:srgbClr val="F5EFDD"/>
                </a:solidFill>
                <a:latin typeface="Noto Sans JP" pitchFamily="34" charset="0"/>
                <a:ea typeface="Noto Sans JP" pitchFamily="34" charset="-122"/>
                <a:cs typeface="Noto Sans JP" pitchFamily="34" charset="-120"/>
              </a:rPr>
              <a:t>Console から </a:t>
            </a:r>
            <a:pPr algn="l" indent="0" marL="0">
              <a:lnSpc>
                <a:spcPts val="2325"/>
              </a:lnSpc>
              <a:buNone/>
            </a:pPr>
            <a:r>
              <a:rPr lang="en-US" sz="1500" dirty="0">
                <a:solidFill>
                  <a:srgbClr val="F5EFDD"/>
                </a:solidFill>
                <a:latin typeface="JetBrains Mono" pitchFamily="34" charset="0"/>
                <a:ea typeface="JetBrains Mono" pitchFamily="34" charset="-122"/>
                <a:cs typeface="JetBrains Mono" pitchFamily="34" charset="-120"/>
              </a:rPr>
              <a:t>fetch</a:t>
            </a:r>
            <a:pPr algn="l" indent="0" marL="0">
              <a:lnSpc>
                <a:spcPts val="2325"/>
              </a:lnSpc>
              <a:buNone/>
            </a:pPr>
            <a:r>
              <a:rPr lang="en-US" sz="1500" dirty="0">
                <a:solidFill>
                  <a:srgbClr val="F5EFDD"/>
                </a:solidFill>
                <a:latin typeface="Noto Sans JP" pitchFamily="34" charset="0"/>
                <a:ea typeface="Noto Sans JP" pitchFamily="34" charset="-122"/>
                <a:cs typeface="Noto Sans JP" pitchFamily="34" charset="-120"/>
              </a:rPr>
              <a:t> で投げて、</a:t>
            </a:r>
            <a:pPr algn="l" indent="0" marL="0">
              <a:lnSpc>
                <a:spcPts val="2325"/>
              </a:lnSpc>
              <a:buNone/>
            </a:pPr>
            <a:endParaRPr lang="en-US" sz="1500" dirty="0"/>
          </a:p>
          <a:p>
            <a:pPr algn="l" indent="0" marL="0">
              <a:lnSpc>
                <a:spcPts val="2325"/>
              </a:lnSpc>
              <a:buNone/>
            </a:pPr>
            <a:r>
              <a:rPr lang="en-US" sz="1500" dirty="0">
                <a:solidFill>
                  <a:srgbClr val="F5EFDD"/>
                </a:solidFill>
                <a:latin typeface="Noto Sans JP" pitchFamily="34" charset="0"/>
                <a:ea typeface="Noto Sans JP" pitchFamily="34" charset="-122"/>
                <a:cs typeface="Noto Sans JP" pitchFamily="34" charset="-120"/>
              </a:rPr>
              <a:t>レスポンス内容と件数を直接確認する手順を試してください。</a:t>
            </a:r>
            <a:endParaRPr lang="en-US" sz="1500" dirty="0"/>
          </a:p>
        </p:txBody>
      </p:sp>
      <p:pic>
        <p:nvPicPr>
          <p:cNvPr id="15" name="Image 1" descr="gen-dedup-07448e11b513476c2ae35eb0bfa2e59d.png">    </p:cNvPr>
          <p:cNvPicPr>
            <a:picLocks noChangeAspect="1"/>
          </p:cNvPicPr>
          <p:nvPr/>
        </p:nvPicPr>
        <p:blipFill>
          <a:blip r:embed="rId2"/>
          <a:srcRect l="-2083" r="-2083" t="0" b="0"/>
          <a:stretch/>
        </p:blipFill>
        <p:spPr>
          <a:xfrm>
            <a:off x="13830300" y="4895698"/>
            <a:ext cx="3429000" cy="9144"/>
          </a:xfrm>
          <a:prstGeom prst="rect">
            <a:avLst/>
          </a:prstGeom>
        </p:spPr>
      </p:pic>
      <p:sp>
        <p:nvSpPr>
          <p:cNvPr id="16" name="Text 11"/>
          <p:cNvSpPr txBox="1"/>
          <p:nvPr/>
        </p:nvSpPr>
        <p:spPr>
          <a:xfrm>
            <a:off x="13830300" y="5095951"/>
            <a:ext cx="3429000" cy="191110"/>
          </a:xfrm>
          <a:prstGeom prst="rect">
            <a:avLst/>
          </a:prstGeom>
          <a:noFill/>
          <a:ln/>
        </p:spPr>
        <p:txBody>
          <a:bodyPr wrap="none" lIns="0" tIns="0" rIns="0" bIns="0" rtlCol="0" anchor="ctr"/>
          <a:lstStyle/>
          <a:p>
            <a:pPr algn="l" indent="0" marL="0">
              <a:buNone/>
            </a:pPr>
            <a:r>
              <a:rPr lang="en-US" sz="1050" spc="189" kern="0" dirty="0">
                <a:solidFill>
                  <a:srgbClr val="D4922A"/>
                </a:solidFill>
                <a:latin typeface="JetBrains Mono" pitchFamily="34" charset="0"/>
                <a:ea typeface="JetBrains Mono" pitchFamily="34" charset="-122"/>
                <a:cs typeface="JetBrains Mono" pitchFamily="34" charset="-120"/>
              </a:rPr>
              <a:t>トークンについて</a:t>
            </a:r>
            <a:endParaRPr lang="en-US" sz="1050" dirty="0"/>
          </a:p>
        </p:txBody>
      </p:sp>
      <p:sp>
        <p:nvSpPr>
          <p:cNvPr id="17" name="Text 12"/>
          <p:cNvSpPr txBox="1"/>
          <p:nvPr/>
        </p:nvSpPr>
        <p:spPr>
          <a:xfrm>
            <a:off x="13830300" y="5389474"/>
            <a:ext cx="3429000" cy="830275"/>
          </a:xfrm>
          <a:prstGeom prst="rect">
            <a:avLst/>
          </a:prstGeom>
          <a:noFill/>
          <a:ln/>
        </p:spPr>
        <p:txBody>
          <a:bodyPr wrap="square" lIns="0" tIns="0" rIns="0" bIns="0" rtlCol="0" anchor="t"/>
          <a:lstStyle/>
          <a:p>
            <a:pPr algn="l" indent="0" marL="0">
              <a:lnSpc>
                <a:spcPts val="2092"/>
              </a:lnSpc>
              <a:buNone/>
            </a:pPr>
            <a:r>
              <a:rPr lang="en-US" sz="1350" dirty="0">
                <a:solidFill>
                  <a:srgbClr val="ECE4D2"/>
                </a:solidFill>
                <a:latin typeface="Noto Sans JP" pitchFamily="34" charset="0"/>
                <a:ea typeface="Noto Sans JP" pitchFamily="34" charset="-122"/>
                <a:cs typeface="Noto Sans JP" pitchFamily="34" charset="-120"/>
              </a:rPr>
              <a:t>認証トークンはスライドに書き写さず、</a:t>
            </a:r>
            <a:pPr algn="l" indent="0" marL="0">
              <a:lnSpc>
                <a:spcPts val="2092"/>
              </a:lnSpc>
              <a:buNone/>
            </a:pPr>
            <a:endParaRPr lang="en-US" sz="1350" dirty="0"/>
          </a:p>
          <a:p>
            <a:pPr algn="l" indent="0" marL="0">
              <a:lnSpc>
                <a:spcPts val="2092"/>
              </a:lnSpc>
              <a:buNone/>
            </a:pPr>
            <a:r>
              <a:rPr lang="en-US" sz="1350" dirty="0">
                <a:solidFill>
                  <a:srgbClr val="ECE4D2"/>
                </a:solidFill>
                <a:latin typeface="Noto Sans JP" pitchFamily="34" charset="0"/>
                <a:ea typeface="Noto Sans JP" pitchFamily="34" charset="-122"/>
                <a:cs typeface="Noto Sans JP" pitchFamily="34" charset="-120"/>
              </a:rPr>
              <a:t>ご自身の DevTools で確認した値を</a:t>
            </a:r>
            <a:pPr algn="l" indent="0" marL="0">
              <a:lnSpc>
                <a:spcPts val="2092"/>
              </a:lnSpc>
              <a:buNone/>
            </a:pPr>
            <a:endParaRPr lang="en-US" sz="1350" dirty="0"/>
          </a:p>
          <a:p>
            <a:pPr algn="l" indent="0" marL="0">
              <a:lnSpc>
                <a:spcPts val="2092"/>
              </a:lnSpc>
              <a:buNone/>
            </a:pPr>
            <a:r>
              <a:rPr lang="en-US" sz="1350" dirty="0">
                <a:solidFill>
                  <a:srgbClr val="ECE4D2"/>
                </a:solidFill>
                <a:latin typeface="Noto Sans JP" pitchFamily="34" charset="0"/>
                <a:ea typeface="Noto Sans JP" pitchFamily="34" charset="-122"/>
                <a:cs typeface="Noto Sans JP" pitchFamily="34" charset="-120"/>
              </a:rPr>
              <a:t>ご自身の Console から使ってください。</a:t>
            </a:r>
            <a:endParaRPr lang="en-US" sz="1350" dirty="0"/>
          </a:p>
        </p:txBody>
      </p:sp>
      <p:pic>
        <p:nvPicPr>
          <p:cNvPr id="18" name="Image 2" descr="gen-dedup-ff3b843c62efd2578b331bdfc9bb7c8f.png">    </p:cNvPr>
          <p:cNvPicPr>
            <a:picLocks noChangeAspect="1"/>
          </p:cNvPicPr>
          <p:nvPr/>
        </p:nvPicPr>
        <p:blipFill>
          <a:blip r:embed="rId3"/>
          <a:srcRect l="-2083" r="-2083" t="0" b="0"/>
          <a:stretch/>
        </p:blipFill>
        <p:spPr>
          <a:xfrm>
            <a:off x="914400" y="9334195"/>
            <a:ext cx="16459200" cy="9144"/>
          </a:xfrm>
          <a:prstGeom prst="rect">
            <a:avLst/>
          </a:prstGeom>
        </p:spPr>
      </p:pic>
      <p:sp>
        <p:nvSpPr>
          <p:cNvPr id="19" name="Text 13"/>
          <p:cNvSpPr txBox="1"/>
          <p:nvPr/>
        </p:nvSpPr>
        <p:spPr>
          <a:xfrm>
            <a:off x="2667305" y="914400"/>
            <a:ext cx="14287500" cy="219456"/>
          </a:xfrm>
          <a:prstGeom prst="rect">
            <a:avLst/>
          </a:prstGeom>
          <a:noFill/>
          <a:ln/>
        </p:spPr>
        <p:txBody>
          <a:bodyPr wrap="none" lIns="0" tIns="0" rIns="0" bIns="0" rtlCol="0" anchor="ctr"/>
          <a:lstStyle/>
          <a:p>
            <a:pPr algn="l" indent="0" marL="0">
              <a:buNone/>
            </a:pPr>
            <a:r>
              <a:rPr lang="en-US" sz="1350" spc="324" kern="0" dirty="0">
                <a:solidFill>
                  <a:srgbClr val="B63A2A"/>
                </a:solidFill>
                <a:latin typeface="JetBrains Mono" pitchFamily="34" charset="0"/>
                <a:ea typeface="JetBrains Mono" pitchFamily="34" charset="-122"/>
                <a:cs typeface="JetBrains Mono" pitchFamily="34" charset="-120"/>
              </a:rPr>
              <a:t>Hint · 2 of 3</a:t>
            </a:r>
            <a:endParaRPr lang="en-US" sz="1350" dirty="0"/>
          </a:p>
        </p:txBody>
      </p:sp>
      <p:sp>
        <p:nvSpPr>
          <p:cNvPr id="20" name="Text 14"/>
          <p:cNvSpPr txBox="1"/>
          <p:nvPr/>
        </p:nvSpPr>
        <p:spPr>
          <a:xfrm>
            <a:off x="2667305" y="1228954"/>
            <a:ext cx="14287500" cy="838505"/>
          </a:xfrm>
          <a:prstGeom prst="rect">
            <a:avLst/>
          </a:prstGeom>
          <a:noFill/>
          <a:ln/>
        </p:spPr>
        <p:txBody>
          <a:bodyPr wrap="none" lIns="0" tIns="0" rIns="0" bIns="0" rtlCol="0" anchor="ctr"/>
          <a:lstStyle/>
          <a:p>
            <a:pPr algn="l" indent="0" marL="0">
              <a:buNone/>
            </a:pPr>
            <a:r>
              <a:rPr lang="en-US" sz="6600" b="1" spc="-132" kern="0" dirty="0">
                <a:solidFill>
                  <a:srgbClr val="211C13"/>
                </a:solidFill>
                <a:latin typeface="Zen Kaku Gothic Antique" pitchFamily="34" charset="0"/>
                <a:ea typeface="Zen Kaku Gothic Antique" pitchFamily="34" charset="-122"/>
                <a:cs typeface="Zen Kaku Gothic Antique" pitchFamily="34" charset="-120"/>
              </a:rPr>
              <a:t>検索の中身を変えてみる。</a:t>
            </a:r>
            <a:endParaRPr lang="en-US" sz="6600" dirty="0"/>
          </a:p>
        </p:txBody>
      </p:sp>
      <p:sp>
        <p:nvSpPr>
          <p:cNvPr id="21" name="Text 15"/>
          <p:cNvSpPr txBox="1"/>
          <p:nvPr/>
        </p:nvSpPr>
        <p:spPr>
          <a:xfrm>
            <a:off x="2667305" y="9562795"/>
            <a:ext cx="9525305" cy="228600"/>
          </a:xfrm>
          <a:prstGeom prst="rect">
            <a:avLst/>
          </a:prstGeom>
          <a:noFill/>
          <a:ln/>
        </p:spPr>
        <p:txBody>
          <a:bodyPr wrap="none" lIns="0" tIns="0" rIns="0" bIns="0" rtlCol="0" anchor="ctr"/>
          <a:lstStyle/>
          <a:p>
            <a:pPr algn="l" indent="0" marL="0">
              <a:buNone/>
            </a:pPr>
            <a:r>
              <a:rPr lang="en-US" sz="1200" spc="72" kern="0" dirty="0">
                <a:solidFill>
                  <a:srgbClr val="5A4F3F"/>
                </a:solidFill>
                <a:latin typeface="JetBrains Mono" pitchFamily="34" charset="0"/>
                <a:ea typeface="JetBrains Mono" pitchFamily="34" charset="-122"/>
                <a:cs typeface="JetBrains Mono" pitchFamily="34" charset="-120"/>
              </a:rPr>
              <a:t>ヒント3/3 は、なお詰まる人がいれば公開</a:t>
            </a:r>
            <a:endParaRPr lang="en-US" sz="1200" dirty="0"/>
          </a:p>
        </p:txBody>
      </p:sp>
      <p:sp>
        <p:nvSpPr>
          <p:cNvPr id="22" name="Text 16"/>
          <p:cNvSpPr txBox="1"/>
          <p:nvPr/>
        </p:nvSpPr>
        <p:spPr>
          <a:xfrm>
            <a:off x="15468905" y="9562795"/>
            <a:ext cx="1905610" cy="200254"/>
          </a:xfrm>
          <a:prstGeom prst="rect">
            <a:avLst/>
          </a:prstGeom>
          <a:noFill/>
          <a:ln/>
        </p:spPr>
        <p:txBody>
          <a:bodyPr wrap="none" lIns="0" tIns="0" rIns="0" bIns="0" rtlCol="0" anchor="ctr"/>
          <a:lstStyle/>
          <a:p>
            <a:pPr algn="r" indent="0" marL="0">
              <a:buNone/>
            </a:pPr>
            <a:r>
              <a:rPr lang="en-US" sz="1200" spc="72" kern="0" dirty="0">
                <a:solidFill>
                  <a:srgbClr val="5A4F3F"/>
                </a:solidFill>
                <a:latin typeface="JetBrains Mono" pitchFamily="34" charset="0"/>
                <a:ea typeface="JetBrains Mono" pitchFamily="34" charset="-122"/>
                <a:cs typeface="JetBrains Mono" pitchFamily="34" charset="-120"/>
              </a:rPr>
              <a:t>09 / 32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FE7D4"/>
        </a:solidFill>
      </p:bgPr>
    </p:bg>
    <p:spTree>
      <p:nvGrpSpPr>
        <p:cNvPr id="1" name=""/>
        <p:cNvGrpSpPr/>
        <p:nvPr/>
      </p:nvGrpSpPr>
      <p:grpSpPr>
        <a:xfrm>
          <a:off x="0" y="0"/>
          <a:ext cx="0" cy="0"/>
          <a:chOff x="0" y="0"/>
          <a:chExt cx="0" cy="0"/>
        </a:xfrm>
      </p:grpSpPr>
      <p:sp>
        <p:nvSpPr>
          <p:cNvPr id="3" name="Shape 0"/>
          <p:cNvSpPr/>
          <p:nvPr/>
        </p:nvSpPr>
        <p:spPr>
          <a:xfrm>
            <a:off x="0" y="0"/>
            <a:ext cx="1904695" cy="10287000"/>
          </a:xfrm>
          <a:prstGeom prst="rect">
            <a:avLst/>
          </a:prstGeom>
          <a:solidFill>
            <a:srgbClr val="B63A2A"/>
          </a:solidFill>
          <a:ln w="12700">
            <a:solidFill>
              <a:srgbClr val="FFFFFF">
                <a:alpha val="0"/>
              </a:srgbClr>
            </a:solidFill>
            <a:prstDash val="solid"/>
          </a:ln>
        </p:spPr>
      </p:sp>
      <p:sp>
        <p:nvSpPr>
          <p:cNvPr id="4" name="Shape 1"/>
          <p:cNvSpPr/>
          <p:nvPr/>
        </p:nvSpPr>
        <p:spPr>
          <a:xfrm>
            <a:off x="2667305" y="2857500"/>
            <a:ext cx="14859000" cy="2667305"/>
          </a:xfrm>
          <a:prstGeom prst="roundRect">
            <a:avLst>
              <a:gd name="adj" fmla="val 1440"/>
            </a:avLst>
          </a:prstGeom>
          <a:solidFill>
            <a:srgbClr val="E5DBC4"/>
          </a:solidFill>
          <a:ln w="12700">
            <a:solidFill>
              <a:srgbClr val="FFFFFF">
                <a:alpha val="0"/>
              </a:srgbClr>
            </a:solidFill>
            <a:prstDash val="solid"/>
          </a:ln>
        </p:spPr>
      </p:sp>
      <p:sp>
        <p:nvSpPr>
          <p:cNvPr id="5" name="Shape 2"/>
          <p:cNvSpPr/>
          <p:nvPr/>
        </p:nvSpPr>
        <p:spPr>
          <a:xfrm>
            <a:off x="2667305" y="5790895"/>
            <a:ext cx="7239305" cy="3238805"/>
          </a:xfrm>
          <a:prstGeom prst="roundRect">
            <a:avLst>
              <a:gd name="adj" fmla="val 1186"/>
            </a:avLst>
          </a:prstGeom>
          <a:solidFill>
            <a:srgbClr val="1B1F25"/>
          </a:solidFill>
          <a:ln w="12700">
            <a:solidFill>
              <a:srgbClr val="FFFFFF">
                <a:alpha val="0"/>
              </a:srgbClr>
            </a:solidFill>
            <a:prstDash val="solid"/>
          </a:ln>
        </p:spPr>
      </p:sp>
      <p:sp>
        <p:nvSpPr>
          <p:cNvPr id="6" name="Shape 3"/>
          <p:cNvSpPr/>
          <p:nvPr/>
        </p:nvSpPr>
        <p:spPr>
          <a:xfrm>
            <a:off x="10287000" y="5790895"/>
            <a:ext cx="7239305" cy="3238805"/>
          </a:xfrm>
          <a:prstGeom prst="roundRect">
            <a:avLst>
              <a:gd name="adj" fmla="val 1186"/>
            </a:avLst>
          </a:prstGeom>
          <a:solidFill>
            <a:srgbClr val="E5DBC4"/>
          </a:solidFill>
          <a:ln w="12700">
            <a:solidFill>
              <a:srgbClr val="FFFFFF">
                <a:alpha val="0"/>
              </a:srgbClr>
            </a:solidFill>
            <a:prstDash val="solid"/>
          </a:ln>
        </p:spPr>
      </p:sp>
      <p:sp>
        <p:nvSpPr>
          <p:cNvPr id="7" name="Text 4"/>
          <p:cNvSpPr txBox="1"/>
          <p:nvPr/>
        </p:nvSpPr>
        <p:spPr>
          <a:xfrm>
            <a:off x="228600" y="914400"/>
            <a:ext cx="1524305" cy="171907"/>
          </a:xfrm>
          <a:prstGeom prst="rect">
            <a:avLst/>
          </a:prstGeom>
          <a:noFill/>
          <a:ln/>
        </p:spPr>
        <p:txBody>
          <a:bodyPr wrap="none" lIns="0" tIns="0" rIns="0" bIns="0" rtlCol="0" anchor="ctr"/>
          <a:lstStyle/>
          <a:p>
            <a:pPr algn="l" indent="0" marL="0">
              <a:buNone/>
            </a:pPr>
            <a:r>
              <a:rPr lang="en-US" sz="1050" spc="231" kern="0" dirty="0">
                <a:solidFill>
                  <a:srgbClr val="F5EFDD"/>
                </a:solidFill>
                <a:latin typeface="JetBrains Mono" pitchFamily="34" charset="0"/>
                <a:ea typeface="JetBrains Mono" pitchFamily="34" charset="-122"/>
                <a:cs typeface="JetBrains Mono" pitchFamily="34" charset="-120"/>
              </a:rPr>
              <a:t>HINT</a:t>
            </a:r>
            <a:endParaRPr lang="en-US" sz="1050" dirty="0"/>
          </a:p>
        </p:txBody>
      </p:sp>
      <p:sp>
        <p:nvSpPr>
          <p:cNvPr id="8" name="Text 5"/>
          <p:cNvSpPr txBox="1"/>
          <p:nvPr/>
        </p:nvSpPr>
        <p:spPr>
          <a:xfrm>
            <a:off x="228600" y="1143000"/>
            <a:ext cx="1786738" cy="876910"/>
          </a:xfrm>
          <a:prstGeom prst="rect">
            <a:avLst/>
          </a:prstGeom>
          <a:noFill/>
          <a:ln/>
        </p:spPr>
        <p:txBody>
          <a:bodyPr wrap="none" lIns="0" tIns="0" rIns="0" bIns="0" rtlCol="0" anchor="ctr"/>
          <a:lstStyle/>
          <a:p>
            <a:pPr algn="l" indent="0" marL="0">
              <a:buNone/>
            </a:pPr>
            <a:r>
              <a:rPr lang="en-US" sz="7200" b="1" spc="-144" kern="0" dirty="0">
                <a:solidFill>
                  <a:srgbClr val="F5EFDD"/>
                </a:solidFill>
                <a:latin typeface="Zen Kaku Gothic Antique" pitchFamily="34" charset="0"/>
                <a:ea typeface="Zen Kaku Gothic Antique" pitchFamily="34" charset="-122"/>
                <a:cs typeface="Zen Kaku Gothic Antique" pitchFamily="34" charset="-120"/>
              </a:rPr>
              <a:t>3/3</a:t>
            </a:r>
            <a:endParaRPr lang="en-US" sz="7200" dirty="0"/>
          </a:p>
        </p:txBody>
      </p:sp>
      <p:pic>
        <p:nvPicPr>
          <p:cNvPr id="9" name="Image 0" descr="gen-dedup-2173e259c8f89e09f8a89067735d6b02.png">    </p:cNvPr>
          <p:cNvPicPr>
            <a:picLocks noChangeAspect="1"/>
          </p:cNvPicPr>
          <p:nvPr/>
        </p:nvPicPr>
        <p:blipFill>
          <a:blip r:embed="rId1"/>
          <a:srcRect l="-404" r="-404" t="0" b="0"/>
          <a:stretch/>
        </p:blipFill>
        <p:spPr>
          <a:xfrm>
            <a:off x="228600" y="2182673"/>
            <a:ext cx="571500" cy="28346"/>
          </a:xfrm>
          <a:prstGeom prst="rect">
            <a:avLst/>
          </a:prstGeom>
        </p:spPr>
      </p:pic>
      <p:sp>
        <p:nvSpPr>
          <p:cNvPr id="10" name="Text 6"/>
          <p:cNvSpPr txBox="1"/>
          <p:nvPr/>
        </p:nvSpPr>
        <p:spPr>
          <a:xfrm>
            <a:off x="2971800" y="3124505"/>
            <a:ext cx="14287500" cy="191110"/>
          </a:xfrm>
          <a:prstGeom prst="rect">
            <a:avLst/>
          </a:prstGeom>
          <a:noFill/>
          <a:ln/>
        </p:spPr>
        <p:txBody>
          <a:bodyPr wrap="none" lIns="0" tIns="0" rIns="0" bIns="0" rtlCol="0" anchor="ctr"/>
          <a:lstStyle/>
          <a:p>
            <a:pPr algn="l" indent="0" marL="0">
              <a:buNone/>
            </a:pPr>
            <a:r>
              <a:rPr lang="en-US" sz="1050" spc="189" kern="0" dirty="0">
                <a:solidFill>
                  <a:srgbClr val="B63A2A"/>
                </a:solidFill>
                <a:latin typeface="JetBrains Mono" pitchFamily="34" charset="0"/>
                <a:ea typeface="JetBrains Mono" pitchFamily="34" charset="-122"/>
                <a:cs typeface="JetBrains Mono" pitchFamily="34" charset="-120"/>
              </a:rPr>
              <a:t>発想の転換</a:t>
            </a:r>
            <a:endParaRPr lang="en-US" sz="1050" dirty="0"/>
          </a:p>
        </p:txBody>
      </p:sp>
      <p:sp>
        <p:nvSpPr>
          <p:cNvPr id="11" name="Text 7"/>
          <p:cNvSpPr txBox="1"/>
          <p:nvPr/>
        </p:nvSpPr>
        <p:spPr>
          <a:xfrm>
            <a:off x="2971800" y="3405226"/>
            <a:ext cx="14287500" cy="814730"/>
          </a:xfrm>
          <a:prstGeom prst="rect">
            <a:avLst/>
          </a:prstGeom>
          <a:noFill/>
          <a:ln/>
        </p:spPr>
        <p:txBody>
          <a:bodyPr wrap="square" lIns="0" tIns="0" rIns="0" bIns="0" rtlCol="0" anchor="t"/>
          <a:lstStyle/>
          <a:p>
            <a:pPr algn="l" indent="0" marL="0">
              <a:lnSpc>
                <a:spcPts val="3023"/>
              </a:lnSpc>
              <a:buNone/>
            </a:pPr>
            <a:r>
              <a:rPr lang="en-US" sz="1950" dirty="0">
                <a:solidFill>
                  <a:srgbClr val="211C13"/>
                </a:solidFill>
                <a:latin typeface="Noto Sans JP" pitchFamily="34" charset="0"/>
                <a:ea typeface="Noto Sans JP" pitchFamily="34" charset="-122"/>
                <a:cs typeface="Noto Sans JP" pitchFamily="34" charset="-120"/>
              </a:rPr>
              <a:t>「公開ユーザーだけ返す」を組み立てるWHERE句の、</a:t>
            </a:r>
            <a:pPr algn="l" indent="0" marL="0">
              <a:lnSpc>
                <a:spcPts val="3023"/>
              </a:lnSpc>
              <a:buNone/>
            </a:pPr>
            <a:endParaRPr lang="en-US" sz="1950" dirty="0"/>
          </a:p>
          <a:p>
            <a:pPr algn="l" indent="0" marL="0">
              <a:lnSpc>
                <a:spcPts val="3023"/>
              </a:lnSpc>
              <a:buNone/>
            </a:pPr>
            <a:r>
              <a:rPr lang="en-US" sz="1950" dirty="0">
                <a:solidFill>
                  <a:srgbClr val="211C13"/>
                </a:solidFill>
                <a:latin typeface="Noto Sans JP" pitchFamily="34" charset="0"/>
                <a:ea typeface="Noto Sans JP" pitchFamily="34" charset="-122"/>
                <a:cs typeface="Noto Sans JP" pitchFamily="34" charset="-120"/>
              </a:rPr>
              <a:t>where の文字列の</a:t>
            </a:r>
            <a:pPr algn="l" indent="0" marL="0">
              <a:lnSpc>
                <a:spcPts val="3023"/>
              </a:lnSpc>
              <a:buNone/>
            </a:pPr>
            <a:r>
              <a:rPr lang="en-US" sz="1950" b="1" dirty="0">
                <a:solidFill>
                  <a:srgbClr val="211C13"/>
                </a:solidFill>
                <a:latin typeface="Noto Sans JP" pitchFamily="34" charset="0"/>
                <a:ea typeface="Noto Sans JP" pitchFamily="34" charset="-122"/>
                <a:cs typeface="Noto Sans JP" pitchFamily="34" charset="-120"/>
              </a:rPr>
              <a:t>外側</a:t>
            </a:r>
            <a:pPr algn="l" indent="0" marL="0">
              <a:lnSpc>
                <a:spcPts val="3023"/>
              </a:lnSpc>
              <a:buNone/>
            </a:pPr>
            <a:r>
              <a:rPr lang="en-US" sz="1950" dirty="0">
                <a:solidFill>
                  <a:srgbClr val="211C13"/>
                </a:solidFill>
                <a:latin typeface="Noto Sans JP" pitchFamily="34" charset="0"/>
                <a:ea typeface="Noto Sans JP" pitchFamily="34" charset="-122"/>
                <a:cs typeface="Noto Sans JP" pitchFamily="34" charset="-120"/>
              </a:rPr>
              <a:t>から介入できれば、絞り込み自体を無効化できるかもしれません。</a:t>
            </a:r>
            <a:endParaRPr lang="en-US" sz="1950" dirty="0"/>
          </a:p>
        </p:txBody>
      </p:sp>
      <p:sp>
        <p:nvSpPr>
          <p:cNvPr id="12" name="Text 8"/>
          <p:cNvSpPr txBox="1"/>
          <p:nvPr/>
        </p:nvSpPr>
        <p:spPr>
          <a:xfrm>
            <a:off x="2971800" y="6057900"/>
            <a:ext cx="6667805" cy="191110"/>
          </a:xfrm>
          <a:prstGeom prst="rect">
            <a:avLst/>
          </a:prstGeom>
          <a:noFill/>
          <a:ln/>
        </p:spPr>
        <p:txBody>
          <a:bodyPr wrap="none" lIns="0" tIns="0" rIns="0" bIns="0" rtlCol="0" anchor="ctr"/>
          <a:lstStyle/>
          <a:p>
            <a:pPr algn="l" indent="0" marL="0">
              <a:buNone/>
            </a:pPr>
            <a:r>
              <a:rPr lang="en-US" sz="1050" spc="189" kern="0" dirty="0">
                <a:solidFill>
                  <a:srgbClr val="D4922A"/>
                </a:solidFill>
                <a:latin typeface="JetBrains Mono" pitchFamily="34" charset="0"/>
                <a:ea typeface="JetBrains Mono" pitchFamily="34" charset="-122"/>
                <a:cs typeface="JetBrains Mono" pitchFamily="34" charset="-120"/>
              </a:rPr>
              <a:t>観察のチェックリスト</a:t>
            </a:r>
            <a:endParaRPr lang="en-US" sz="1050" dirty="0"/>
          </a:p>
        </p:txBody>
      </p:sp>
      <p:sp>
        <p:nvSpPr>
          <p:cNvPr id="13" name="Text 9"/>
          <p:cNvSpPr txBox="1"/>
          <p:nvPr/>
        </p:nvSpPr>
        <p:spPr>
          <a:xfrm>
            <a:off x="2998622" y="6372454"/>
            <a:ext cx="6649212" cy="2357323"/>
          </a:xfrm>
          <a:prstGeom prst="rect">
            <a:avLst/>
          </a:prstGeom>
          <a:noFill/>
          <a:ln/>
        </p:spPr>
        <p:txBody>
          <a:bodyPr wrap="square" lIns="0" tIns="0" rIns="0" bIns="0" rtlCol="0" anchor="t"/>
          <a:lstStyle/>
          <a:p>
            <a:pPr algn="l" marL="266700" indent="-266700">
              <a:lnSpc>
                <a:spcPts val="2723"/>
              </a:lnSpc>
              <a:spcAft>
                <a:spcPts val="600"/>
              </a:spcAft>
              <a:buSzPct val="100000"/>
              <a:buChar char="•"/>
            </a:pPr>
            <a:r>
              <a:rPr lang="en-US" sz="1650" dirty="0">
                <a:solidFill>
                  <a:srgbClr val="F5EFDD"/>
                </a:solidFill>
                <a:latin typeface="Noto Sans JP" pitchFamily="34" charset="0"/>
                <a:ea typeface="Noto Sans JP" pitchFamily="34" charset="-122"/>
                <a:cs typeface="Noto Sans JP" pitchFamily="34" charset="-120"/>
              </a:rPr>
              <a:t>​</a:t>
            </a:r>
            <a:pPr algn="l" marL="266700" indent="-266700">
              <a:lnSpc>
                <a:spcPts val="2723"/>
              </a:lnSpc>
              <a:spcAft>
                <a:spcPts val="600"/>
              </a:spcAft>
              <a:buSzPct val="100000"/>
              <a:buChar char="•"/>
            </a:pPr>
            <a:r>
              <a:rPr lang="en-US" sz="1650" dirty="0">
                <a:solidFill>
                  <a:srgbClr val="F5EFDD"/>
                </a:solidFill>
                <a:latin typeface="Noto Sans JP" pitchFamily="34" charset="0"/>
                <a:ea typeface="Noto Sans JP" pitchFamily="34" charset="-122"/>
                <a:cs typeface="Noto Sans JP" pitchFamily="34" charset="-120"/>
              </a:rPr>
              <a:t>通常検索で1件返るクエリを、</a:t>
            </a:r>
            <a:pPr algn="l" indent="0" marL="0">
              <a:lnSpc>
                <a:spcPts val="2723"/>
              </a:lnSpc>
              <a:spcAft>
                <a:spcPts val="600"/>
              </a:spcAft>
              <a:buNone/>
            </a:pPr>
            <a:endParaRPr lang="en-US" sz="1650" dirty="0"/>
          </a:p>
          <a:p>
            <a:pPr algn="l" marL="266700" indent="-266700">
              <a:lnSpc>
                <a:spcPts val="2723"/>
              </a:lnSpc>
              <a:spcAft>
                <a:spcPts val="600"/>
              </a:spcAft>
              <a:buSzPct val="100000"/>
              <a:buChar char="•"/>
            </a:pPr>
            <a:r>
              <a:rPr lang="en-US" sz="1650" dirty="0">
                <a:solidFill>
                  <a:srgbClr val="F5EFDD"/>
                </a:solidFill>
                <a:latin typeface="Noto Sans JP" pitchFamily="34" charset="0"/>
                <a:ea typeface="Noto Sans JP" pitchFamily="34" charset="-122"/>
                <a:cs typeface="Noto Sans JP" pitchFamily="34" charset="-120"/>
              </a:rPr>
              <a:t>2件以上に増やせるか</a:t>
            </a:r>
            <a:pPr algn="l" marL="266700" indent="-266700">
              <a:lnSpc>
                <a:spcPts val="2723"/>
              </a:lnSpc>
              <a:spcAft>
                <a:spcPts val="600"/>
              </a:spcAft>
              <a:buSzPct val="100000"/>
              <a:buChar char="•"/>
            </a:pPr>
            <a:endParaRPr lang="en-US" sz="1650" dirty="0"/>
          </a:p>
          <a:p>
            <a:pPr algn="l" marL="266700" indent="-266700">
              <a:lnSpc>
                <a:spcPts val="2723"/>
              </a:lnSpc>
              <a:spcAft>
                <a:spcPts val="600"/>
              </a:spcAft>
              <a:buSzPct val="100000"/>
              <a:buChar char="•"/>
            </a:pPr>
            <a:r>
              <a:rPr lang="en-US" sz="1650" dirty="0">
                <a:solidFill>
                  <a:srgbClr val="F5EFDD"/>
                </a:solidFill>
                <a:latin typeface="Noto Sans JP" pitchFamily="34" charset="0"/>
                <a:ea typeface="Noto Sans JP" pitchFamily="34" charset="-122"/>
                <a:cs typeface="Noto Sans JP" pitchFamily="34" charset="-120"/>
              </a:rPr>
              <a:t>​</a:t>
            </a:r>
            <a:pPr algn="l" marL="266700" indent="-266700">
              <a:lnSpc>
                <a:spcPts val="2723"/>
              </a:lnSpc>
              <a:spcAft>
                <a:spcPts val="600"/>
              </a:spcAft>
              <a:buSzPct val="100000"/>
              <a:buChar char="•"/>
            </a:pPr>
            <a:r>
              <a:rPr lang="en-US" sz="1650" dirty="0">
                <a:solidFill>
                  <a:srgbClr val="F5EFDD"/>
                </a:solidFill>
                <a:latin typeface="Noto Sans JP" pitchFamily="34" charset="0"/>
                <a:ea typeface="Noto Sans JP" pitchFamily="34" charset="-122"/>
                <a:cs typeface="Noto Sans JP" pitchFamily="34" charset="-120"/>
              </a:rPr>
              <a:t>件数の変化は DevTools 上で見えるか</a:t>
            </a:r>
            <a:pPr algn="l" marL="266700" indent="-266700">
              <a:lnSpc>
                <a:spcPts val="2723"/>
              </a:lnSpc>
              <a:spcAft>
                <a:spcPts val="600"/>
              </a:spcAft>
              <a:buSzPct val="100000"/>
              <a:buChar char="•"/>
            </a:pPr>
            <a:endParaRPr lang="en-US" sz="1650" dirty="0"/>
          </a:p>
          <a:p>
            <a:pPr algn="l" marL="266700" indent="-266700">
              <a:lnSpc>
                <a:spcPts val="2723"/>
              </a:lnSpc>
              <a:spcAft>
                <a:spcPts val="600"/>
              </a:spcAft>
              <a:buSzPct val="100000"/>
              <a:buChar char="•"/>
            </a:pPr>
            <a:r>
              <a:rPr lang="en-US" sz="1650" dirty="0">
                <a:solidFill>
                  <a:srgbClr val="F5EFDD"/>
                </a:solidFill>
                <a:latin typeface="Noto Sans JP" pitchFamily="34" charset="0"/>
                <a:ea typeface="Noto Sans JP" pitchFamily="34" charset="-122"/>
                <a:cs typeface="Noto Sans JP" pitchFamily="34" charset="-120"/>
              </a:rPr>
              <a:t>​</a:t>
            </a:r>
            <a:pPr algn="l" marL="266700" indent="-266700">
              <a:lnSpc>
                <a:spcPts val="2723"/>
              </a:lnSpc>
              <a:spcAft>
                <a:spcPts val="600"/>
              </a:spcAft>
              <a:buSzPct val="100000"/>
              <a:buChar char="•"/>
            </a:pPr>
            <a:r>
              <a:rPr lang="en-US" sz="1650" dirty="0">
                <a:solidFill>
                  <a:srgbClr val="F5EFDD"/>
                </a:solidFill>
                <a:latin typeface="Noto Sans JP" pitchFamily="34" charset="0"/>
                <a:ea typeface="Noto Sans JP" pitchFamily="34" charset="-122"/>
                <a:cs typeface="Noto Sans JP" pitchFamily="34" charset="-120"/>
              </a:rPr>
              <a:t>リストUI と JSON のどちらに先に</a:t>
            </a:r>
            <a:pPr algn="l" indent="0" marL="0">
              <a:lnSpc>
                <a:spcPts val="2723"/>
              </a:lnSpc>
              <a:spcAft>
                <a:spcPts val="600"/>
              </a:spcAft>
              <a:buNone/>
            </a:pPr>
            <a:endParaRPr lang="en-US" sz="1650" dirty="0"/>
          </a:p>
          <a:p>
            <a:pPr algn="l" marL="266700" indent="-266700">
              <a:lnSpc>
                <a:spcPts val="2723"/>
              </a:lnSpc>
              <a:spcAft>
                <a:spcPts val="600"/>
              </a:spcAft>
              <a:buSzPct val="100000"/>
              <a:buChar char="•"/>
            </a:pPr>
            <a:r>
              <a:rPr lang="en-US" sz="1650" dirty="0">
                <a:solidFill>
                  <a:srgbClr val="F5EFDD"/>
                </a:solidFill>
                <a:latin typeface="Noto Sans JP" pitchFamily="34" charset="0"/>
                <a:ea typeface="Noto Sans JP" pitchFamily="34" charset="-122"/>
                <a:cs typeface="Noto Sans JP" pitchFamily="34" charset="-120"/>
              </a:rPr>
              <a:t>変化が出るか</a:t>
            </a:r>
            <a:pPr algn="l" marL="266700" indent="-266700">
              <a:lnSpc>
                <a:spcPts val="2723"/>
              </a:lnSpc>
              <a:spcAft>
                <a:spcPts val="600"/>
              </a:spcAft>
              <a:buSzPct val="100000"/>
              <a:buChar char="•"/>
            </a:pPr>
            <a:endParaRPr lang="en-US" sz="1650" dirty="0"/>
          </a:p>
          <a:p>
            <a:pPr algn="l" marL="266700" indent="-266700">
              <a:lnSpc>
                <a:spcPts val="2723"/>
              </a:lnSpc>
              <a:spcAft>
                <a:spcPts val="600"/>
              </a:spcAft>
              <a:buSzPct val="100000"/>
              <a:buChar char="•"/>
            </a:pPr>
            <a:r>
              <a:rPr lang="en-US" sz="1650" dirty="0">
                <a:solidFill>
                  <a:srgbClr val="F5EFDD"/>
                </a:solidFill>
                <a:latin typeface="Noto Sans JP" pitchFamily="34" charset="0"/>
                <a:ea typeface="Noto Sans JP" pitchFamily="34" charset="-122"/>
                <a:cs typeface="Noto Sans JP" pitchFamily="34" charset="-120"/>
              </a:rPr>
              <a:t>​</a:t>
            </a:r>
            <a:pPr algn="l" marL="266700" indent="-266700">
              <a:lnSpc>
                <a:spcPts val="2723"/>
              </a:lnSpc>
              <a:spcAft>
                <a:spcPts val="600"/>
              </a:spcAft>
              <a:buSzPct val="100000"/>
              <a:buChar char="•"/>
            </a:pPr>
            <a:r>
              <a:rPr lang="en-US" sz="1650" dirty="0">
                <a:solidFill>
                  <a:srgbClr val="F5EFDD"/>
                </a:solidFill>
                <a:latin typeface="Noto Sans JP" pitchFamily="34" charset="0"/>
                <a:ea typeface="Noto Sans JP" pitchFamily="34" charset="-122"/>
                <a:cs typeface="Noto Sans JP" pitchFamily="34" charset="-120"/>
              </a:rPr>
              <a:t>件数の増え方は想定の範囲内か</a:t>
            </a:r>
            <a:endParaRPr lang="en-US" sz="1650" dirty="0"/>
          </a:p>
        </p:txBody>
      </p:sp>
      <p:sp>
        <p:nvSpPr>
          <p:cNvPr id="14" name="Text 10"/>
          <p:cNvSpPr txBox="1"/>
          <p:nvPr/>
        </p:nvSpPr>
        <p:spPr>
          <a:xfrm>
            <a:off x="10591495" y="6057900"/>
            <a:ext cx="6667805" cy="191110"/>
          </a:xfrm>
          <a:prstGeom prst="rect">
            <a:avLst/>
          </a:prstGeom>
          <a:noFill/>
          <a:ln/>
        </p:spPr>
        <p:txBody>
          <a:bodyPr wrap="none" lIns="0" tIns="0" rIns="0" bIns="0" rtlCol="0" anchor="ctr"/>
          <a:lstStyle/>
          <a:p>
            <a:pPr algn="l" indent="0" marL="0">
              <a:buNone/>
            </a:pPr>
            <a:r>
              <a:rPr lang="en-US" sz="1050" spc="189" kern="0" dirty="0">
                <a:solidFill>
                  <a:srgbClr val="5A4F3F"/>
                </a:solidFill>
                <a:latin typeface="JetBrains Mono" pitchFamily="34" charset="0"/>
                <a:ea typeface="JetBrains Mono" pitchFamily="34" charset="-122"/>
                <a:cs typeface="JetBrains Mono" pitchFamily="34" charset="-120"/>
              </a:rPr>
              <a:t>うまくいったら</a:t>
            </a:r>
            <a:endParaRPr lang="en-US" sz="1050" dirty="0"/>
          </a:p>
        </p:txBody>
      </p:sp>
      <p:sp>
        <p:nvSpPr>
          <p:cNvPr id="15" name="Text 11"/>
          <p:cNvSpPr txBox="1"/>
          <p:nvPr/>
        </p:nvSpPr>
        <p:spPr>
          <a:xfrm>
            <a:off x="10591495" y="6372454"/>
            <a:ext cx="6667805" cy="1086307"/>
          </a:xfrm>
          <a:prstGeom prst="rect">
            <a:avLst/>
          </a:prstGeom>
          <a:noFill/>
          <a:ln/>
        </p:spPr>
        <p:txBody>
          <a:bodyPr wrap="square" lIns="0" tIns="0" rIns="0" bIns="0" rtlCol="0" anchor="t"/>
          <a:lstStyle/>
          <a:p>
            <a:pPr algn="l" indent="0" marL="0">
              <a:lnSpc>
                <a:spcPts val="2723"/>
              </a:lnSpc>
              <a:buNone/>
            </a:pPr>
            <a:r>
              <a:rPr lang="en-US" sz="1650" dirty="0">
                <a:solidFill>
                  <a:srgbClr val="211C13"/>
                </a:solidFill>
                <a:latin typeface="Noto Sans JP" pitchFamily="34" charset="0"/>
                <a:ea typeface="Noto Sans JP" pitchFamily="34" charset="-122"/>
                <a:cs typeface="Noto Sans JP" pitchFamily="34" charset="-120"/>
              </a:rPr>
              <a:t>1件取れたらそこで一度止めます。</a:t>
            </a:r>
            <a:pPr algn="l" indent="0" marL="0">
              <a:lnSpc>
                <a:spcPts val="2723"/>
              </a:lnSpc>
              <a:buNone/>
            </a:pPr>
            <a:endParaRPr lang="en-US" sz="1650" dirty="0"/>
          </a:p>
          <a:p>
            <a:pPr algn="l" indent="0" marL="0">
              <a:lnSpc>
                <a:spcPts val="2723"/>
              </a:lnSpc>
              <a:buNone/>
            </a:pPr>
            <a:r>
              <a:rPr lang="en-US" sz="1650" dirty="0">
                <a:solidFill>
                  <a:srgbClr val="211C13"/>
                </a:solidFill>
                <a:latin typeface="Noto Sans JP" pitchFamily="34" charset="0"/>
                <a:ea typeface="Noto Sans JP" pitchFamily="34" charset="-122"/>
                <a:cs typeface="Noto Sans JP" pitchFamily="34" charset="-120"/>
              </a:rPr>
              <a:t>闇雲に全件を引き出すのは趣旨と異なります（大量取得は範疇外）。</a:t>
            </a:r>
            <a:pPr algn="l" indent="0" marL="0">
              <a:lnSpc>
                <a:spcPts val="2723"/>
              </a:lnSpc>
              <a:buNone/>
            </a:pPr>
            <a:endParaRPr lang="en-US" sz="1650" dirty="0"/>
          </a:p>
          <a:p>
            <a:pPr algn="l" indent="0" marL="0">
              <a:lnSpc>
                <a:spcPts val="2723"/>
              </a:lnSpc>
              <a:buNone/>
            </a:pPr>
            <a:r>
              <a:rPr lang="en-US" sz="1650" dirty="0">
                <a:solidFill>
                  <a:srgbClr val="211C13"/>
                </a:solidFill>
                <a:latin typeface="Noto Sans JP" pitchFamily="34" charset="0"/>
                <a:ea typeface="Noto Sans JP" pitchFamily="34" charset="-122"/>
                <a:cs typeface="Noto Sans JP" pitchFamily="34" charset="-120"/>
              </a:rPr>
              <a:t>講師を呼んで、何が出力されたかを見せてください。</a:t>
            </a:r>
            <a:endParaRPr lang="en-US" sz="1650" dirty="0"/>
          </a:p>
        </p:txBody>
      </p:sp>
      <p:sp>
        <p:nvSpPr>
          <p:cNvPr id="16" name="Text 12"/>
          <p:cNvSpPr txBox="1"/>
          <p:nvPr/>
        </p:nvSpPr>
        <p:spPr>
          <a:xfrm>
            <a:off x="10591495" y="7685532"/>
            <a:ext cx="6667805" cy="191110"/>
          </a:xfrm>
          <a:prstGeom prst="rect">
            <a:avLst/>
          </a:prstGeom>
          <a:noFill/>
          <a:ln/>
        </p:spPr>
        <p:txBody>
          <a:bodyPr wrap="none" lIns="0" tIns="0" rIns="0" bIns="0" rtlCol="0" anchor="ctr"/>
          <a:lstStyle/>
          <a:p>
            <a:pPr algn="l" indent="0" marL="0">
              <a:buNone/>
            </a:pPr>
            <a:r>
              <a:rPr lang="en-US" sz="1050" spc="63" kern="0" dirty="0">
                <a:solidFill>
                  <a:srgbClr val="B63A2A"/>
                </a:solidFill>
                <a:latin typeface="JetBrains Mono" pitchFamily="34" charset="0"/>
                <a:ea typeface="JetBrains Mono" pitchFamily="34" charset="-122"/>
                <a:cs typeface="JetBrains Mono" pitchFamily="34" charset="-120"/>
              </a:rPr>
              <a:t>そのあと → 11 解答スライドへ進みます</a:t>
            </a:r>
            <a:endParaRPr lang="en-US" sz="1050" dirty="0"/>
          </a:p>
        </p:txBody>
      </p:sp>
      <p:pic>
        <p:nvPicPr>
          <p:cNvPr id="17" name="Image 1" descr="gen-dedup-ff3b843c62efd2578b331bdfc9bb7c8f.png">    </p:cNvPr>
          <p:cNvPicPr>
            <a:picLocks noChangeAspect="1"/>
          </p:cNvPicPr>
          <p:nvPr/>
        </p:nvPicPr>
        <p:blipFill>
          <a:blip r:embed="rId2"/>
          <a:srcRect l="-2083" r="-2083" t="0" b="0"/>
          <a:stretch/>
        </p:blipFill>
        <p:spPr>
          <a:xfrm>
            <a:off x="914400" y="9334195"/>
            <a:ext cx="16459200" cy="9144"/>
          </a:xfrm>
          <a:prstGeom prst="rect">
            <a:avLst/>
          </a:prstGeom>
        </p:spPr>
      </p:pic>
      <p:sp>
        <p:nvSpPr>
          <p:cNvPr id="18" name="Text 13"/>
          <p:cNvSpPr txBox="1"/>
          <p:nvPr/>
        </p:nvSpPr>
        <p:spPr>
          <a:xfrm>
            <a:off x="2667305" y="914400"/>
            <a:ext cx="14287500" cy="219456"/>
          </a:xfrm>
          <a:prstGeom prst="rect">
            <a:avLst/>
          </a:prstGeom>
          <a:noFill/>
          <a:ln/>
        </p:spPr>
        <p:txBody>
          <a:bodyPr wrap="none" lIns="0" tIns="0" rIns="0" bIns="0" rtlCol="0" anchor="ctr"/>
          <a:lstStyle/>
          <a:p>
            <a:pPr algn="l" indent="0" marL="0">
              <a:buNone/>
            </a:pPr>
            <a:r>
              <a:rPr lang="en-US" sz="1350" spc="324" kern="0" dirty="0">
                <a:solidFill>
                  <a:srgbClr val="B63A2A"/>
                </a:solidFill>
                <a:latin typeface="JetBrains Mono" pitchFamily="34" charset="0"/>
                <a:ea typeface="JetBrains Mono" pitchFamily="34" charset="-122"/>
                <a:cs typeface="JetBrains Mono" pitchFamily="34" charset="-120"/>
              </a:rPr>
              <a:t>Hint · 3 of 3</a:t>
            </a:r>
            <a:endParaRPr lang="en-US" sz="1350" dirty="0"/>
          </a:p>
        </p:txBody>
      </p:sp>
      <p:sp>
        <p:nvSpPr>
          <p:cNvPr id="19" name="Text 14"/>
          <p:cNvSpPr txBox="1"/>
          <p:nvPr/>
        </p:nvSpPr>
        <p:spPr>
          <a:xfrm>
            <a:off x="2667305" y="1228954"/>
            <a:ext cx="14287500" cy="838505"/>
          </a:xfrm>
          <a:prstGeom prst="rect">
            <a:avLst/>
          </a:prstGeom>
          <a:noFill/>
          <a:ln/>
        </p:spPr>
        <p:txBody>
          <a:bodyPr wrap="none" lIns="0" tIns="0" rIns="0" bIns="0" rtlCol="0" anchor="ctr"/>
          <a:lstStyle/>
          <a:p>
            <a:pPr algn="l" indent="0" marL="0">
              <a:buNone/>
            </a:pPr>
            <a:r>
              <a:rPr lang="en-US" sz="6600" b="1" spc="-132" kern="0" dirty="0">
                <a:solidFill>
                  <a:srgbClr val="211C13"/>
                </a:solidFill>
                <a:latin typeface="Zen Kaku Gothic Antique" pitchFamily="34" charset="0"/>
                <a:ea typeface="Zen Kaku Gothic Antique" pitchFamily="34" charset="-122"/>
                <a:cs typeface="Zen Kaku Gothic Antique" pitchFamily="34" charset="-120"/>
              </a:rPr>
              <a:t>条件を「外側」から当てる。</a:t>
            </a:r>
            <a:endParaRPr lang="en-US" sz="6600" dirty="0"/>
          </a:p>
        </p:txBody>
      </p:sp>
      <p:sp>
        <p:nvSpPr>
          <p:cNvPr id="20" name="Text 15"/>
          <p:cNvSpPr txBox="1"/>
          <p:nvPr/>
        </p:nvSpPr>
        <p:spPr>
          <a:xfrm>
            <a:off x="2667305" y="9562795"/>
            <a:ext cx="9525305" cy="228600"/>
          </a:xfrm>
          <a:prstGeom prst="rect">
            <a:avLst/>
          </a:prstGeom>
          <a:noFill/>
          <a:ln/>
        </p:spPr>
        <p:txBody>
          <a:bodyPr wrap="none" lIns="0" tIns="0" rIns="0" bIns="0" rtlCol="0" anchor="ctr"/>
          <a:lstStyle/>
          <a:p>
            <a:pPr algn="l" indent="0" marL="0">
              <a:buNone/>
            </a:pPr>
            <a:r>
              <a:rPr lang="en-US" sz="1200" spc="72" kern="0" dirty="0">
                <a:solidFill>
                  <a:srgbClr val="5A4F3F"/>
                </a:solidFill>
                <a:latin typeface="JetBrains Mono" pitchFamily="34" charset="0"/>
                <a:ea typeface="JetBrains Mono" pitchFamily="34" charset="-122"/>
                <a:cs typeface="JetBrains Mono" pitchFamily="34" charset="-120"/>
              </a:rPr>
              <a:t>完全に解けていなくても次に進みます — 考え方の道筋だけでも観察できれば十分</a:t>
            </a:r>
            <a:endParaRPr lang="en-US" sz="1200" dirty="0"/>
          </a:p>
        </p:txBody>
      </p:sp>
      <p:sp>
        <p:nvSpPr>
          <p:cNvPr id="21" name="Text 16"/>
          <p:cNvSpPr txBox="1"/>
          <p:nvPr/>
        </p:nvSpPr>
        <p:spPr>
          <a:xfrm>
            <a:off x="15468905" y="9562795"/>
            <a:ext cx="1905610" cy="200254"/>
          </a:xfrm>
          <a:prstGeom prst="rect">
            <a:avLst/>
          </a:prstGeom>
          <a:noFill/>
          <a:ln/>
        </p:spPr>
        <p:txBody>
          <a:bodyPr wrap="none" lIns="0" tIns="0" rIns="0" bIns="0" rtlCol="0" anchor="ctr"/>
          <a:lstStyle/>
          <a:p>
            <a:pPr algn="r" indent="0" marL="0">
              <a:buNone/>
            </a:pPr>
            <a:r>
              <a:rPr lang="en-US" sz="1200" spc="72" kern="0" dirty="0">
                <a:solidFill>
                  <a:srgbClr val="5A4F3F"/>
                </a:solidFill>
                <a:latin typeface="JetBrains Mono" pitchFamily="34" charset="0"/>
                <a:ea typeface="JetBrains Mono" pitchFamily="34" charset="-122"/>
                <a:cs typeface="JetBrains Mono" pitchFamily="34" charset="-120"/>
              </a:rPr>
              <a:t>10 / 32</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FE7D4"/>
        </a:solidFill>
      </p:bgPr>
    </p:bg>
    <p:spTree>
      <p:nvGrpSpPr>
        <p:cNvPr id="1" name=""/>
        <p:cNvGrpSpPr/>
        <p:nvPr/>
      </p:nvGrpSpPr>
      <p:grpSpPr>
        <a:xfrm>
          <a:off x="0" y="0"/>
          <a:ext cx="0" cy="0"/>
          <a:chOff x="0" y="0"/>
          <a:chExt cx="0" cy="0"/>
        </a:xfrm>
      </p:grpSpPr>
      <p:sp>
        <p:nvSpPr>
          <p:cNvPr id="3" name="Shape 0"/>
          <p:cNvSpPr/>
          <p:nvPr/>
        </p:nvSpPr>
        <p:spPr>
          <a:xfrm>
            <a:off x="0" y="0"/>
            <a:ext cx="1904695" cy="10287000"/>
          </a:xfrm>
          <a:prstGeom prst="rect">
            <a:avLst/>
          </a:prstGeom>
          <a:solidFill>
            <a:srgbClr val="B63A2A"/>
          </a:solidFill>
          <a:ln w="12700">
            <a:solidFill>
              <a:srgbClr val="FFFFFF">
                <a:alpha val="0"/>
              </a:srgbClr>
            </a:solidFill>
            <a:prstDash val="solid"/>
          </a:ln>
        </p:spPr>
      </p:sp>
      <p:sp>
        <p:nvSpPr>
          <p:cNvPr id="4" name="Shape 1"/>
          <p:cNvSpPr/>
          <p:nvPr/>
        </p:nvSpPr>
        <p:spPr>
          <a:xfrm>
            <a:off x="2667305" y="2190902"/>
            <a:ext cx="14859000" cy="2667305"/>
          </a:xfrm>
          <a:prstGeom prst="roundRect">
            <a:avLst>
              <a:gd name="adj" fmla="val 1440"/>
            </a:avLst>
          </a:prstGeom>
          <a:solidFill>
            <a:srgbClr val="E5DBC4"/>
          </a:solidFill>
          <a:ln w="12700">
            <a:solidFill>
              <a:srgbClr val="FFFFFF">
                <a:alpha val="0"/>
              </a:srgbClr>
            </a:solidFill>
            <a:prstDash val="solid"/>
          </a:ln>
        </p:spPr>
      </p:sp>
      <p:sp>
        <p:nvSpPr>
          <p:cNvPr id="5" name="Shape 2"/>
          <p:cNvSpPr/>
          <p:nvPr/>
        </p:nvSpPr>
        <p:spPr>
          <a:xfrm>
            <a:off x="2667305" y="5143500"/>
            <a:ext cx="10477195" cy="3810305"/>
          </a:xfrm>
          <a:prstGeom prst="roundRect">
            <a:avLst>
              <a:gd name="adj" fmla="val 1008"/>
            </a:avLst>
          </a:prstGeom>
          <a:solidFill>
            <a:srgbClr val="1B1F25"/>
          </a:solidFill>
          <a:ln w="12700">
            <a:solidFill>
              <a:srgbClr val="FFFFFF">
                <a:alpha val="0"/>
              </a:srgbClr>
            </a:solidFill>
            <a:prstDash val="solid"/>
          </a:ln>
        </p:spPr>
      </p:sp>
      <p:sp>
        <p:nvSpPr>
          <p:cNvPr id="6" name="Shape 3"/>
          <p:cNvSpPr/>
          <p:nvPr/>
        </p:nvSpPr>
        <p:spPr>
          <a:xfrm>
            <a:off x="13525805" y="5143500"/>
            <a:ext cx="4000500" cy="3810305"/>
          </a:xfrm>
          <a:prstGeom prst="roundRect">
            <a:avLst>
              <a:gd name="adj" fmla="val 1008"/>
            </a:avLst>
          </a:prstGeom>
          <a:solidFill>
            <a:srgbClr val="E5DBC4"/>
          </a:solidFill>
          <a:ln w="12700">
            <a:solidFill>
              <a:srgbClr val="FFFFFF">
                <a:alpha val="0"/>
              </a:srgbClr>
            </a:solidFill>
            <a:prstDash val="solid"/>
          </a:ln>
        </p:spPr>
      </p:sp>
      <p:sp>
        <p:nvSpPr>
          <p:cNvPr id="7" name="Text 4"/>
          <p:cNvSpPr txBox="1"/>
          <p:nvPr/>
        </p:nvSpPr>
        <p:spPr>
          <a:xfrm>
            <a:off x="228600" y="914400"/>
            <a:ext cx="1524305" cy="171907"/>
          </a:xfrm>
          <a:prstGeom prst="rect">
            <a:avLst/>
          </a:prstGeom>
          <a:noFill/>
          <a:ln/>
        </p:spPr>
        <p:txBody>
          <a:bodyPr wrap="none" lIns="0" tIns="0" rIns="0" bIns="0" rtlCol="0" anchor="ctr"/>
          <a:lstStyle/>
          <a:p>
            <a:pPr algn="l" indent="0" marL="0">
              <a:buNone/>
            </a:pPr>
            <a:r>
              <a:rPr lang="en-US" sz="1050" spc="231" kern="0" dirty="0">
                <a:solidFill>
                  <a:srgbClr val="F5EFDD"/>
                </a:solidFill>
                <a:latin typeface="JetBrains Mono" pitchFamily="34" charset="0"/>
                <a:ea typeface="JetBrains Mono" pitchFamily="34" charset="-122"/>
                <a:cs typeface="JetBrains Mono" pitchFamily="34" charset="-120"/>
              </a:rPr>
              <a:t>SOLUTION</a:t>
            </a:r>
            <a:endParaRPr lang="en-US" sz="1050" dirty="0"/>
          </a:p>
        </p:txBody>
      </p:sp>
      <p:sp>
        <p:nvSpPr>
          <p:cNvPr id="8" name="Text 5"/>
          <p:cNvSpPr txBox="1"/>
          <p:nvPr/>
        </p:nvSpPr>
        <p:spPr>
          <a:xfrm>
            <a:off x="228600" y="1143000"/>
            <a:ext cx="1524305" cy="876910"/>
          </a:xfrm>
          <a:prstGeom prst="rect">
            <a:avLst/>
          </a:prstGeom>
          <a:noFill/>
          <a:ln/>
        </p:spPr>
        <p:txBody>
          <a:bodyPr wrap="none" lIns="0" tIns="0" rIns="0" bIns="0" rtlCol="0" anchor="ctr"/>
          <a:lstStyle/>
          <a:p>
            <a:pPr algn="l" indent="0" marL="0">
              <a:buNone/>
            </a:pPr>
            <a:r>
              <a:rPr lang="en-US" sz="7200" b="1" spc="-144" kern="0" dirty="0">
                <a:solidFill>
                  <a:srgbClr val="F5EFDD"/>
                </a:solidFill>
                <a:latin typeface="Zen Kaku Gothic Antique" pitchFamily="34" charset="0"/>
                <a:ea typeface="Zen Kaku Gothic Antique" pitchFamily="34" charset="-122"/>
                <a:cs typeface="Zen Kaku Gothic Antique" pitchFamily="34" charset="-120"/>
              </a:rPr>
              <a:t>01</a:t>
            </a:r>
            <a:endParaRPr lang="en-US" sz="7200" dirty="0"/>
          </a:p>
        </p:txBody>
      </p:sp>
      <p:pic>
        <p:nvPicPr>
          <p:cNvPr id="9" name="Image 0" descr="gen-dedup-2173e259c8f89e09f8a89067735d6b02.png">    </p:cNvPr>
          <p:cNvPicPr>
            <a:picLocks noChangeAspect="1"/>
          </p:cNvPicPr>
          <p:nvPr/>
        </p:nvPicPr>
        <p:blipFill>
          <a:blip r:embed="rId1"/>
          <a:srcRect l="-404" r="-404" t="0" b="0"/>
          <a:stretch/>
        </p:blipFill>
        <p:spPr>
          <a:xfrm>
            <a:off x="228600" y="2182673"/>
            <a:ext cx="571500" cy="28346"/>
          </a:xfrm>
          <a:prstGeom prst="rect">
            <a:avLst/>
          </a:prstGeom>
        </p:spPr>
      </p:pic>
      <p:sp>
        <p:nvSpPr>
          <p:cNvPr id="10" name="Text 6"/>
          <p:cNvSpPr txBox="1"/>
          <p:nvPr/>
        </p:nvSpPr>
        <p:spPr>
          <a:xfrm>
            <a:off x="2971800" y="2457907"/>
            <a:ext cx="14287500" cy="191110"/>
          </a:xfrm>
          <a:prstGeom prst="rect">
            <a:avLst/>
          </a:prstGeom>
          <a:noFill/>
          <a:ln/>
        </p:spPr>
        <p:txBody>
          <a:bodyPr wrap="none" lIns="0" tIns="0" rIns="0" bIns="0" rtlCol="0" anchor="ctr"/>
          <a:lstStyle/>
          <a:p>
            <a:pPr algn="l" indent="0" marL="0">
              <a:buNone/>
            </a:pPr>
            <a:r>
              <a:rPr lang="en-US" sz="1050" spc="189" kern="0" dirty="0">
                <a:solidFill>
                  <a:srgbClr val="B63A2A"/>
                </a:solidFill>
                <a:latin typeface="JetBrains Mono" pitchFamily="34" charset="0"/>
                <a:ea typeface="JetBrains Mono" pitchFamily="34" charset="-122"/>
                <a:cs typeface="JetBrains Mono" pitchFamily="34" charset="-120"/>
              </a:rPr>
              <a:t>見えたもの（教材実装で確認した一例）</a:t>
            </a:r>
            <a:endParaRPr lang="en-US" sz="1050" dirty="0"/>
          </a:p>
        </p:txBody>
      </p:sp>
      <p:sp>
        <p:nvSpPr>
          <p:cNvPr id="11" name="Text 7"/>
          <p:cNvSpPr txBox="1"/>
          <p:nvPr/>
        </p:nvSpPr>
        <p:spPr>
          <a:xfrm>
            <a:off x="2971800" y="2741371"/>
            <a:ext cx="14287500" cy="1107338"/>
          </a:xfrm>
          <a:prstGeom prst="rect">
            <a:avLst/>
          </a:prstGeom>
          <a:noFill/>
          <a:ln/>
        </p:spPr>
        <p:txBody>
          <a:bodyPr wrap="square" lIns="0" tIns="0" rIns="0" bIns="0" rtlCol="0" anchor="t"/>
          <a:lstStyle/>
          <a:p>
            <a:pPr algn="l" indent="0" marL="0">
              <a:lnSpc>
                <a:spcPts val="2790"/>
              </a:lnSpc>
              <a:buNone/>
            </a:pPr>
            <a:r>
              <a:rPr lang="en-US" sz="1800" dirty="0">
                <a:solidFill>
                  <a:srgbClr val="211C13"/>
                </a:solidFill>
                <a:latin typeface="Noto Sans JP" pitchFamily="34" charset="0"/>
                <a:ea typeface="Noto Sans JP" pitchFamily="34" charset="-122"/>
                <a:cs typeface="Noto Sans JP" pitchFamily="34" charset="-120"/>
              </a:rPr>
              <a:t>公開ユーザーの検索 API は、リクエストに search という文字列フィールドを持ち、</a:t>
            </a:r>
            <a:pPr algn="l" indent="0" marL="0">
              <a:lnSpc>
                <a:spcPts val="2790"/>
              </a:lnSpc>
              <a:buNone/>
            </a:pPr>
            <a:endParaRPr lang="en-US" sz="1800" dirty="0"/>
          </a:p>
          <a:p>
            <a:pPr algn="l" indent="0" marL="0">
              <a:lnSpc>
                <a:spcPts val="2790"/>
              </a:lnSpc>
              <a:buNone/>
            </a:pPr>
            <a:r>
              <a:rPr lang="en-US" sz="1800" dirty="0">
                <a:solidFill>
                  <a:srgbClr val="211C13"/>
                </a:solidFill>
                <a:latin typeface="Noto Sans JP" pitchFamily="34" charset="0"/>
                <a:ea typeface="Noto Sans JP" pitchFamily="34" charset="-122"/>
                <a:cs typeface="Noto Sans JP" pitchFamily="34" charset="-120"/>
              </a:rPr>
              <a:t>アプリ画面と DevTools のレスポンスはどちらも公開ユーザーだけを返していました。最終行でレスポンスの「件数」を見ると、想定件数より増えるかが確認できます。</a:t>
            </a:r>
            <a:endParaRPr lang="en-US" sz="1800" dirty="0"/>
          </a:p>
        </p:txBody>
      </p:sp>
      <p:sp>
        <p:nvSpPr>
          <p:cNvPr id="12" name="Text 8"/>
          <p:cNvSpPr txBox="1"/>
          <p:nvPr/>
        </p:nvSpPr>
        <p:spPr>
          <a:xfrm>
            <a:off x="2971800" y="5391302"/>
            <a:ext cx="9906610" cy="228600"/>
          </a:xfrm>
          <a:prstGeom prst="rect">
            <a:avLst/>
          </a:prstGeom>
          <a:noFill/>
          <a:ln/>
        </p:spPr>
        <p:txBody>
          <a:bodyPr wrap="none" lIns="0" tIns="0" rIns="0" bIns="0" rtlCol="0" anchor="ctr"/>
          <a:lstStyle/>
          <a:p>
            <a:pPr algn="l" indent="0" marL="0">
              <a:buNone/>
            </a:pPr>
            <a:r>
              <a:rPr lang="en-US" sz="1200" spc="216" kern="0" dirty="0">
                <a:solidFill>
                  <a:srgbClr val="D4922A"/>
                </a:solidFill>
                <a:latin typeface="JetBrains Mono" pitchFamily="34" charset="0"/>
                <a:ea typeface="JetBrains Mono" pitchFamily="34" charset="-122"/>
                <a:cs typeface="JetBrains Mono" pitchFamily="34" charset="-120"/>
              </a:rPr>
              <a:t>観察して Console で投げる（模式例 — トークンは自分の通信から）</a:t>
            </a:r>
            <a:endParaRPr lang="en-US" sz="1200" dirty="0"/>
          </a:p>
        </p:txBody>
      </p:sp>
      <p:sp>
        <p:nvSpPr>
          <p:cNvPr id="13" name="Text 9"/>
          <p:cNvSpPr txBox="1"/>
          <p:nvPr/>
        </p:nvSpPr>
        <p:spPr>
          <a:xfrm>
            <a:off x="2971800" y="5790895"/>
            <a:ext cx="9906610" cy="1038758"/>
          </a:xfrm>
          <a:prstGeom prst="rect">
            <a:avLst/>
          </a:prstGeom>
          <a:noFill/>
          <a:ln/>
        </p:spPr>
        <p:txBody>
          <a:bodyPr wrap="square" lIns="0" tIns="0" rIns="0" bIns="0" rtlCol="0" anchor="ctr"/>
          <a:lstStyle/>
          <a:p>
            <a:pPr algn="l" indent="0" marL="0">
              <a:lnSpc>
                <a:spcPts val="2723"/>
              </a:lnSpc>
              <a:buNone/>
            </a:pPr>
            <a:r>
              <a:rPr lang="en-US" sz="1650" dirty="0">
                <a:solidFill>
                  <a:srgbClr val="ECE4D2"/>
                </a:solidFill>
                <a:latin typeface="JetBrains Mono" pitchFamily="34" charset="0"/>
                <a:ea typeface="JetBrains Mono" pitchFamily="34" charset="-122"/>
                <a:cs typeface="JetBrains Mono" pitchFamily="34" charset="-120"/>
              </a:rPr>
              <a:t>// まずは通常検索を観察 fetch("/rest/v1/users?select=...&amp;is_public=eq.true", { headers: { "Authorization": "Bearer &lt;自分のトークン&gt;" } }); // 検索窓に "x' OR is_public = false OR '" を入れる // → レスポンスの件数が想定より増えることを確認</a:t>
            </a:r>
            <a:endParaRPr lang="en-US" sz="1650" dirty="0"/>
          </a:p>
        </p:txBody>
      </p:sp>
      <p:sp>
        <p:nvSpPr>
          <p:cNvPr id="14" name="Text 10"/>
          <p:cNvSpPr txBox="1"/>
          <p:nvPr/>
        </p:nvSpPr>
        <p:spPr>
          <a:xfrm>
            <a:off x="2971800" y="6999732"/>
            <a:ext cx="9906610" cy="534010"/>
          </a:xfrm>
          <a:prstGeom prst="rect">
            <a:avLst/>
          </a:prstGeom>
          <a:noFill/>
          <a:ln/>
        </p:spPr>
        <p:txBody>
          <a:bodyPr wrap="square" lIns="0" tIns="0" rIns="0" bIns="0" rtlCol="0" anchor="ctr"/>
          <a:lstStyle/>
          <a:p>
            <a:pPr algn="l" indent="0" marL="0">
              <a:lnSpc>
                <a:spcPts val="2092"/>
              </a:lnSpc>
              <a:buNone/>
            </a:pPr>
            <a:r>
              <a:rPr lang="en-US" sz="1350" dirty="0">
                <a:solidFill>
                  <a:srgbClr val="8A8170"/>
                </a:solidFill>
                <a:latin typeface="Noto Sans JP" pitchFamily="34" charset="0"/>
                <a:ea typeface="Noto Sans JP" pitchFamily="34" charset="-122"/>
                <a:cs typeface="Noto Sans JP" pitchFamily="34" charset="-120"/>
              </a:rPr>
              <a:t>上記は一例です。教材実装では検索欄の入力タイプやペイロードの形が変わる可能性があります。必ず事前試行で確認した範囲で言及してください。本物のトークン文字列はここに書かず、受講者各自の DevTools から渡します。</a:t>
            </a:r>
            <a:endParaRPr lang="en-US" sz="1350" dirty="0"/>
          </a:p>
        </p:txBody>
      </p:sp>
      <p:sp>
        <p:nvSpPr>
          <p:cNvPr id="15" name="Text 11"/>
          <p:cNvSpPr txBox="1"/>
          <p:nvPr/>
        </p:nvSpPr>
        <p:spPr>
          <a:xfrm>
            <a:off x="13830300" y="5391302"/>
            <a:ext cx="3429000" cy="191110"/>
          </a:xfrm>
          <a:prstGeom prst="rect">
            <a:avLst/>
          </a:prstGeom>
          <a:noFill/>
          <a:ln/>
        </p:spPr>
        <p:txBody>
          <a:bodyPr wrap="none" lIns="0" tIns="0" rIns="0" bIns="0" rtlCol="0" anchor="ctr"/>
          <a:lstStyle/>
          <a:p>
            <a:pPr algn="l" indent="0" marL="0">
              <a:buNone/>
            </a:pPr>
            <a:r>
              <a:rPr lang="en-US" sz="1050" spc="189" kern="0" dirty="0">
                <a:solidFill>
                  <a:srgbClr val="5A4F3F"/>
                </a:solidFill>
                <a:latin typeface="JetBrains Mono" pitchFamily="34" charset="0"/>
                <a:ea typeface="JetBrains Mono" pitchFamily="34" charset="-122"/>
                <a:cs typeface="JetBrains Mono" pitchFamily="34" charset="-120"/>
              </a:rPr>
              <a:t>何が出たか</a:t>
            </a:r>
            <a:endParaRPr lang="en-US" sz="1050" dirty="0"/>
          </a:p>
        </p:txBody>
      </p:sp>
      <p:sp>
        <p:nvSpPr>
          <p:cNvPr id="16" name="Text 12"/>
          <p:cNvSpPr txBox="1"/>
          <p:nvPr/>
        </p:nvSpPr>
        <p:spPr>
          <a:xfrm>
            <a:off x="13830300" y="5720486"/>
            <a:ext cx="3429000" cy="1509674"/>
          </a:xfrm>
          <a:prstGeom prst="rect">
            <a:avLst/>
          </a:prstGeom>
          <a:noFill/>
          <a:ln/>
        </p:spPr>
        <p:txBody>
          <a:bodyPr wrap="square" lIns="0" tIns="0" rIns="0" bIns="0" rtlCol="0" anchor="t"/>
          <a:lstStyle/>
          <a:p>
            <a:pPr algn="l" indent="0" marL="0">
              <a:lnSpc>
                <a:spcPts val="2325"/>
              </a:lnSpc>
              <a:buNone/>
            </a:pPr>
            <a:r>
              <a:rPr lang="en-US" sz="1500" dirty="0">
                <a:solidFill>
                  <a:srgbClr val="211C13"/>
                </a:solidFill>
                <a:latin typeface="Noto Sans JP" pitchFamily="34" charset="0"/>
                <a:ea typeface="Noto Sans JP" pitchFamily="34" charset="-122"/>
                <a:cs typeface="Noto Sans JP" pitchFamily="34" charset="-120"/>
              </a:rPr>
              <a:t>非公開ユーザーの表示名が、レスポンス JSON の配列内に。</a:t>
            </a:r>
            <a:pPr algn="l" indent="0" marL="0">
              <a:lnSpc>
                <a:spcPts val="2325"/>
              </a:lnSpc>
              <a:buNone/>
            </a:pPr>
            <a:endParaRPr lang="en-US" sz="1500" dirty="0"/>
          </a:p>
          <a:p>
            <a:pPr algn="l" indent="0" marL="0">
              <a:lnSpc>
                <a:spcPts val="2325"/>
              </a:lnSpc>
              <a:buNone/>
            </a:pPr>
            <a:endParaRPr lang="en-US" sz="1500" dirty="0"/>
          </a:p>
          <a:p>
            <a:pPr algn="l" indent="0" marL="0">
              <a:lnSpc>
                <a:spcPts val="2325"/>
              </a:lnSpc>
              <a:buNone/>
            </a:pPr>
            <a:r>
              <a:rPr lang="en-US" sz="1500" dirty="0">
                <a:solidFill>
                  <a:srgbClr val="211C13"/>
                </a:solidFill>
                <a:latin typeface="Noto Sans JP" pitchFamily="34" charset="0"/>
                <a:ea typeface="Noto Sans JP" pitchFamily="34" charset="-122"/>
                <a:cs typeface="Noto Sans JP" pitchFamily="34" charset="-120"/>
              </a:rPr>
              <a:t>1件取れた段階で止めて観察するのが今回の成功条件です。</a:t>
            </a:r>
            <a:endParaRPr lang="en-US" sz="1500" dirty="0"/>
          </a:p>
        </p:txBody>
      </p:sp>
      <p:pic>
        <p:nvPicPr>
          <p:cNvPr id="17" name="Image 1" descr="gen-dedup-ff3b843c62efd2578b331bdfc9bb7c8f.png">    </p:cNvPr>
          <p:cNvPicPr>
            <a:picLocks noChangeAspect="1"/>
          </p:cNvPicPr>
          <p:nvPr/>
        </p:nvPicPr>
        <p:blipFill>
          <a:blip r:embed="rId2"/>
          <a:srcRect l="-2083" r="-2083" t="0" b="0"/>
          <a:stretch/>
        </p:blipFill>
        <p:spPr>
          <a:xfrm>
            <a:off x="914400" y="9334195"/>
            <a:ext cx="16459200" cy="9144"/>
          </a:xfrm>
          <a:prstGeom prst="rect">
            <a:avLst/>
          </a:prstGeom>
        </p:spPr>
      </p:pic>
      <p:sp>
        <p:nvSpPr>
          <p:cNvPr id="18" name="Shape 13"/>
          <p:cNvSpPr/>
          <p:nvPr/>
        </p:nvSpPr>
        <p:spPr>
          <a:xfrm>
            <a:off x="2667305" y="761695"/>
            <a:ext cx="1619402" cy="381305"/>
          </a:xfrm>
          <a:prstGeom prst="roundRect">
            <a:avLst>
              <a:gd name="adj" fmla="val 49880"/>
            </a:avLst>
          </a:prstGeom>
          <a:solidFill>
            <a:srgbClr val="211C13"/>
          </a:solidFill>
          <a:ln w="12700">
            <a:solidFill>
              <a:srgbClr val="FFFFFF">
                <a:alpha val="0"/>
              </a:srgbClr>
            </a:solidFill>
            <a:prstDash val="solid"/>
          </a:ln>
        </p:spPr>
      </p:sp>
      <p:sp>
        <p:nvSpPr>
          <p:cNvPr id="19" name="Text 14"/>
          <p:cNvSpPr txBox="1"/>
          <p:nvPr/>
        </p:nvSpPr>
        <p:spPr>
          <a:xfrm>
            <a:off x="4572000" y="705002"/>
            <a:ext cx="12382805" cy="219456"/>
          </a:xfrm>
          <a:prstGeom prst="rect">
            <a:avLst/>
          </a:prstGeom>
          <a:noFill/>
          <a:ln/>
        </p:spPr>
        <p:txBody>
          <a:bodyPr wrap="none" lIns="0" tIns="0" rIns="0" bIns="0" rtlCol="0" anchor="ctr"/>
          <a:lstStyle/>
          <a:p>
            <a:pPr algn="l" indent="0" marL="0">
              <a:buNone/>
            </a:pPr>
            <a:r>
              <a:rPr lang="en-US" sz="1350" spc="324" kern="0" dirty="0">
                <a:solidFill>
                  <a:srgbClr val="B63A2A"/>
                </a:solidFill>
                <a:latin typeface="JetBrains Mono" pitchFamily="34" charset="0"/>
                <a:ea typeface="JetBrains Mono" pitchFamily="34" charset="-122"/>
                <a:cs typeface="JetBrains Mono" pitchFamily="34" charset="-120"/>
              </a:rPr>
              <a:t>11 · Challenge 01</a:t>
            </a:r>
            <a:endParaRPr lang="en-US" sz="1350" dirty="0"/>
          </a:p>
        </p:txBody>
      </p:sp>
      <p:sp>
        <p:nvSpPr>
          <p:cNvPr id="20" name="Text 15"/>
          <p:cNvSpPr txBox="1"/>
          <p:nvPr/>
        </p:nvSpPr>
        <p:spPr>
          <a:xfrm>
            <a:off x="4572000" y="1000354"/>
            <a:ext cx="12382805" cy="886054"/>
          </a:xfrm>
          <a:prstGeom prst="rect">
            <a:avLst/>
          </a:prstGeom>
          <a:noFill/>
          <a:ln/>
        </p:spPr>
        <p:txBody>
          <a:bodyPr wrap="none" lIns="0" tIns="0" rIns="0" bIns="0" rtlCol="0" anchor="ctr"/>
          <a:lstStyle/>
          <a:p>
            <a:pPr algn="l" indent="0" marL="0">
              <a:buNone/>
            </a:pPr>
            <a:r>
              <a:rPr lang="en-US" sz="6300" b="1" spc="-126" kern="0" dirty="0">
                <a:solidFill>
                  <a:srgbClr val="211C13"/>
                </a:solidFill>
                <a:latin typeface="Zen Kaku Gothic Antique" pitchFamily="34" charset="0"/>
                <a:ea typeface="Zen Kaku Gothic Antique" pitchFamily="34" charset="-122"/>
                <a:cs typeface="Zen Kaku Gothic Antique" pitchFamily="34" charset="-120"/>
              </a:rPr>
              <a:t>解答と再現手順</a:t>
            </a:r>
            <a:endParaRPr lang="en-US" sz="6300" dirty="0"/>
          </a:p>
        </p:txBody>
      </p:sp>
      <p:sp>
        <p:nvSpPr>
          <p:cNvPr id="21" name="Text 16"/>
          <p:cNvSpPr txBox="1"/>
          <p:nvPr/>
        </p:nvSpPr>
        <p:spPr>
          <a:xfrm>
            <a:off x="2667305" y="9562795"/>
            <a:ext cx="9525305" cy="228600"/>
          </a:xfrm>
          <a:prstGeom prst="rect">
            <a:avLst/>
          </a:prstGeom>
          <a:noFill/>
          <a:ln/>
        </p:spPr>
        <p:txBody>
          <a:bodyPr wrap="none" lIns="0" tIns="0" rIns="0" bIns="0" rtlCol="0" anchor="ctr"/>
          <a:lstStyle/>
          <a:p>
            <a:pPr algn="l" indent="0" marL="0">
              <a:buNone/>
            </a:pPr>
            <a:r>
              <a:rPr lang="en-US" sz="1200" spc="72" kern="0" dirty="0">
                <a:solidFill>
                  <a:srgbClr val="5A4F3F"/>
                </a:solidFill>
                <a:latin typeface="JetBrains Mono" pitchFamily="34" charset="0"/>
                <a:ea typeface="JetBrains Mono" pitchFamily="34" charset="-122"/>
                <a:cs typeface="JetBrains Mono" pitchFamily="34" charset="-120"/>
              </a:rPr>
              <a:t>講師用 — 1件取れたら停止 · 大量取得・書き換えは趣旨外と参加者に伝える</a:t>
            </a:r>
            <a:endParaRPr lang="en-US" sz="1200" dirty="0"/>
          </a:p>
        </p:txBody>
      </p:sp>
      <p:sp>
        <p:nvSpPr>
          <p:cNvPr id="22" name="Text 17"/>
          <p:cNvSpPr txBox="1"/>
          <p:nvPr/>
        </p:nvSpPr>
        <p:spPr>
          <a:xfrm>
            <a:off x="15468905" y="9562795"/>
            <a:ext cx="1905610" cy="200254"/>
          </a:xfrm>
          <a:prstGeom prst="rect">
            <a:avLst/>
          </a:prstGeom>
          <a:noFill/>
          <a:ln/>
        </p:spPr>
        <p:txBody>
          <a:bodyPr wrap="none" lIns="0" tIns="0" rIns="0" bIns="0" rtlCol="0" anchor="ctr"/>
          <a:lstStyle/>
          <a:p>
            <a:pPr algn="r" indent="0" marL="0">
              <a:buNone/>
            </a:pPr>
            <a:r>
              <a:rPr lang="en-US" sz="1200" spc="72" kern="0" dirty="0">
                <a:solidFill>
                  <a:srgbClr val="5A4F3F"/>
                </a:solidFill>
                <a:latin typeface="JetBrains Mono" pitchFamily="34" charset="0"/>
                <a:ea typeface="JetBrains Mono" pitchFamily="34" charset="-122"/>
                <a:cs typeface="JetBrains Mono" pitchFamily="34" charset="-120"/>
              </a:rPr>
              <a:t>11 / 32</a:t>
            </a:r>
            <a:endParaRPr lang="en-US" sz="1200" dirty="0"/>
          </a:p>
        </p:txBody>
      </p:sp>
      <p:sp>
        <p:nvSpPr>
          <p:cNvPr id="23" name="Text 18"/>
          <p:cNvSpPr txBox="1"/>
          <p:nvPr/>
        </p:nvSpPr>
        <p:spPr>
          <a:xfrm>
            <a:off x="2667305" y="761695"/>
            <a:ext cx="1619402" cy="381305"/>
          </a:xfrm>
          <a:prstGeom prst="rect">
            <a:avLst/>
          </a:prstGeom>
          <a:noFill/>
          <a:ln/>
        </p:spPr>
        <p:txBody>
          <a:bodyPr wrap="none" lIns="0" tIns="0" rIns="0" bIns="0" rtlCol="0" anchor="ctr"/>
          <a:lstStyle/>
          <a:p>
            <a:pPr algn="ctr" indent="0" marL="0">
              <a:buNone/>
            </a:pPr>
            <a:r>
              <a:rPr lang="en-US" sz="1050" spc="231" kern="0" dirty="0">
                <a:solidFill>
                  <a:srgbClr val="F5EFDD"/>
                </a:solidFill>
                <a:latin typeface="JetBrains Mono" pitchFamily="34" charset="0"/>
                <a:ea typeface="JetBrains Mono" pitchFamily="34" charset="-122"/>
                <a:cs typeface="JetBrains Mono" pitchFamily="34" charset="-120"/>
              </a:rPr>
              <a:t>INSTRUCTOR</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FE7D4"/>
        </a:solidFill>
      </p:bgPr>
    </p:bg>
    <p:spTree>
      <p:nvGrpSpPr>
        <p:cNvPr id="1" name=""/>
        <p:cNvGrpSpPr/>
        <p:nvPr/>
      </p:nvGrpSpPr>
      <p:grpSpPr>
        <a:xfrm>
          <a:off x="0" y="0"/>
          <a:ext cx="0" cy="0"/>
          <a:chOff x="0" y="0"/>
          <a:chExt cx="0" cy="0"/>
        </a:xfrm>
      </p:grpSpPr>
      <p:sp>
        <p:nvSpPr>
          <p:cNvPr id="3" name="Shape 0"/>
          <p:cNvSpPr/>
          <p:nvPr/>
        </p:nvSpPr>
        <p:spPr>
          <a:xfrm>
            <a:off x="914400" y="3619195"/>
            <a:ext cx="8096098" cy="5524805"/>
          </a:xfrm>
          <a:prstGeom prst="roundRect">
            <a:avLst>
              <a:gd name="adj" fmla="val 695"/>
            </a:avLst>
          </a:prstGeom>
          <a:solidFill>
            <a:srgbClr val="1B1F25"/>
          </a:solidFill>
          <a:ln w="12700">
            <a:solidFill>
              <a:srgbClr val="FFFFFF">
                <a:alpha val="0"/>
              </a:srgbClr>
            </a:solidFill>
            <a:prstDash val="solid"/>
          </a:ln>
        </p:spPr>
      </p:sp>
      <p:sp>
        <p:nvSpPr>
          <p:cNvPr id="4" name="Shape 1"/>
          <p:cNvSpPr/>
          <p:nvPr/>
        </p:nvSpPr>
        <p:spPr>
          <a:xfrm>
            <a:off x="9277502" y="3619195"/>
            <a:ext cx="8096098" cy="5524805"/>
          </a:xfrm>
          <a:prstGeom prst="roundRect">
            <a:avLst>
              <a:gd name="adj" fmla="val 695"/>
            </a:avLst>
          </a:prstGeom>
          <a:solidFill>
            <a:srgbClr val="1B1F25"/>
          </a:solidFill>
          <a:ln w="12700">
            <a:solidFill>
              <a:srgbClr val="FFFFFF">
                <a:alpha val="0"/>
              </a:srgbClr>
            </a:solidFill>
            <a:prstDash val="solid"/>
          </a:ln>
        </p:spPr>
      </p:sp>
      <p:pic>
        <p:nvPicPr>
          <p:cNvPr id="5" name="Image 0" descr="gen-dedup-d99210d678296f80e380ef1e2bb7baf4.png">    </p:cNvPr>
          <p:cNvPicPr>
            <a:picLocks noChangeAspect="1"/>
          </p:cNvPicPr>
          <p:nvPr/>
        </p:nvPicPr>
        <p:blipFill>
          <a:blip r:embed="rId1"/>
          <a:srcRect l="0" r="0" t="-401" b="-401"/>
          <a:stretch/>
        </p:blipFill>
        <p:spPr>
          <a:xfrm>
            <a:off x="914400" y="3619195"/>
            <a:ext cx="8096098" cy="57607"/>
          </a:xfrm>
          <a:prstGeom prst="rect">
            <a:avLst/>
          </a:prstGeom>
        </p:spPr>
      </p:pic>
      <p:pic>
        <p:nvPicPr>
          <p:cNvPr id="6" name="Image 1" descr="gen-dedup-8d0165431c89af9412ad4e21cbcb0d70.png">    </p:cNvPr>
          <p:cNvPicPr>
            <a:picLocks noChangeAspect="1"/>
          </p:cNvPicPr>
          <p:nvPr/>
        </p:nvPicPr>
        <p:blipFill>
          <a:blip r:embed="rId2"/>
          <a:srcRect l="0" r="0" t="-401" b="-401"/>
          <a:stretch/>
        </p:blipFill>
        <p:spPr>
          <a:xfrm>
            <a:off x="9277502" y="3619195"/>
            <a:ext cx="8096098" cy="57607"/>
          </a:xfrm>
          <a:prstGeom prst="rect">
            <a:avLst/>
          </a:prstGeom>
        </p:spPr>
      </p:pic>
      <p:sp>
        <p:nvSpPr>
          <p:cNvPr id="7" name="Text 2"/>
          <p:cNvSpPr txBox="1"/>
          <p:nvPr/>
        </p:nvSpPr>
        <p:spPr>
          <a:xfrm>
            <a:off x="1218895" y="3924605"/>
            <a:ext cx="7525512" cy="191110"/>
          </a:xfrm>
          <a:prstGeom prst="rect">
            <a:avLst/>
          </a:prstGeom>
          <a:noFill/>
          <a:ln/>
        </p:spPr>
        <p:txBody>
          <a:bodyPr wrap="none" lIns="0" tIns="0" rIns="0" bIns="0" rtlCol="0" anchor="ctr"/>
          <a:lstStyle/>
          <a:p>
            <a:pPr algn="l" indent="0" marL="0">
              <a:buNone/>
            </a:pPr>
            <a:r>
              <a:rPr lang="en-US" sz="1050" spc="189" kern="0" dirty="0">
                <a:solidFill>
                  <a:srgbClr val="B63A2A"/>
                </a:solidFill>
                <a:latin typeface="JetBrains Mono" pitchFamily="34" charset="0"/>
                <a:ea typeface="JetBrains Mono" pitchFamily="34" charset="-122"/>
                <a:cs typeface="JetBrains Mono" pitchFamily="34" charset="-120"/>
              </a:rPr>
              <a:t>VULNERABLE · 連結で組み立てる</a:t>
            </a:r>
            <a:endParaRPr lang="en-US" sz="1050" dirty="0"/>
          </a:p>
        </p:txBody>
      </p:sp>
      <p:sp>
        <p:nvSpPr>
          <p:cNvPr id="8" name="Text 3"/>
          <p:cNvSpPr txBox="1"/>
          <p:nvPr/>
        </p:nvSpPr>
        <p:spPr>
          <a:xfrm>
            <a:off x="1218895" y="4343400"/>
            <a:ext cx="7525512" cy="1390802"/>
          </a:xfrm>
          <a:prstGeom prst="rect">
            <a:avLst/>
          </a:prstGeom>
          <a:noFill/>
          <a:ln/>
        </p:spPr>
        <p:txBody>
          <a:bodyPr wrap="square" lIns="0" tIns="0" rIns="0" bIns="0" rtlCol="0" anchor="ctr"/>
          <a:lstStyle/>
          <a:p>
            <a:pPr algn="l" indent="0" marL="0">
              <a:lnSpc>
                <a:spcPts val="2723"/>
              </a:lnSpc>
              <a:buNone/>
            </a:pPr>
            <a:r>
              <a:rPr lang="en-US" sz="1650" dirty="0">
                <a:solidFill>
                  <a:srgbClr val="ECE4D2"/>
                </a:solidFill>
                <a:latin typeface="JetBrains Mono" pitchFamily="34" charset="0"/>
                <a:ea typeface="JetBrains Mono" pitchFamily="34" charset="-122"/>
                <a:cs typeface="JetBrains Mono" pitchFamily="34" charset="-120"/>
              </a:rPr>
              <a:t>const q = `select=id,display_name&amp;is_public=eq.true &amp;display_name=ilike.*${term}*`; const res = await fetch(baseUrl + "/users?" + q, { headers: { Authorization: `Bearer ${token}` } });</a:t>
            </a:r>
            <a:endParaRPr lang="en-US" sz="1650" dirty="0"/>
          </a:p>
        </p:txBody>
      </p:sp>
      <p:sp>
        <p:nvSpPr>
          <p:cNvPr id="9" name="Text 4"/>
          <p:cNvSpPr txBox="1"/>
          <p:nvPr/>
        </p:nvSpPr>
        <p:spPr>
          <a:xfrm>
            <a:off x="1218895" y="5954573"/>
            <a:ext cx="7525512" cy="619963"/>
          </a:xfrm>
          <a:prstGeom prst="rect">
            <a:avLst/>
          </a:prstGeom>
          <a:noFill/>
          <a:ln/>
        </p:spPr>
        <p:txBody>
          <a:bodyPr wrap="square" lIns="0" tIns="0" rIns="0" bIns="0" rtlCol="0" anchor="ctr"/>
          <a:lstStyle/>
          <a:p>
            <a:pPr algn="l" indent="0" marL="0">
              <a:lnSpc>
                <a:spcPts val="2400"/>
              </a:lnSpc>
              <a:buNone/>
            </a:pPr>
            <a:r>
              <a:rPr lang="en-US" sz="1500" dirty="0">
                <a:solidFill>
                  <a:srgbClr val="8A8170"/>
                </a:solidFill>
                <a:latin typeface="Noto Sans JP" pitchFamily="34" charset="0"/>
                <a:ea typeface="Noto Sans JP" pitchFamily="34" charset="-122"/>
                <a:cs typeface="Noto Sans JP" pitchFamily="34" charset="-120"/>
              </a:rPr>
              <a:t>入力 </a:t>
            </a:r>
            <a:pPr algn="l" indent="0" marL="0">
              <a:lnSpc>
                <a:spcPts val="2400"/>
              </a:lnSpc>
              <a:buNone/>
            </a:pPr>
            <a:r>
              <a:rPr lang="en-US" sz="1500" dirty="0">
                <a:solidFill>
                  <a:srgbClr val="ECE4D2"/>
                </a:solidFill>
                <a:latin typeface="JetBrains Mono" pitchFamily="34" charset="0"/>
                <a:ea typeface="JetBrains Mono" pitchFamily="34" charset="-122"/>
                <a:cs typeface="JetBrains Mono" pitchFamily="34" charset="-120"/>
              </a:rPr>
              <a:t>term</a:t>
            </a:r>
            <a:pPr algn="l" indent="0" marL="0">
              <a:lnSpc>
                <a:spcPts val="2400"/>
              </a:lnSpc>
              <a:buNone/>
            </a:pPr>
            <a:r>
              <a:rPr lang="en-US" sz="1500" dirty="0">
                <a:solidFill>
                  <a:srgbClr val="8A8170"/>
                </a:solidFill>
                <a:latin typeface="Noto Sans JP" pitchFamily="34" charset="0"/>
                <a:ea typeface="Noto Sans JP" pitchFamily="34" charset="-122"/>
                <a:cs typeface="Noto Sans JP" pitchFamily="34" charset="-120"/>
              </a:rPr>
              <a:t> の中に SQL の意味を変える記号が入ると、それもクエリの一部として解釈される。</a:t>
            </a:r>
            <a:endParaRPr lang="en-US" sz="1500" dirty="0"/>
          </a:p>
        </p:txBody>
      </p:sp>
      <p:sp>
        <p:nvSpPr>
          <p:cNvPr id="10" name="Text 5"/>
          <p:cNvSpPr txBox="1"/>
          <p:nvPr/>
        </p:nvSpPr>
        <p:spPr>
          <a:xfrm>
            <a:off x="9581998" y="3924605"/>
            <a:ext cx="7525512" cy="191110"/>
          </a:xfrm>
          <a:prstGeom prst="rect">
            <a:avLst/>
          </a:prstGeom>
          <a:noFill/>
          <a:ln/>
        </p:spPr>
        <p:txBody>
          <a:bodyPr wrap="none" lIns="0" tIns="0" rIns="0" bIns="0" rtlCol="0" anchor="ctr"/>
          <a:lstStyle/>
          <a:p>
            <a:pPr algn="l" indent="0" marL="0">
              <a:buNone/>
            </a:pPr>
            <a:r>
              <a:rPr lang="en-US" sz="1050" spc="189" kern="0" dirty="0">
                <a:solidFill>
                  <a:srgbClr val="5BAA85"/>
                </a:solidFill>
                <a:latin typeface="JetBrains Mono" pitchFamily="34" charset="0"/>
                <a:ea typeface="JetBrains Mono" pitchFamily="34" charset="-122"/>
                <a:cs typeface="JetBrains Mono" pitchFamily="34" charset="-120"/>
              </a:rPr>
              <a:t>FIXED · 値を埋め込まずに渡す</a:t>
            </a:r>
            <a:endParaRPr lang="en-US" sz="1050" dirty="0"/>
          </a:p>
        </p:txBody>
      </p:sp>
      <p:sp>
        <p:nvSpPr>
          <p:cNvPr id="11" name="Text 6"/>
          <p:cNvSpPr txBox="1"/>
          <p:nvPr/>
        </p:nvSpPr>
        <p:spPr>
          <a:xfrm>
            <a:off x="9581998" y="4343400"/>
            <a:ext cx="7525512" cy="1390802"/>
          </a:xfrm>
          <a:prstGeom prst="rect">
            <a:avLst/>
          </a:prstGeom>
          <a:noFill/>
          <a:ln/>
        </p:spPr>
        <p:txBody>
          <a:bodyPr wrap="square" lIns="0" tIns="0" rIns="0" bIns="0" rtlCol="0" anchor="ctr"/>
          <a:lstStyle/>
          <a:p>
            <a:pPr algn="l" indent="0" marL="0">
              <a:lnSpc>
                <a:spcPts val="2723"/>
              </a:lnSpc>
              <a:buNone/>
            </a:pPr>
            <a:r>
              <a:rPr lang="en-US" sz="1650" dirty="0">
                <a:solidFill>
                  <a:srgbClr val="ECE4D2"/>
                </a:solidFill>
                <a:latin typeface="JetBrains Mono" pitchFamily="34" charset="0"/>
                <a:ea typeface="JetBrains Mono" pitchFamily="34" charset="-122"/>
                <a:cs typeface="JetBrains Mono" pitchFamily="34" charset="-120"/>
              </a:rPr>
              <a:t>const res = await fetch( `${baseUrl}/users?select=id,display_name` + `&amp;is_public=eq.true` + `&amp;display_name=ilike.*${encodeURIComponent(term)}*`, { headers: { Authorization: `Bearer ${token}` } } );</a:t>
            </a:r>
            <a:endParaRPr lang="en-US" sz="1650" dirty="0"/>
          </a:p>
        </p:txBody>
      </p:sp>
      <p:sp>
        <p:nvSpPr>
          <p:cNvPr id="12" name="Text 7"/>
          <p:cNvSpPr txBox="1"/>
          <p:nvPr/>
        </p:nvSpPr>
        <p:spPr>
          <a:xfrm>
            <a:off x="9581998" y="5916168"/>
            <a:ext cx="7525512" cy="648310"/>
          </a:xfrm>
          <a:prstGeom prst="rect">
            <a:avLst/>
          </a:prstGeom>
          <a:noFill/>
          <a:ln/>
        </p:spPr>
        <p:txBody>
          <a:bodyPr wrap="square" lIns="0" tIns="0" rIns="0" bIns="0" rtlCol="0" anchor="t"/>
          <a:lstStyle/>
          <a:p>
            <a:pPr algn="l" indent="0" marL="0">
              <a:lnSpc>
                <a:spcPts val="2400"/>
              </a:lnSpc>
              <a:buNone/>
            </a:pPr>
            <a:r>
              <a:rPr lang="en-US" sz="1500" dirty="0">
                <a:solidFill>
                  <a:srgbClr val="8A8170"/>
                </a:solidFill>
                <a:latin typeface="Noto Sans JP" pitchFamily="34" charset="0"/>
                <a:ea typeface="Noto Sans JP" pitchFamily="34" charset="-122"/>
                <a:cs typeface="Noto Sans JP" pitchFamily="34" charset="-120"/>
              </a:rPr>
              <a:t>同時でも良い。最低限、連結する</a:t>
            </a:r>
            <a:pPr algn="l" indent="0" marL="0">
              <a:lnSpc>
                <a:spcPts val="2400"/>
              </a:lnSpc>
              <a:buNone/>
            </a:pPr>
            <a:r>
              <a:rPr lang="en-US" sz="1500" b="1" dirty="0">
                <a:solidFill>
                  <a:srgbClr val="8A8170"/>
                </a:solidFill>
                <a:latin typeface="Noto Sans JP" pitchFamily="34" charset="0"/>
                <a:ea typeface="Noto Sans JP" pitchFamily="34" charset="-122"/>
                <a:cs typeface="Noto Sans JP" pitchFamily="34" charset="-120"/>
              </a:rPr>
              <a:t>前</a:t>
            </a:r>
            <a:pPr algn="l" indent="0" marL="0">
              <a:lnSpc>
                <a:spcPts val="2400"/>
              </a:lnSpc>
              <a:buNone/>
            </a:pPr>
            <a:r>
              <a:rPr lang="en-US" sz="1500" dirty="0">
                <a:solidFill>
                  <a:srgbClr val="8A8170"/>
                </a:solidFill>
                <a:latin typeface="Noto Sans JP" pitchFamily="34" charset="0"/>
                <a:ea typeface="Noto Sans JP" pitchFamily="34" charset="-122"/>
                <a:cs typeface="Noto Sans JP" pitchFamily="34" charset="-120"/>
              </a:rPr>
              <a:t>に値の種類ごと安全な形に直す。</a:t>
            </a:r>
            <a:pPr algn="l" indent="0" marL="0">
              <a:lnSpc>
                <a:spcPts val="2400"/>
              </a:lnSpc>
              <a:buNone/>
            </a:pPr>
            <a:endParaRPr lang="en-US" sz="1500" dirty="0"/>
          </a:p>
          <a:p>
            <a:pPr algn="l" indent="0" marL="0">
              <a:lnSpc>
                <a:spcPts val="2400"/>
              </a:lnSpc>
              <a:buNone/>
            </a:pPr>
            <a:r>
              <a:rPr lang="en-US" sz="1500" dirty="0">
                <a:solidFill>
                  <a:srgbClr val="8A8170"/>
                </a:solidFill>
                <a:latin typeface="Noto Sans JP" pitchFamily="34" charset="0"/>
                <a:ea typeface="Noto Sans JP" pitchFamily="34" charset="-122"/>
                <a:cs typeface="Noto Sans JP" pitchFamily="34" charset="-120"/>
              </a:rPr>
              <a:t>可能なら RPC や ORM のパラメータ渡しに置換する。</a:t>
            </a:r>
            <a:endParaRPr lang="en-US" sz="1500" dirty="0"/>
          </a:p>
        </p:txBody>
      </p:sp>
      <p:pic>
        <p:nvPicPr>
          <p:cNvPr id="13" name="Image 2" descr="gen-dedup-ff3b843c62efd2578b331bdfc9bb7c8f.png">    </p:cNvPr>
          <p:cNvPicPr>
            <a:picLocks noChangeAspect="1"/>
          </p:cNvPicPr>
          <p:nvPr/>
        </p:nvPicPr>
        <p:blipFill>
          <a:blip r:embed="rId3"/>
          <a:srcRect l="-2083" r="-2083" t="0" b="0"/>
          <a:stretch/>
        </p:blipFill>
        <p:spPr>
          <a:xfrm>
            <a:off x="914400" y="9334195"/>
            <a:ext cx="16459200" cy="9144"/>
          </a:xfrm>
          <a:prstGeom prst="rect">
            <a:avLst/>
          </a:prstGeom>
        </p:spPr>
      </p:pic>
      <p:sp>
        <p:nvSpPr>
          <p:cNvPr id="14" name="Shape 8"/>
          <p:cNvSpPr/>
          <p:nvPr/>
        </p:nvSpPr>
        <p:spPr>
          <a:xfrm>
            <a:off x="914400" y="609905"/>
            <a:ext cx="1619402" cy="381305"/>
          </a:xfrm>
          <a:prstGeom prst="roundRect">
            <a:avLst>
              <a:gd name="adj" fmla="val 49880"/>
            </a:avLst>
          </a:prstGeom>
          <a:solidFill>
            <a:srgbClr val="211C13"/>
          </a:solidFill>
          <a:ln w="12700">
            <a:solidFill>
              <a:srgbClr val="FFFFFF">
                <a:alpha val="0"/>
              </a:srgbClr>
            </a:solidFill>
            <a:prstDash val="solid"/>
          </a:ln>
        </p:spPr>
      </p:sp>
      <p:sp>
        <p:nvSpPr>
          <p:cNvPr id="15" name="Text 9"/>
          <p:cNvSpPr txBox="1"/>
          <p:nvPr/>
        </p:nvSpPr>
        <p:spPr>
          <a:xfrm>
            <a:off x="914400" y="1238098"/>
            <a:ext cx="16459200" cy="219456"/>
          </a:xfrm>
          <a:prstGeom prst="rect">
            <a:avLst/>
          </a:prstGeom>
          <a:noFill/>
          <a:ln/>
        </p:spPr>
        <p:txBody>
          <a:bodyPr wrap="none" lIns="0" tIns="0" rIns="0" bIns="0" rtlCol="0" anchor="ctr"/>
          <a:lstStyle/>
          <a:p>
            <a:pPr algn="l" indent="0" marL="0">
              <a:buNone/>
            </a:pPr>
            <a:r>
              <a:rPr lang="en-US" sz="1350" spc="324" kern="0" dirty="0">
                <a:solidFill>
                  <a:srgbClr val="B63A2A"/>
                </a:solidFill>
                <a:latin typeface="JetBrains Mono" pitchFamily="34" charset="0"/>
                <a:ea typeface="JetBrains Mono" pitchFamily="34" charset="-122"/>
                <a:cs typeface="JetBrains Mono" pitchFamily="34" charset="-120"/>
              </a:rPr>
              <a:t>12 · Vulnerable vs Fixed</a:t>
            </a:r>
            <a:endParaRPr lang="en-US" sz="1350" dirty="0"/>
          </a:p>
        </p:txBody>
      </p:sp>
      <p:sp>
        <p:nvSpPr>
          <p:cNvPr id="16" name="Text 10"/>
          <p:cNvSpPr txBox="1"/>
          <p:nvPr/>
        </p:nvSpPr>
        <p:spPr>
          <a:xfrm>
            <a:off x="914400" y="1533449"/>
            <a:ext cx="16459200" cy="800100"/>
          </a:xfrm>
          <a:prstGeom prst="rect">
            <a:avLst/>
          </a:prstGeom>
          <a:noFill/>
          <a:ln/>
        </p:spPr>
        <p:txBody>
          <a:bodyPr wrap="none" lIns="0" tIns="0" rIns="0" bIns="0" rtlCol="0" anchor="ctr"/>
          <a:lstStyle/>
          <a:p>
            <a:pPr algn="l" indent="0" marL="0">
              <a:buNone/>
            </a:pPr>
            <a:r>
              <a:rPr lang="en-US" sz="6000" b="1" spc="-120" kern="0" dirty="0">
                <a:solidFill>
                  <a:srgbClr val="211C13"/>
                </a:solidFill>
                <a:latin typeface="Zen Kaku Gothic Antique" pitchFamily="34" charset="0"/>
                <a:ea typeface="Zen Kaku Gothic Antique" pitchFamily="34" charset="-122"/>
                <a:cs typeface="Zen Kaku Gothic Antique" pitchFamily="34" charset="-120"/>
              </a:rPr>
              <a:t>文字列連結 vs パラメータ化</a:t>
            </a:r>
            <a:endParaRPr lang="en-US" sz="6000" dirty="0"/>
          </a:p>
        </p:txBody>
      </p:sp>
      <p:sp>
        <p:nvSpPr>
          <p:cNvPr id="17" name="Text 11"/>
          <p:cNvSpPr txBox="1"/>
          <p:nvPr/>
        </p:nvSpPr>
        <p:spPr>
          <a:xfrm>
            <a:off x="914400" y="2467051"/>
            <a:ext cx="16459200" cy="314554"/>
          </a:xfrm>
          <a:prstGeom prst="rect">
            <a:avLst/>
          </a:prstGeom>
          <a:noFill/>
          <a:ln/>
        </p:spPr>
        <p:txBody>
          <a:bodyPr wrap="none" lIns="0" tIns="0" rIns="0" bIns="0" rtlCol="0" anchor="ctr"/>
          <a:lstStyle/>
          <a:p>
            <a:pPr algn="l" indent="0" marL="0">
              <a:buNone/>
            </a:pPr>
            <a:r>
              <a:rPr lang="en-US" sz="1650" dirty="0">
                <a:solidFill>
                  <a:srgbClr val="5A4F3F"/>
                </a:solidFill>
                <a:latin typeface="Noto Sans JP" pitchFamily="34" charset="0"/>
                <a:ea typeface="Noto Sans JP" pitchFamily="34" charset="-122"/>
                <a:cs typeface="Noto Sans JP" pitchFamily="34" charset="-120"/>
              </a:rPr>
              <a:t>教材に登場するパターンと、本番で書くべきパターンの最小比較。教材実装で確認した一例ですが、利用中のSDKやORMに置き換えても同じ観点で捉えられます。</a:t>
            </a:r>
            <a:endParaRPr lang="en-US" sz="1650" dirty="0"/>
          </a:p>
        </p:txBody>
      </p:sp>
      <p:sp>
        <p:nvSpPr>
          <p:cNvPr id="18" name="Text 12"/>
          <p:cNvSpPr txBox="1"/>
          <p:nvPr/>
        </p:nvSpPr>
        <p:spPr>
          <a:xfrm>
            <a:off x="914400" y="9562795"/>
            <a:ext cx="12382805" cy="228600"/>
          </a:xfrm>
          <a:prstGeom prst="rect">
            <a:avLst/>
          </a:prstGeom>
          <a:noFill/>
          <a:ln/>
        </p:spPr>
        <p:txBody>
          <a:bodyPr wrap="none" lIns="0" tIns="0" rIns="0" bIns="0" rtlCol="0" anchor="ctr"/>
          <a:lstStyle/>
          <a:p>
            <a:pPr algn="l" indent="0" marL="0">
              <a:buNone/>
            </a:pPr>
            <a:r>
              <a:rPr lang="en-US" sz="1200" spc="72" kern="0" dirty="0">
                <a:solidFill>
                  <a:srgbClr val="5A4F3F"/>
                </a:solidFill>
                <a:latin typeface="JetBrains Mono" pitchFamily="34" charset="0"/>
                <a:ea typeface="JetBrains Mono" pitchFamily="34" charset="-122"/>
                <a:cs typeface="JetBrains Mono" pitchFamily="34" charset="-120"/>
              </a:rPr>
              <a:t>※ 上記は模式例 — SDK/ORM/RPC 呼び出しに置き換えても読み替えてください</a:t>
            </a:r>
            <a:endParaRPr lang="en-US" sz="1200" dirty="0"/>
          </a:p>
        </p:txBody>
      </p:sp>
      <p:sp>
        <p:nvSpPr>
          <p:cNvPr id="19" name="Text 13"/>
          <p:cNvSpPr txBox="1"/>
          <p:nvPr/>
        </p:nvSpPr>
        <p:spPr>
          <a:xfrm>
            <a:off x="15468905" y="9562795"/>
            <a:ext cx="1905610" cy="200254"/>
          </a:xfrm>
          <a:prstGeom prst="rect">
            <a:avLst/>
          </a:prstGeom>
          <a:noFill/>
          <a:ln/>
        </p:spPr>
        <p:txBody>
          <a:bodyPr wrap="none" lIns="0" tIns="0" rIns="0" bIns="0" rtlCol="0" anchor="ctr"/>
          <a:lstStyle/>
          <a:p>
            <a:pPr algn="r" indent="0" marL="0">
              <a:buNone/>
            </a:pPr>
            <a:r>
              <a:rPr lang="en-US" sz="1200" spc="72" kern="0" dirty="0">
                <a:solidFill>
                  <a:srgbClr val="5A4F3F"/>
                </a:solidFill>
                <a:latin typeface="JetBrains Mono" pitchFamily="34" charset="0"/>
                <a:ea typeface="JetBrains Mono" pitchFamily="34" charset="-122"/>
                <a:cs typeface="JetBrains Mono" pitchFamily="34" charset="-120"/>
              </a:rPr>
              <a:t>12 / 32</a:t>
            </a:r>
            <a:endParaRPr lang="en-US" sz="1200" dirty="0"/>
          </a:p>
        </p:txBody>
      </p:sp>
      <p:sp>
        <p:nvSpPr>
          <p:cNvPr id="20" name="Text 14"/>
          <p:cNvSpPr txBox="1"/>
          <p:nvPr/>
        </p:nvSpPr>
        <p:spPr>
          <a:xfrm>
            <a:off x="914400" y="609905"/>
            <a:ext cx="1619402" cy="381305"/>
          </a:xfrm>
          <a:prstGeom prst="rect">
            <a:avLst/>
          </a:prstGeom>
          <a:noFill/>
          <a:ln/>
        </p:spPr>
        <p:txBody>
          <a:bodyPr wrap="none" lIns="0" tIns="0" rIns="0" bIns="0" rtlCol="0" anchor="ctr"/>
          <a:lstStyle/>
          <a:p>
            <a:pPr algn="ctr" indent="0" marL="0">
              <a:buNone/>
            </a:pPr>
            <a:r>
              <a:rPr lang="en-US" sz="1050" spc="231" kern="0" dirty="0">
                <a:solidFill>
                  <a:srgbClr val="F5EFDD"/>
                </a:solidFill>
                <a:latin typeface="JetBrains Mono" pitchFamily="34" charset="0"/>
                <a:ea typeface="JetBrains Mono" pitchFamily="34" charset="-122"/>
                <a:cs typeface="JetBrains Mono" pitchFamily="34" charset="-120"/>
              </a:rPr>
              <a:t>INSTRUCTOR</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FE7D4"/>
        </a:solidFill>
      </p:bgPr>
    </p:bg>
    <p:spTree>
      <p:nvGrpSpPr>
        <p:cNvPr id="1" name=""/>
        <p:cNvGrpSpPr/>
        <p:nvPr/>
      </p:nvGrpSpPr>
      <p:grpSpPr>
        <a:xfrm>
          <a:off x="0" y="0"/>
          <a:ext cx="0" cy="0"/>
          <a:chOff x="0" y="0"/>
          <a:chExt cx="0" cy="0"/>
        </a:xfrm>
      </p:grpSpPr>
      <p:sp>
        <p:nvSpPr>
          <p:cNvPr id="3" name="Shape 0"/>
          <p:cNvSpPr/>
          <p:nvPr/>
        </p:nvSpPr>
        <p:spPr>
          <a:xfrm>
            <a:off x="914400" y="2857500"/>
            <a:ext cx="5143500" cy="5524805"/>
          </a:xfrm>
          <a:prstGeom prst="roundRect">
            <a:avLst>
              <a:gd name="adj" fmla="val 747"/>
            </a:avLst>
          </a:prstGeom>
          <a:solidFill>
            <a:srgbClr val="E5DBC4"/>
          </a:solidFill>
          <a:ln w="12700">
            <a:solidFill>
              <a:srgbClr val="FFFFFF">
                <a:alpha val="0"/>
              </a:srgbClr>
            </a:solidFill>
            <a:prstDash val="solid"/>
          </a:ln>
        </p:spPr>
      </p:sp>
      <p:sp>
        <p:nvSpPr>
          <p:cNvPr id="4" name="Shape 1"/>
          <p:cNvSpPr/>
          <p:nvPr/>
        </p:nvSpPr>
        <p:spPr>
          <a:xfrm>
            <a:off x="6324905" y="2857500"/>
            <a:ext cx="11048695" cy="5524805"/>
          </a:xfrm>
          <a:prstGeom prst="roundRect">
            <a:avLst>
              <a:gd name="adj" fmla="val 695"/>
            </a:avLst>
          </a:prstGeom>
          <a:solidFill>
            <a:srgbClr val="1B1F25"/>
          </a:solidFill>
          <a:ln w="12700">
            <a:solidFill>
              <a:srgbClr val="FFFFFF">
                <a:alpha val="0"/>
              </a:srgbClr>
            </a:solidFill>
            <a:prstDash val="solid"/>
          </a:ln>
        </p:spPr>
      </p:sp>
      <p:sp>
        <p:nvSpPr>
          <p:cNvPr id="5" name="Text 2"/>
          <p:cNvSpPr txBox="1"/>
          <p:nvPr/>
        </p:nvSpPr>
        <p:spPr>
          <a:xfrm>
            <a:off x="1218895" y="3143707"/>
            <a:ext cx="4572000" cy="191110"/>
          </a:xfrm>
          <a:prstGeom prst="rect">
            <a:avLst/>
          </a:prstGeom>
          <a:noFill/>
          <a:ln/>
        </p:spPr>
        <p:txBody>
          <a:bodyPr wrap="none" lIns="0" tIns="0" rIns="0" bIns="0" rtlCol="0" anchor="ctr"/>
          <a:lstStyle/>
          <a:p>
            <a:pPr algn="l" indent="0" marL="0">
              <a:buNone/>
            </a:pPr>
            <a:r>
              <a:rPr lang="en-US" sz="1050" spc="189" kern="0" dirty="0">
                <a:solidFill>
                  <a:srgbClr val="5A4F3F"/>
                </a:solidFill>
                <a:latin typeface="JetBrains Mono" pitchFamily="34" charset="0"/>
                <a:ea typeface="JetBrains Mono" pitchFamily="34" charset="-122"/>
                <a:cs typeface="JetBrains Mono" pitchFamily="34" charset="-120"/>
              </a:rPr>
              <a:t>01 でも使った入力</a:t>
            </a:r>
            <a:endParaRPr lang="en-US" sz="1050" dirty="0"/>
          </a:p>
        </p:txBody>
      </p:sp>
      <p:sp>
        <p:nvSpPr>
          <p:cNvPr id="6" name="Shape 3"/>
          <p:cNvSpPr/>
          <p:nvPr/>
        </p:nvSpPr>
        <p:spPr>
          <a:xfrm>
            <a:off x="1218895" y="3504895"/>
            <a:ext cx="4572000" cy="714146"/>
          </a:xfrm>
          <a:prstGeom prst="roundRect">
            <a:avLst>
              <a:gd name="adj" fmla="val 5378"/>
            </a:avLst>
          </a:prstGeom>
          <a:solidFill>
            <a:srgbClr val="1B1F25"/>
          </a:solidFill>
          <a:ln w="12700">
            <a:solidFill>
              <a:srgbClr val="FFFFFF">
                <a:alpha val="0"/>
              </a:srgbClr>
            </a:solidFill>
            <a:prstDash val="solid"/>
          </a:ln>
        </p:spPr>
      </p:sp>
      <p:sp>
        <p:nvSpPr>
          <p:cNvPr id="7" name="Text 4"/>
          <p:cNvSpPr txBox="1"/>
          <p:nvPr/>
        </p:nvSpPr>
        <p:spPr>
          <a:xfrm>
            <a:off x="1218895" y="3504895"/>
            <a:ext cx="4572000" cy="715061"/>
          </a:xfrm>
          <a:prstGeom prst="rect">
            <a:avLst/>
          </a:prstGeom>
          <a:solidFill>
            <a:srgbClr val="FFFFFF">
              <a:alpha val="0"/>
            </a:srgbClr>
          </a:solidFill>
          <a:ln>
            <a:solidFill>
              <a:srgbClr val="FFFFFF">
                <a:alpha val="0"/>
              </a:srgbClr>
            </a:solidFill>
          </a:ln>
        </p:spPr>
        <p:txBody>
          <a:bodyPr wrap="none" lIns="177800" tIns="177800" rIns="177800" bIns="177800" rtlCol="0" anchor="ctr"/>
          <a:lstStyle/>
          <a:p>
            <a:pPr algn="l" indent="0" marL="0">
              <a:lnSpc>
                <a:spcPts val="2880"/>
              </a:lnSpc>
              <a:buNone/>
            </a:pPr>
            <a:r>
              <a:rPr lang="en-US" sz="1800" dirty="0">
                <a:solidFill>
                  <a:srgbClr val="ECE4D2"/>
                </a:solidFill>
                <a:latin typeface="JetBrains Mono" pitchFamily="34" charset="0"/>
                <a:ea typeface="JetBrains Mono" pitchFamily="34" charset="-122"/>
                <a:cs typeface="JetBrains Mono" pitchFamily="34" charset="-120"/>
              </a:rPr>
              <a:t>x' OR is_public = false OR '</a:t>
            </a:r>
            <a:endParaRPr lang="en-US" sz="1800" dirty="0"/>
          </a:p>
        </p:txBody>
      </p:sp>
      <p:sp>
        <p:nvSpPr>
          <p:cNvPr id="8" name="Text 5"/>
          <p:cNvSpPr txBox="1"/>
          <p:nvPr/>
        </p:nvSpPr>
        <p:spPr>
          <a:xfrm>
            <a:off x="1218895" y="4442155"/>
            <a:ext cx="4572000" cy="657454"/>
          </a:xfrm>
          <a:prstGeom prst="rect">
            <a:avLst/>
          </a:prstGeom>
          <a:noFill/>
          <a:ln/>
        </p:spPr>
        <p:txBody>
          <a:bodyPr wrap="square" lIns="0" tIns="0" rIns="0" bIns="0" rtlCol="0" anchor="ctr"/>
          <a:lstStyle/>
          <a:p>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これを同じ検索欄に入れ、Console からも投げてみる。</a:t>
            </a:r>
            <a:endParaRPr lang="en-US" sz="1650" dirty="0"/>
          </a:p>
        </p:txBody>
      </p:sp>
      <p:sp>
        <p:nvSpPr>
          <p:cNvPr id="9" name="Text 6"/>
          <p:cNvSpPr txBox="1"/>
          <p:nvPr/>
        </p:nvSpPr>
        <p:spPr>
          <a:xfrm>
            <a:off x="6629400" y="3143707"/>
            <a:ext cx="10478110" cy="228600"/>
          </a:xfrm>
          <a:prstGeom prst="rect">
            <a:avLst/>
          </a:prstGeom>
          <a:noFill/>
          <a:ln/>
        </p:spPr>
        <p:txBody>
          <a:bodyPr wrap="none" lIns="0" tIns="0" rIns="0" bIns="0" rtlCol="0" anchor="ctr"/>
          <a:lstStyle/>
          <a:p>
            <a:pPr algn="l" indent="0" marL="0">
              <a:buNone/>
            </a:pPr>
            <a:r>
              <a:rPr lang="en-US" sz="1200" spc="216" kern="0" dirty="0">
                <a:solidFill>
                  <a:srgbClr val="5BAA85"/>
                </a:solidFill>
                <a:latin typeface="JetBrains Mono" pitchFamily="34" charset="0"/>
                <a:ea typeface="JetBrains Mono" pitchFamily="34" charset="-122"/>
                <a:cs typeface="JetBrains Mono" pitchFamily="34" charset="-120"/>
              </a:rPr>
              <a:t>修正版での観察結果（教材実装で確認した一例）</a:t>
            </a:r>
            <a:endParaRPr lang="en-US" sz="1200" dirty="0"/>
          </a:p>
        </p:txBody>
      </p:sp>
      <p:sp>
        <p:nvSpPr>
          <p:cNvPr id="10" name="Text 7"/>
          <p:cNvSpPr txBox="1"/>
          <p:nvPr/>
        </p:nvSpPr>
        <p:spPr>
          <a:xfrm>
            <a:off x="6629400" y="3657600"/>
            <a:ext cx="4953305" cy="333756"/>
          </a:xfrm>
          <a:prstGeom prst="rect">
            <a:avLst/>
          </a:prstGeom>
          <a:noFill/>
          <a:ln/>
        </p:spPr>
        <p:txBody>
          <a:bodyPr wrap="none" lIns="0" tIns="0" rIns="0" bIns="0" rtlCol="0" anchor="ctr"/>
          <a:lstStyle/>
          <a:p>
            <a:pPr algn="l" indent="0" marL="0">
              <a:buNone/>
            </a:pPr>
            <a:r>
              <a:rPr lang="en-US" sz="1800" b="1" dirty="0">
                <a:solidFill>
                  <a:srgbClr val="F5EFDD"/>
                </a:solidFill>
                <a:latin typeface="Noto Sans JP" pitchFamily="34" charset="0"/>
                <a:ea typeface="Noto Sans JP" pitchFamily="34" charset="-122"/>
                <a:cs typeface="Noto Sans JP" pitchFamily="34" charset="-120"/>
              </a:rPr>
              <a:t>件数の増え方は確認できない</a:t>
            </a:r>
            <a:endParaRPr lang="en-US" sz="1800" dirty="0"/>
          </a:p>
        </p:txBody>
      </p:sp>
      <p:sp>
        <p:nvSpPr>
          <p:cNvPr id="11" name="Text 8"/>
          <p:cNvSpPr txBox="1"/>
          <p:nvPr/>
        </p:nvSpPr>
        <p:spPr>
          <a:xfrm>
            <a:off x="6629400" y="4072738"/>
            <a:ext cx="4953305" cy="623621"/>
          </a:xfrm>
          <a:prstGeom prst="rect">
            <a:avLst/>
          </a:prstGeom>
          <a:noFill/>
          <a:ln/>
        </p:spPr>
        <p:txBody>
          <a:bodyPr wrap="square" lIns="0" tIns="0" rIns="0" bIns="0" rtlCol="0" anchor="t"/>
          <a:lstStyle/>
          <a:p>
            <a:pPr algn="l" indent="0" marL="0">
              <a:lnSpc>
                <a:spcPts val="2325"/>
              </a:lnSpc>
              <a:buNone/>
            </a:pPr>
            <a:r>
              <a:rPr lang="en-US" sz="1500" dirty="0">
                <a:solidFill>
                  <a:srgbClr val="ECE4D2"/>
                </a:solidFill>
                <a:latin typeface="Noto Sans JP" pitchFamily="34" charset="0"/>
                <a:ea typeface="Noto Sans JP" pitchFamily="34" charset="-122"/>
                <a:cs typeface="Noto Sans JP" pitchFamily="34" charset="-120"/>
              </a:rPr>
              <a:t>レスポンス件数は変わらず、</a:t>
            </a:r>
            <a:pPr algn="l" indent="0" marL="0">
              <a:lnSpc>
                <a:spcPts val="2325"/>
              </a:lnSpc>
              <a:buNone/>
            </a:pPr>
            <a:endParaRPr lang="en-US" sz="1500" dirty="0"/>
          </a:p>
          <a:p>
            <a:pPr algn="l" indent="0" marL="0">
              <a:lnSpc>
                <a:spcPts val="2325"/>
              </a:lnSpc>
              <a:buNone/>
            </a:pPr>
            <a:r>
              <a:rPr lang="en-US" sz="1500" dirty="0">
                <a:solidFill>
                  <a:srgbClr val="ECE4D2"/>
                </a:solidFill>
                <a:latin typeface="Noto Sans JP" pitchFamily="34" charset="0"/>
                <a:ea typeface="Noto Sans JP" pitchFamily="34" charset="-122"/>
                <a:cs typeface="Noto Sans JP" pitchFamily="34" charset="-120"/>
              </a:rPr>
              <a:t>公開ユーザーのみのまま。</a:t>
            </a:r>
            <a:endParaRPr lang="en-US" sz="1500" dirty="0"/>
          </a:p>
        </p:txBody>
      </p:sp>
      <p:sp>
        <p:nvSpPr>
          <p:cNvPr id="12" name="Text 9"/>
          <p:cNvSpPr txBox="1"/>
          <p:nvPr/>
        </p:nvSpPr>
        <p:spPr>
          <a:xfrm>
            <a:off x="11887200" y="3657600"/>
            <a:ext cx="4953305" cy="333756"/>
          </a:xfrm>
          <a:prstGeom prst="rect">
            <a:avLst/>
          </a:prstGeom>
          <a:noFill/>
          <a:ln/>
        </p:spPr>
        <p:txBody>
          <a:bodyPr wrap="none" lIns="0" tIns="0" rIns="0" bIns="0" rtlCol="0" anchor="ctr"/>
          <a:lstStyle/>
          <a:p>
            <a:pPr algn="l" indent="0" marL="0">
              <a:buNone/>
            </a:pPr>
            <a:r>
              <a:rPr lang="en-US" sz="1800" b="1" dirty="0">
                <a:solidFill>
                  <a:srgbClr val="F5EFDD"/>
                </a:solidFill>
                <a:latin typeface="Noto Sans JP" pitchFamily="34" charset="0"/>
                <a:ea typeface="Noto Sans JP" pitchFamily="34" charset="-122"/>
                <a:cs typeface="Noto Sans JP" pitchFamily="34" charset="-120"/>
              </a:rPr>
              <a:t>文字はそのまま文字列として扱われる</a:t>
            </a:r>
            <a:endParaRPr lang="en-US" sz="1800" dirty="0"/>
          </a:p>
        </p:txBody>
      </p:sp>
      <p:sp>
        <p:nvSpPr>
          <p:cNvPr id="13" name="Text 10"/>
          <p:cNvSpPr txBox="1"/>
          <p:nvPr/>
        </p:nvSpPr>
        <p:spPr>
          <a:xfrm>
            <a:off x="11887200" y="4072738"/>
            <a:ext cx="4953305" cy="623621"/>
          </a:xfrm>
          <a:prstGeom prst="rect">
            <a:avLst/>
          </a:prstGeom>
          <a:noFill/>
          <a:ln/>
        </p:spPr>
        <p:txBody>
          <a:bodyPr wrap="square" lIns="0" tIns="0" rIns="0" bIns="0" rtlCol="0" anchor="t"/>
          <a:lstStyle/>
          <a:p>
            <a:pPr algn="l" indent="0" marL="0">
              <a:lnSpc>
                <a:spcPts val="2325"/>
              </a:lnSpc>
              <a:buNone/>
            </a:pPr>
            <a:r>
              <a:rPr lang="en-US" sz="1500" dirty="0">
                <a:solidFill>
                  <a:srgbClr val="ECE4D2"/>
                </a:solidFill>
                <a:latin typeface="Noto Sans JP" pitchFamily="34" charset="0"/>
                <a:ea typeface="Noto Sans JP" pitchFamily="34" charset="-122"/>
                <a:cs typeface="Noto Sans JP" pitchFamily="34" charset="-120"/>
              </a:rPr>
              <a:t>検索の絞り込み対象として</a:t>
            </a:r>
            <a:pPr algn="l" indent="0" marL="0">
              <a:lnSpc>
                <a:spcPts val="2325"/>
              </a:lnSpc>
              <a:buNone/>
            </a:pPr>
            <a:endParaRPr lang="en-US" sz="1500" dirty="0"/>
          </a:p>
          <a:p>
            <a:pPr algn="l" indent="0" marL="0">
              <a:lnSpc>
                <a:spcPts val="2325"/>
              </a:lnSpc>
              <a:buNone/>
            </a:pPr>
            <a:r>
              <a:rPr lang="en-US" sz="1500" dirty="0">
                <a:solidFill>
                  <a:srgbClr val="ECE4D2"/>
                </a:solidFill>
                <a:latin typeface="Noto Sans JP" pitchFamily="34" charset="0"/>
                <a:ea typeface="Noto Sans JP" pitchFamily="34" charset="-122"/>
                <a:cs typeface="Noto Sans JP" pitchFamily="34" charset="-120"/>
              </a:rPr>
              <a:t>0件か、引用符を含む名前として扱われる。</a:t>
            </a:r>
            <a:endParaRPr lang="en-US" sz="1500" dirty="0"/>
          </a:p>
        </p:txBody>
      </p:sp>
      <p:pic>
        <p:nvPicPr>
          <p:cNvPr id="14" name="Image 0" descr="gen-dedup-ab21372051da8e272d8af20430ed7995.png">    </p:cNvPr>
          <p:cNvPicPr>
            <a:picLocks noChangeAspect="1"/>
          </p:cNvPicPr>
          <p:nvPr/>
        </p:nvPicPr>
        <p:blipFill>
          <a:blip r:embed="rId1"/>
          <a:srcRect l="-2083" r="-2083" t="0" b="0"/>
          <a:stretch/>
        </p:blipFill>
        <p:spPr>
          <a:xfrm>
            <a:off x="6629400" y="5000854"/>
            <a:ext cx="10477195" cy="9144"/>
          </a:xfrm>
          <a:prstGeom prst="rect">
            <a:avLst/>
          </a:prstGeom>
        </p:spPr>
      </p:pic>
      <p:sp>
        <p:nvSpPr>
          <p:cNvPr id="15" name="Text 11"/>
          <p:cNvSpPr txBox="1"/>
          <p:nvPr/>
        </p:nvSpPr>
        <p:spPr>
          <a:xfrm>
            <a:off x="6629400" y="5219395"/>
            <a:ext cx="10478110" cy="171907"/>
          </a:xfrm>
          <a:prstGeom prst="rect">
            <a:avLst/>
          </a:prstGeom>
          <a:noFill/>
          <a:ln/>
        </p:spPr>
        <p:txBody>
          <a:bodyPr wrap="none" lIns="0" tIns="0" rIns="0" bIns="0" rtlCol="0" anchor="ctr"/>
          <a:lstStyle/>
          <a:p>
            <a:pPr algn="l" indent="0" marL="0">
              <a:buNone/>
            </a:pPr>
            <a:r>
              <a:rPr lang="en-US" sz="1050" spc="189" kern="0" dirty="0">
                <a:solidFill>
                  <a:srgbClr val="D4922A"/>
                </a:solidFill>
                <a:latin typeface="JetBrains Mono" pitchFamily="34" charset="0"/>
                <a:ea typeface="JetBrains Mono" pitchFamily="34" charset="-122"/>
                <a:cs typeface="JetBrains Mono" pitchFamily="34" charset="-120"/>
              </a:rPr>
              <a:t>KEY POINT</a:t>
            </a:r>
            <a:endParaRPr lang="en-US" sz="1050" dirty="0"/>
          </a:p>
        </p:txBody>
      </p:sp>
      <p:sp>
        <p:nvSpPr>
          <p:cNvPr id="16" name="Text 12"/>
          <p:cNvSpPr txBox="1"/>
          <p:nvPr/>
        </p:nvSpPr>
        <p:spPr>
          <a:xfrm>
            <a:off x="6629400" y="5465369"/>
            <a:ext cx="10478110" cy="755294"/>
          </a:xfrm>
          <a:prstGeom prst="rect">
            <a:avLst/>
          </a:prstGeom>
          <a:noFill/>
          <a:ln/>
        </p:spPr>
        <p:txBody>
          <a:bodyPr wrap="square" lIns="0" tIns="0" rIns="0" bIns="0" rtlCol="0" anchor="t"/>
          <a:lstStyle/>
          <a:p>
            <a:pPr algn="l" indent="0" marL="0">
              <a:lnSpc>
                <a:spcPts val="2790"/>
              </a:lnSpc>
              <a:buNone/>
            </a:pPr>
            <a:r>
              <a:rPr lang="en-US" sz="1800" dirty="0">
                <a:solidFill>
                  <a:srgbClr val="F5EFDD"/>
                </a:solidFill>
                <a:latin typeface="Noto Sans JP" pitchFamily="34" charset="0"/>
                <a:ea typeface="Noto Sans JP" pitchFamily="34" charset="-122"/>
                <a:cs typeface="Noto Sans JP" pitchFamily="34" charset="-120"/>
              </a:rPr>
              <a:t>失敗する実装と「同じ入力でも無害になる」実装の差は、</a:t>
            </a:r>
            <a:pPr algn="l" indent="0" marL="0">
              <a:lnSpc>
                <a:spcPts val="2790"/>
              </a:lnSpc>
              <a:buNone/>
            </a:pPr>
            <a:endParaRPr lang="en-US" sz="1800" dirty="0"/>
          </a:p>
          <a:p>
            <a:pPr algn="l" indent="0" marL="0">
              <a:lnSpc>
                <a:spcPts val="2790"/>
              </a:lnSpc>
              <a:buNone/>
            </a:pPr>
            <a:r>
              <a:rPr lang="en-US" sz="1800" dirty="0">
                <a:solidFill>
                  <a:srgbClr val="F5EFDD"/>
                </a:solidFill>
                <a:latin typeface="Noto Sans JP" pitchFamily="34" charset="0"/>
                <a:ea typeface="Noto Sans JP" pitchFamily="34" charset="-122"/>
                <a:cs typeface="Noto Sans JP" pitchFamily="34" charset="-120"/>
              </a:rPr>
              <a:t>「入力をどう扱うか」だけ。同じ値でも、値とコードの境界がはっきりしている。</a:t>
            </a:r>
            <a:endParaRPr lang="en-US" sz="1800" dirty="0"/>
          </a:p>
        </p:txBody>
      </p:sp>
      <p:pic>
        <p:nvPicPr>
          <p:cNvPr id="17" name="Image 1" descr="gen-dedup-ff3b843c62efd2578b331bdfc9bb7c8f.png">    </p:cNvPr>
          <p:cNvPicPr>
            <a:picLocks noChangeAspect="1"/>
          </p:cNvPicPr>
          <p:nvPr/>
        </p:nvPicPr>
        <p:blipFill>
          <a:blip r:embed="rId2"/>
          <a:srcRect l="-2083" r="-2083" t="0" b="0"/>
          <a:stretch/>
        </p:blipFill>
        <p:spPr>
          <a:xfrm>
            <a:off x="914400" y="9334195"/>
            <a:ext cx="16459200" cy="9144"/>
          </a:xfrm>
          <a:prstGeom prst="rect">
            <a:avLst/>
          </a:prstGeom>
        </p:spPr>
      </p:pic>
      <p:sp>
        <p:nvSpPr>
          <p:cNvPr id="18" name="Shape 13"/>
          <p:cNvSpPr/>
          <p:nvPr/>
        </p:nvSpPr>
        <p:spPr>
          <a:xfrm>
            <a:off x="914400" y="609905"/>
            <a:ext cx="1619402" cy="381305"/>
          </a:xfrm>
          <a:prstGeom prst="roundRect">
            <a:avLst>
              <a:gd name="adj" fmla="val 49880"/>
            </a:avLst>
          </a:prstGeom>
          <a:solidFill>
            <a:srgbClr val="211C13"/>
          </a:solidFill>
          <a:ln w="12700">
            <a:solidFill>
              <a:srgbClr val="FFFFFF">
                <a:alpha val="0"/>
              </a:srgbClr>
            </a:solidFill>
            <a:prstDash val="solid"/>
          </a:ln>
        </p:spPr>
      </p:sp>
      <p:sp>
        <p:nvSpPr>
          <p:cNvPr id="19" name="Text 14"/>
          <p:cNvSpPr txBox="1"/>
          <p:nvPr/>
        </p:nvSpPr>
        <p:spPr>
          <a:xfrm>
            <a:off x="914400" y="1238098"/>
            <a:ext cx="16459200" cy="219456"/>
          </a:xfrm>
          <a:prstGeom prst="rect">
            <a:avLst/>
          </a:prstGeom>
          <a:noFill/>
          <a:ln/>
        </p:spPr>
        <p:txBody>
          <a:bodyPr wrap="none" lIns="0" tIns="0" rIns="0" bIns="0" rtlCol="0" anchor="ctr"/>
          <a:lstStyle/>
          <a:p>
            <a:pPr algn="l" indent="0" marL="0">
              <a:buNone/>
            </a:pPr>
            <a:r>
              <a:rPr lang="en-US" sz="1350" spc="324" kern="0" dirty="0">
                <a:solidFill>
                  <a:srgbClr val="2F6F4F"/>
                </a:solidFill>
                <a:latin typeface="JetBrains Mono" pitchFamily="34" charset="0"/>
                <a:ea typeface="JetBrains Mono" pitchFamily="34" charset="-122"/>
                <a:cs typeface="JetBrains Mono" pitchFamily="34" charset="-120"/>
              </a:rPr>
              <a:t>13 · Same input, fixed build</a:t>
            </a:r>
            <a:endParaRPr lang="en-US" sz="1350" dirty="0"/>
          </a:p>
        </p:txBody>
      </p:sp>
      <p:sp>
        <p:nvSpPr>
          <p:cNvPr id="20" name="Text 15"/>
          <p:cNvSpPr txBox="1"/>
          <p:nvPr/>
        </p:nvSpPr>
        <p:spPr>
          <a:xfrm>
            <a:off x="914400" y="1533449"/>
            <a:ext cx="16459200" cy="838505"/>
          </a:xfrm>
          <a:prstGeom prst="rect">
            <a:avLst/>
          </a:prstGeom>
          <a:noFill/>
          <a:ln/>
        </p:spPr>
        <p:txBody>
          <a:bodyPr wrap="none" lIns="0" tIns="0" rIns="0" bIns="0" rtlCol="0" anchor="ctr"/>
          <a:lstStyle/>
          <a:p>
            <a:pPr algn="l" indent="0" marL="0">
              <a:buNone/>
            </a:pPr>
            <a:r>
              <a:rPr lang="en-US" sz="6000" b="1" spc="-120" kern="0" dirty="0">
                <a:solidFill>
                  <a:srgbClr val="211C13"/>
                </a:solidFill>
                <a:latin typeface="Zen Kaku Gothic Antique" pitchFamily="34" charset="0"/>
                <a:ea typeface="Zen Kaku Gothic Antique" pitchFamily="34" charset="-122"/>
                <a:cs typeface="Zen Kaku Gothic Antique" pitchFamily="34" charset="-120"/>
              </a:rPr>
              <a:t>同じ操作で何が起きるか</a:t>
            </a:r>
            <a:endParaRPr lang="en-US" sz="6000" dirty="0"/>
          </a:p>
        </p:txBody>
      </p:sp>
      <p:sp>
        <p:nvSpPr>
          <p:cNvPr id="21" name="Text 16"/>
          <p:cNvSpPr txBox="1"/>
          <p:nvPr/>
        </p:nvSpPr>
        <p:spPr>
          <a:xfrm>
            <a:off x="914400" y="8667598"/>
            <a:ext cx="16459200" cy="228600"/>
          </a:xfrm>
          <a:prstGeom prst="rect">
            <a:avLst/>
          </a:prstGeom>
          <a:noFill/>
          <a:ln/>
        </p:spPr>
        <p:txBody>
          <a:bodyPr wrap="none" lIns="0" tIns="0" rIns="0" bIns="0" rtlCol="0" anchor="ctr"/>
          <a:lstStyle/>
          <a:p>
            <a:pPr algn="l" indent="0" marL="0">
              <a:buNone/>
            </a:pPr>
            <a:r>
              <a:rPr lang="en-US" sz="1200" spc="72" kern="0" dirty="0">
                <a:solidFill>
                  <a:srgbClr val="5A4F3F"/>
                </a:solidFill>
                <a:latin typeface="JetBrains Mono" pitchFamily="34" charset="0"/>
                <a:ea typeface="JetBrains Mono" pitchFamily="34" charset="-122"/>
                <a:cs typeface="JetBrains Mono" pitchFamily="34" charset="-120"/>
              </a:rPr>
              <a:t>※ 表示件数の細部は実装で確認した一例です — 別の絞り込みキーや固定値が含まれていればその分挙動が変わります</a:t>
            </a:r>
            <a:endParaRPr lang="en-US" sz="1200" dirty="0"/>
          </a:p>
        </p:txBody>
      </p:sp>
      <p:sp>
        <p:nvSpPr>
          <p:cNvPr id="22" name="Text 17"/>
          <p:cNvSpPr txBox="1"/>
          <p:nvPr/>
        </p:nvSpPr>
        <p:spPr>
          <a:xfrm>
            <a:off x="914400" y="9562795"/>
            <a:ext cx="9525305" cy="228600"/>
          </a:xfrm>
          <a:prstGeom prst="rect">
            <a:avLst/>
          </a:prstGeom>
          <a:noFill/>
          <a:ln/>
        </p:spPr>
        <p:txBody>
          <a:bodyPr wrap="none" lIns="0" tIns="0" rIns="0" bIns="0" rtlCol="0" anchor="ctr"/>
          <a:lstStyle/>
          <a:p>
            <a:pPr algn="l" indent="0" marL="0">
              <a:buNone/>
            </a:pPr>
            <a:r>
              <a:rPr lang="en-US" sz="1200" spc="72" kern="0" dirty="0">
                <a:solidFill>
                  <a:srgbClr val="5A4F3F"/>
                </a:solidFill>
                <a:latin typeface="JetBrains Mono" pitchFamily="34" charset="0"/>
                <a:ea typeface="JetBrains Mono" pitchFamily="34" charset="-122"/>
                <a:cs typeface="JetBrains Mono" pitchFamily="34" charset="-120"/>
              </a:rPr>
              <a:t>注意 — 「件数だけ」で安心せず、絞り込み条件が書かれている挙動も比較材料</a:t>
            </a:r>
            <a:endParaRPr lang="en-US" sz="1200" dirty="0"/>
          </a:p>
        </p:txBody>
      </p:sp>
      <p:sp>
        <p:nvSpPr>
          <p:cNvPr id="23" name="Text 18"/>
          <p:cNvSpPr txBox="1"/>
          <p:nvPr/>
        </p:nvSpPr>
        <p:spPr>
          <a:xfrm>
            <a:off x="15468905" y="9562795"/>
            <a:ext cx="1905610" cy="200254"/>
          </a:xfrm>
          <a:prstGeom prst="rect">
            <a:avLst/>
          </a:prstGeom>
          <a:noFill/>
          <a:ln/>
        </p:spPr>
        <p:txBody>
          <a:bodyPr wrap="none" lIns="0" tIns="0" rIns="0" bIns="0" rtlCol="0" anchor="ctr"/>
          <a:lstStyle/>
          <a:p>
            <a:pPr algn="r" indent="0" marL="0">
              <a:buNone/>
            </a:pPr>
            <a:r>
              <a:rPr lang="en-US" sz="1200" spc="72" kern="0" dirty="0">
                <a:solidFill>
                  <a:srgbClr val="5A4F3F"/>
                </a:solidFill>
                <a:latin typeface="JetBrains Mono" pitchFamily="34" charset="0"/>
                <a:ea typeface="JetBrains Mono" pitchFamily="34" charset="-122"/>
                <a:cs typeface="JetBrains Mono" pitchFamily="34" charset="-120"/>
              </a:rPr>
              <a:t>13 / 32</a:t>
            </a:r>
            <a:endParaRPr lang="en-US" sz="1200" dirty="0"/>
          </a:p>
        </p:txBody>
      </p:sp>
      <p:sp>
        <p:nvSpPr>
          <p:cNvPr id="24" name="Text 19"/>
          <p:cNvSpPr txBox="1"/>
          <p:nvPr/>
        </p:nvSpPr>
        <p:spPr>
          <a:xfrm>
            <a:off x="914400" y="609905"/>
            <a:ext cx="1619402" cy="381305"/>
          </a:xfrm>
          <a:prstGeom prst="rect">
            <a:avLst/>
          </a:prstGeom>
          <a:noFill/>
          <a:ln/>
        </p:spPr>
        <p:txBody>
          <a:bodyPr wrap="none" lIns="0" tIns="0" rIns="0" bIns="0" rtlCol="0" anchor="ctr"/>
          <a:lstStyle/>
          <a:p>
            <a:pPr algn="ctr" indent="0" marL="0">
              <a:buNone/>
            </a:pPr>
            <a:r>
              <a:rPr lang="en-US" sz="1050" spc="231" kern="0" dirty="0">
                <a:solidFill>
                  <a:srgbClr val="F5EFDD"/>
                </a:solidFill>
                <a:latin typeface="JetBrains Mono" pitchFamily="34" charset="0"/>
                <a:ea typeface="JetBrains Mono" pitchFamily="34" charset="-122"/>
                <a:cs typeface="JetBrains Mono" pitchFamily="34" charset="-120"/>
              </a:rPr>
              <a:t>INSTRUCTOR</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FE7D4"/>
        </a:solidFill>
      </p:bgPr>
    </p:bg>
    <p:spTree>
      <p:nvGrpSpPr>
        <p:cNvPr id="1" name=""/>
        <p:cNvGrpSpPr/>
        <p:nvPr/>
      </p:nvGrpSpPr>
      <p:grpSpPr>
        <a:xfrm>
          <a:off x="0" y="0"/>
          <a:ext cx="0" cy="0"/>
          <a:chOff x="0" y="0"/>
          <a:chExt cx="0" cy="0"/>
        </a:xfrm>
      </p:grpSpPr>
      <p:sp>
        <p:nvSpPr>
          <p:cNvPr id="3" name="Shape 0"/>
          <p:cNvSpPr/>
          <p:nvPr/>
        </p:nvSpPr>
        <p:spPr>
          <a:xfrm>
            <a:off x="914400" y="2857500"/>
            <a:ext cx="8096098" cy="5715000"/>
          </a:xfrm>
          <a:prstGeom prst="roundRect">
            <a:avLst>
              <a:gd name="adj" fmla="val 672"/>
            </a:avLst>
          </a:prstGeom>
          <a:solidFill>
            <a:srgbClr val="E5DBC4"/>
          </a:solidFill>
          <a:ln w="12700">
            <a:solidFill>
              <a:srgbClr val="FFFFFF">
                <a:alpha val="0"/>
              </a:srgbClr>
            </a:solidFill>
            <a:prstDash val="solid"/>
          </a:ln>
        </p:spPr>
      </p:sp>
      <p:sp>
        <p:nvSpPr>
          <p:cNvPr id="4" name="Shape 1"/>
          <p:cNvSpPr/>
          <p:nvPr/>
        </p:nvSpPr>
        <p:spPr>
          <a:xfrm>
            <a:off x="9277502" y="2857500"/>
            <a:ext cx="8096098" cy="5715000"/>
          </a:xfrm>
          <a:prstGeom prst="roundRect">
            <a:avLst>
              <a:gd name="adj" fmla="val 672"/>
            </a:avLst>
          </a:prstGeom>
          <a:solidFill>
            <a:srgbClr val="1B1F25"/>
          </a:solidFill>
          <a:ln w="12700">
            <a:solidFill>
              <a:srgbClr val="FFFFFF">
                <a:alpha val="0"/>
              </a:srgbClr>
            </a:solidFill>
            <a:prstDash val="solid"/>
          </a:ln>
        </p:spPr>
      </p:sp>
      <p:sp>
        <p:nvSpPr>
          <p:cNvPr id="5" name="Text 2"/>
          <p:cNvSpPr txBox="1"/>
          <p:nvPr/>
        </p:nvSpPr>
        <p:spPr>
          <a:xfrm>
            <a:off x="1218895" y="3143707"/>
            <a:ext cx="7525512" cy="191110"/>
          </a:xfrm>
          <a:prstGeom prst="rect">
            <a:avLst/>
          </a:prstGeom>
          <a:noFill/>
          <a:ln/>
        </p:spPr>
        <p:txBody>
          <a:bodyPr wrap="none" lIns="0" tIns="0" rIns="0" bIns="0" rtlCol="0" anchor="ctr"/>
          <a:lstStyle/>
          <a:p>
            <a:pPr algn="l" indent="0" marL="0">
              <a:buNone/>
            </a:pPr>
            <a:r>
              <a:rPr lang="en-US" sz="1050" spc="189" kern="0" dirty="0">
                <a:solidFill>
                  <a:srgbClr val="B63A2A"/>
                </a:solidFill>
                <a:latin typeface="JetBrains Mono" pitchFamily="34" charset="0"/>
                <a:ea typeface="JetBrains Mono" pitchFamily="34" charset="-122"/>
                <a:cs typeface="JetBrains Mono" pitchFamily="34" charset="-120"/>
              </a:rPr>
              <a:t>レビュー時の観点</a:t>
            </a:r>
            <a:endParaRPr lang="en-US" sz="1050" dirty="0"/>
          </a:p>
        </p:txBody>
      </p:sp>
      <p:sp>
        <p:nvSpPr>
          <p:cNvPr id="6" name="Text 3"/>
          <p:cNvSpPr txBox="1"/>
          <p:nvPr/>
        </p:nvSpPr>
        <p:spPr>
          <a:xfrm>
            <a:off x="1245718" y="3457346"/>
            <a:ext cx="7506005" cy="3639312"/>
          </a:xfrm>
          <a:prstGeom prst="rect">
            <a:avLst/>
          </a:prstGeom>
          <a:noFill/>
          <a:ln/>
        </p:spPr>
        <p:txBody>
          <a:bodyPr wrap="square" lIns="0" tIns="0" rIns="0" bIns="0" rtlCol="0" anchor="t"/>
          <a:lstStyle/>
          <a:p>
            <a:pPr algn="l" marL="266700" indent="-266700">
              <a:lnSpc>
                <a:spcPts val="2723"/>
              </a:lnSpc>
              <a:spcAft>
                <a:spcPts val="750"/>
              </a:spcAft>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723"/>
              </a:lnSpc>
              <a:spcAft>
                <a:spcPts val="750"/>
              </a:spcAft>
              <a:buSzPct val="100000"/>
              <a:buChar char="•"/>
            </a:pPr>
            <a:r>
              <a:rPr lang="en-US" sz="1650" dirty="0">
                <a:solidFill>
                  <a:srgbClr val="211C13"/>
                </a:solidFill>
                <a:latin typeface="Noto Sans JP" pitchFamily="34" charset="0"/>
                <a:ea typeface="Noto Sans JP" pitchFamily="34" charset="-122"/>
                <a:cs typeface="Noto Sans JP" pitchFamily="34" charset="-120"/>
              </a:rPr>
              <a:t>URL／ペイロードを</a:t>
            </a:r>
            <a:pPr algn="l" marL="266700" indent="-266700">
              <a:lnSpc>
                <a:spcPts val="2723"/>
              </a:lnSpc>
              <a:spcAft>
                <a:spcPts val="750"/>
              </a:spcAft>
              <a:buSzPct val="100000"/>
              <a:buChar char="•"/>
            </a:pPr>
            <a:r>
              <a:rPr lang="en-US" sz="1650" b="1" dirty="0">
                <a:solidFill>
                  <a:srgbClr val="211C13"/>
                </a:solidFill>
                <a:latin typeface="Noto Sans JP" pitchFamily="34" charset="0"/>
                <a:ea typeface="Noto Sans JP" pitchFamily="34" charset="-122"/>
                <a:cs typeface="Noto Sans JP" pitchFamily="34" charset="-120"/>
              </a:rPr>
              <a:t>文字列連結</a:t>
            </a:r>
            <a:pPr algn="l" marL="266700" indent="-266700">
              <a:lnSpc>
                <a:spcPts val="2723"/>
              </a:lnSpc>
              <a:spcAft>
                <a:spcPts val="750"/>
              </a:spcAft>
              <a:buSzPct val="100000"/>
              <a:buChar char="•"/>
            </a:pPr>
            <a:r>
              <a:rPr lang="en-US" sz="1650" dirty="0">
                <a:solidFill>
                  <a:srgbClr val="211C13"/>
                </a:solidFill>
                <a:latin typeface="Noto Sans JP" pitchFamily="34" charset="0"/>
                <a:ea typeface="Noto Sans JP" pitchFamily="34" charset="-122"/>
                <a:cs typeface="Noto Sans JP" pitchFamily="34" charset="-120"/>
              </a:rPr>
              <a:t>で組み立てていないか</a:t>
            </a:r>
            <a:pPr algn="l" marL="266700" indent="-266700">
              <a:lnSpc>
                <a:spcPts val="2723"/>
              </a:lnSpc>
              <a:spcAft>
                <a:spcPts val="750"/>
              </a:spcAft>
              <a:buSzPct val="100000"/>
              <a:buChar char="•"/>
            </a:pPr>
            <a:endParaRPr lang="en-US" sz="1650" dirty="0"/>
          </a:p>
          <a:p>
            <a:pPr algn="l" marL="266700" indent="-266700">
              <a:lnSpc>
                <a:spcPts val="2723"/>
              </a:lnSpc>
              <a:spcAft>
                <a:spcPts val="750"/>
              </a:spcAft>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723"/>
              </a:lnSpc>
              <a:spcAft>
                <a:spcPts val="750"/>
              </a:spcAft>
              <a:buSzPct val="100000"/>
              <a:buChar char="•"/>
            </a:pPr>
            <a:r>
              <a:rPr lang="en-US" sz="1650" dirty="0">
                <a:solidFill>
                  <a:srgbClr val="211C13"/>
                </a:solidFill>
                <a:latin typeface="Noto Sans JP" pitchFamily="34" charset="0"/>
                <a:ea typeface="Noto Sans JP" pitchFamily="34" charset="-122"/>
                <a:cs typeface="Noto Sans JP" pitchFamily="34" charset="-120"/>
              </a:rPr>
              <a:t>「フレームワークが守っているはず」と</a:t>
            </a:r>
            <a:pPr algn="l" marL="266700" indent="-266700">
              <a:lnSpc>
                <a:spcPts val="2723"/>
              </a:lnSpc>
              <a:spcAft>
                <a:spcPts val="750"/>
              </a:spcAft>
              <a:buSzPct val="100000"/>
              <a:buChar char="•"/>
            </a:pPr>
            <a:r>
              <a:rPr lang="en-US" sz="1650" b="1" dirty="0">
                <a:solidFill>
                  <a:srgbClr val="211C13"/>
                </a:solidFill>
                <a:latin typeface="Noto Sans JP" pitchFamily="34" charset="0"/>
                <a:ea typeface="Noto Sans JP" pitchFamily="34" charset="-122"/>
                <a:cs typeface="Noto Sans JP" pitchFamily="34" charset="-120"/>
              </a:rPr>
              <a:t>思い込んでいないか</a:t>
            </a:r>
            <a:pPr algn="l" marL="266700" indent="-266700">
              <a:lnSpc>
                <a:spcPts val="2723"/>
              </a:lnSpc>
              <a:spcAft>
                <a:spcPts val="750"/>
              </a:spcAft>
              <a:buSzPct val="100000"/>
              <a:buChar char="•"/>
            </a:pPr>
            <a:endParaRPr lang="en-US" sz="1650" dirty="0"/>
          </a:p>
          <a:p>
            <a:pPr algn="l" marL="266700" indent="-266700">
              <a:lnSpc>
                <a:spcPts val="2723"/>
              </a:lnSpc>
              <a:spcAft>
                <a:spcPts val="750"/>
              </a:spcAft>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723"/>
              </a:lnSpc>
              <a:spcAft>
                <a:spcPts val="750"/>
              </a:spcAft>
              <a:buSzPct val="100000"/>
              <a:buChar char="•"/>
            </a:pPr>
            <a:r>
              <a:rPr lang="en-US" sz="1650" dirty="0">
                <a:solidFill>
                  <a:srgbClr val="211C13"/>
                </a:solidFill>
                <a:latin typeface="Noto Sans JP" pitchFamily="34" charset="0"/>
                <a:ea typeface="Noto Sans JP" pitchFamily="34" charset="-122"/>
                <a:cs typeface="Noto Sans JP" pitchFamily="34" charset="-120"/>
              </a:rPr>
              <a:t>動的に組み立てたフィルタ式やソート式、ページング式があるか</a:t>
            </a:r>
            <a:pPr algn="l" marL="266700" indent="-266700">
              <a:lnSpc>
                <a:spcPts val="2723"/>
              </a:lnSpc>
              <a:spcAft>
                <a:spcPts val="750"/>
              </a:spcAft>
              <a:buSzPct val="100000"/>
              <a:buChar char="•"/>
            </a:pPr>
            <a:endParaRPr lang="en-US" sz="1650" dirty="0"/>
          </a:p>
          <a:p>
            <a:pPr algn="l" marL="266700" indent="-266700">
              <a:lnSpc>
                <a:spcPts val="2723"/>
              </a:lnSpc>
              <a:spcAft>
                <a:spcPts val="750"/>
              </a:spcAft>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723"/>
              </a:lnSpc>
              <a:spcAft>
                <a:spcPts val="750"/>
              </a:spcAft>
              <a:buSzPct val="100000"/>
              <a:buChar char="•"/>
            </a:pPr>
            <a:r>
              <a:rPr lang="en-US" sz="1650" dirty="0">
                <a:solidFill>
                  <a:srgbClr val="211C13"/>
                </a:solidFill>
                <a:latin typeface="Noto Sans JP" pitchFamily="34" charset="0"/>
                <a:ea typeface="Noto Sans JP" pitchFamily="34" charset="-122"/>
                <a:cs typeface="Noto Sans JP" pitchFamily="34" charset="-120"/>
              </a:rPr>
              <a:t>絞り込み条件が「ユーザー入力由来」か</a:t>
            </a:r>
            <a:pPr algn="l" indent="0" marL="0">
              <a:lnSpc>
                <a:spcPts val="2723"/>
              </a:lnSpc>
              <a:spcAft>
                <a:spcPts val="750"/>
              </a:spcAft>
              <a:buNone/>
            </a:pPr>
            <a:endParaRPr lang="en-US" sz="1650" dirty="0"/>
          </a:p>
          <a:p>
            <a:pPr algn="l" marL="266700" indent="-266700">
              <a:lnSpc>
                <a:spcPts val="2723"/>
              </a:lnSpc>
              <a:spcAft>
                <a:spcPts val="750"/>
              </a:spcAft>
              <a:buSzPct val="100000"/>
              <a:buChar char="•"/>
            </a:pPr>
            <a:r>
              <a:rPr lang="en-US" sz="1650" dirty="0">
                <a:solidFill>
                  <a:srgbClr val="211C13"/>
                </a:solidFill>
                <a:latin typeface="Noto Sans JP" pitchFamily="34" charset="0"/>
                <a:ea typeface="Noto Sans JP" pitchFamily="34" charset="-122"/>
                <a:cs typeface="Noto Sans JP" pitchFamily="34" charset="-120"/>
              </a:rPr>
              <a:t>「管理者入力由来の決め打ち」かで扱いを分けていないか</a:t>
            </a:r>
            <a:pPr algn="l" marL="266700" indent="-266700">
              <a:lnSpc>
                <a:spcPts val="2723"/>
              </a:lnSpc>
              <a:spcAft>
                <a:spcPts val="750"/>
              </a:spcAft>
              <a:buSzPct val="100000"/>
              <a:buChar char="•"/>
            </a:pPr>
            <a:endParaRPr lang="en-US" sz="1650" dirty="0"/>
          </a:p>
          <a:p>
            <a:pPr algn="l" marL="266700" indent="-266700">
              <a:lnSpc>
                <a:spcPts val="2723"/>
              </a:lnSpc>
              <a:spcAft>
                <a:spcPts val="750"/>
              </a:spcAft>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723"/>
              </a:lnSpc>
              <a:spcAft>
                <a:spcPts val="750"/>
              </a:spcAft>
              <a:buSzPct val="100000"/>
              <a:buChar char="•"/>
            </a:pPr>
            <a:r>
              <a:rPr lang="en-US" sz="1650" dirty="0">
                <a:solidFill>
                  <a:srgbClr val="211C13"/>
                </a:solidFill>
                <a:latin typeface="Noto Sans JP" pitchFamily="34" charset="0"/>
                <a:ea typeface="Noto Sans JP" pitchFamily="34" charset="-122"/>
                <a:cs typeface="Noto Sans JP" pitchFamily="34" charset="-120"/>
              </a:rPr>
              <a:t>テンプレートやSDKに</a:t>
            </a:r>
            <a:pPr algn="l" marL="266700" indent="-266700">
              <a:lnSpc>
                <a:spcPts val="2723"/>
              </a:lnSpc>
              <a:spcAft>
                <a:spcPts val="750"/>
              </a:spcAft>
              <a:buSzPct val="100000"/>
              <a:buChar char="•"/>
            </a:pPr>
            <a:r>
              <a:rPr lang="en-US" sz="1650" b="1" dirty="0">
                <a:solidFill>
                  <a:srgbClr val="211C13"/>
                </a:solidFill>
                <a:latin typeface="Noto Sans JP" pitchFamily="34" charset="0"/>
                <a:ea typeface="Noto Sans JP" pitchFamily="34" charset="-122"/>
                <a:cs typeface="Noto Sans JP" pitchFamily="34" charset="-120"/>
              </a:rPr>
              <a:t>rawクエリ</a:t>
            </a:r>
            <a:pPr algn="l" marL="266700" indent="-266700">
              <a:lnSpc>
                <a:spcPts val="2723"/>
              </a:lnSpc>
              <a:spcAft>
                <a:spcPts val="750"/>
              </a:spcAft>
              <a:buSzPct val="100000"/>
              <a:buChar char="•"/>
            </a:pPr>
            <a:r>
              <a:rPr lang="en-US" sz="1650" dirty="0">
                <a:solidFill>
                  <a:srgbClr val="211C13"/>
                </a:solidFill>
                <a:latin typeface="Noto Sans JP" pitchFamily="34" charset="0"/>
                <a:ea typeface="Noto Sans JP" pitchFamily="34" charset="-122"/>
                <a:cs typeface="Noto Sans JP" pitchFamily="34" charset="-120"/>
              </a:rPr>
              <a:t>を</a:t>
            </a:r>
            <a:pPr algn="l" indent="0" marL="0">
              <a:lnSpc>
                <a:spcPts val="2723"/>
              </a:lnSpc>
              <a:spcAft>
                <a:spcPts val="750"/>
              </a:spcAft>
              <a:buNone/>
            </a:pPr>
            <a:endParaRPr lang="en-US" sz="1650" dirty="0"/>
          </a:p>
          <a:p>
            <a:pPr algn="l" marL="266700" indent="-266700">
              <a:lnSpc>
                <a:spcPts val="2723"/>
              </a:lnSpc>
              <a:spcAft>
                <a:spcPts val="750"/>
              </a:spcAft>
              <a:buSzPct val="100000"/>
              <a:buChar char="•"/>
            </a:pPr>
            <a:r>
              <a:rPr lang="en-US" sz="1650" dirty="0">
                <a:solidFill>
                  <a:srgbClr val="211C13"/>
                </a:solidFill>
                <a:latin typeface="Noto Sans JP" pitchFamily="34" charset="0"/>
                <a:ea typeface="Noto Sans JP" pitchFamily="34" charset="-122"/>
                <a:cs typeface="Noto Sans JP" pitchFamily="34" charset="-120"/>
              </a:rPr>
              <a:t>渡す口が残っていないか</a:t>
            </a:r>
            <a:pPr algn="l" marL="266700" indent="-266700">
              <a:lnSpc>
                <a:spcPts val="2723"/>
              </a:lnSpc>
              <a:spcAft>
                <a:spcPts val="750"/>
              </a:spcAft>
              <a:buSzPct val="100000"/>
              <a:buChar char="•"/>
            </a:pPr>
            <a:endParaRPr lang="en-US" sz="1650" dirty="0"/>
          </a:p>
          <a:p>
            <a:pPr algn="l" marL="266700" indent="-266700">
              <a:lnSpc>
                <a:spcPts val="2723"/>
              </a:lnSpc>
              <a:spcAft>
                <a:spcPts val="750"/>
              </a:spcAft>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723"/>
              </a:lnSpc>
              <a:spcAft>
                <a:spcPts val="750"/>
              </a:spcAft>
              <a:buSzPct val="100000"/>
              <a:buChar char="•"/>
            </a:pPr>
            <a:r>
              <a:rPr lang="en-US" sz="1650" dirty="0">
                <a:solidFill>
                  <a:srgbClr val="211C13"/>
                </a:solidFill>
                <a:latin typeface="Noto Sans JP" pitchFamily="34" charset="0"/>
                <a:ea typeface="Noto Sans JP" pitchFamily="34" charset="-122"/>
                <a:cs typeface="Noto Sans JP" pitchFamily="34" charset="-120"/>
              </a:rPr>
              <a:t>RLS（行レベルセキュリティ）/ 認可と</a:t>
            </a:r>
            <a:pPr algn="l" indent="0" marL="0">
              <a:lnSpc>
                <a:spcPts val="2723"/>
              </a:lnSpc>
              <a:spcAft>
                <a:spcPts val="750"/>
              </a:spcAft>
              <a:buNone/>
            </a:pPr>
            <a:endParaRPr lang="en-US" sz="1650" dirty="0"/>
          </a:p>
          <a:p>
            <a:pPr algn="l" marL="266700" indent="-266700">
              <a:lnSpc>
                <a:spcPts val="2723"/>
              </a:lnSpc>
              <a:spcAft>
                <a:spcPts val="750"/>
              </a:spcAft>
              <a:buSzPct val="100000"/>
              <a:buChar char="•"/>
            </a:pPr>
            <a:r>
              <a:rPr lang="en-US" sz="1650" dirty="0">
                <a:solidFill>
                  <a:srgbClr val="211C13"/>
                </a:solidFill>
                <a:latin typeface="Noto Sans JP" pitchFamily="34" charset="0"/>
                <a:ea typeface="Noto Sans JP" pitchFamily="34" charset="-122"/>
                <a:cs typeface="Noto Sans JP" pitchFamily="34" charset="-120"/>
              </a:rPr>
              <a:t>直交してこの問題に依存していないか</a:t>
            </a:r>
            <a:endParaRPr lang="en-US" sz="1650" dirty="0"/>
          </a:p>
        </p:txBody>
      </p:sp>
      <p:sp>
        <p:nvSpPr>
          <p:cNvPr id="7" name="Text 4"/>
          <p:cNvSpPr txBox="1"/>
          <p:nvPr/>
        </p:nvSpPr>
        <p:spPr>
          <a:xfrm>
            <a:off x="9581998" y="3143707"/>
            <a:ext cx="7525512" cy="191110"/>
          </a:xfrm>
          <a:prstGeom prst="rect">
            <a:avLst/>
          </a:prstGeom>
          <a:noFill/>
          <a:ln/>
        </p:spPr>
        <p:txBody>
          <a:bodyPr wrap="none" lIns="0" tIns="0" rIns="0" bIns="0" rtlCol="0" anchor="ctr"/>
          <a:lstStyle/>
          <a:p>
            <a:pPr algn="l" indent="0" marL="0">
              <a:buNone/>
            </a:pPr>
            <a:r>
              <a:rPr lang="en-US" sz="1050" spc="189" kern="0" dirty="0">
                <a:solidFill>
                  <a:srgbClr val="5BAA85"/>
                </a:solidFill>
                <a:latin typeface="JetBrains Mono" pitchFamily="34" charset="0"/>
                <a:ea typeface="JetBrains Mono" pitchFamily="34" charset="-122"/>
                <a:cs typeface="JetBrains Mono" pitchFamily="34" charset="-120"/>
              </a:rPr>
              <a:t>回帰テストに加えたい例</a:t>
            </a:r>
            <a:endParaRPr lang="en-US" sz="1050" dirty="0"/>
          </a:p>
        </p:txBody>
      </p:sp>
      <p:sp>
        <p:nvSpPr>
          <p:cNvPr id="8" name="Text 5"/>
          <p:cNvSpPr txBox="1"/>
          <p:nvPr/>
        </p:nvSpPr>
        <p:spPr>
          <a:xfrm>
            <a:off x="9581998" y="3562502"/>
            <a:ext cx="7525512" cy="876910"/>
          </a:xfrm>
          <a:prstGeom prst="rect">
            <a:avLst/>
          </a:prstGeom>
          <a:noFill/>
          <a:ln/>
        </p:spPr>
        <p:txBody>
          <a:bodyPr wrap="square" lIns="0" tIns="0" rIns="0" bIns="0" rtlCol="0" anchor="ctr"/>
          <a:lstStyle/>
          <a:p>
            <a:pPr algn="l" indent="0" marL="0">
              <a:lnSpc>
                <a:spcPts val="2295"/>
              </a:lnSpc>
              <a:buNone/>
            </a:pPr>
            <a:r>
              <a:rPr lang="en-US" sz="1350" dirty="0">
                <a:solidFill>
                  <a:srgbClr val="ECE4D2"/>
                </a:solidFill>
                <a:latin typeface="JetBrains Mono" pitchFamily="34" charset="0"/>
                <a:ea typeface="JetBrains Mono" pitchFamily="34" charset="-122"/>
                <a:cs typeface="JetBrains Mono" pitchFamily="34" charset="-120"/>
              </a:rPr>
              <a:t>// パターンA — 引用符や制御文字を含む語 x' OR '' = ' x'-- x"; -- // パターンB — 常に真になる節 x' OR '1' = '1 // パターンC — 公開フラグを外す方向 x' OR is_public = false OR '</a:t>
            </a:r>
            <a:endParaRPr lang="en-US" sz="1350" dirty="0"/>
          </a:p>
        </p:txBody>
      </p:sp>
      <p:sp>
        <p:nvSpPr>
          <p:cNvPr id="9" name="Text 6"/>
          <p:cNvSpPr txBox="1"/>
          <p:nvPr/>
        </p:nvSpPr>
        <p:spPr>
          <a:xfrm>
            <a:off x="9581998" y="4628693"/>
            <a:ext cx="7525512" cy="694030"/>
          </a:xfrm>
          <a:prstGeom prst="rect">
            <a:avLst/>
          </a:prstGeom>
          <a:noFill/>
          <a:ln/>
        </p:spPr>
        <p:txBody>
          <a:bodyPr wrap="square" lIns="0" tIns="0" rIns="0" bIns="0" rtlCol="0" anchor="t"/>
          <a:lstStyle/>
          <a:p>
            <a:pPr algn="l" indent="0" marL="0">
              <a:lnSpc>
                <a:spcPts val="2558"/>
              </a:lnSpc>
              <a:buNone/>
            </a:pPr>
            <a:r>
              <a:rPr lang="en-US" sz="1650" dirty="0">
                <a:solidFill>
                  <a:srgbClr val="F5EFDD"/>
                </a:solidFill>
                <a:latin typeface="Noto Sans JP" pitchFamily="34" charset="0"/>
                <a:ea typeface="Noto Sans JP" pitchFamily="34" charset="-122"/>
                <a:cs typeface="Noto Sans JP" pitchFamily="34" charset="-120"/>
              </a:rPr>
              <a:t>単純な等価一致で検証するのではなく、</a:t>
            </a:r>
            <a:pPr algn="l" indent="0" marL="0">
              <a:lnSpc>
                <a:spcPts val="2558"/>
              </a:lnSpc>
              <a:buNone/>
            </a:pPr>
            <a:endParaRPr lang="en-US" sz="1650" dirty="0"/>
          </a:p>
          <a:p>
            <a:pPr algn="l" indent="0" marL="0">
              <a:lnSpc>
                <a:spcPts val="2558"/>
              </a:lnSpc>
              <a:buNone/>
            </a:pPr>
            <a:r>
              <a:rPr lang="en-US" sz="1650" b="1" dirty="0">
                <a:solidFill>
                  <a:srgbClr val="D4922A"/>
                </a:solidFill>
                <a:latin typeface="Noto Sans JP" pitchFamily="34" charset="0"/>
                <a:ea typeface="Noto Sans JP" pitchFamily="34" charset="-122"/>
                <a:cs typeface="Noto Sans JP" pitchFamily="34" charset="-120"/>
              </a:rPr>
              <a:t>公開ユーザー件数</a:t>
            </a:r>
            <a:pPr algn="l" indent="0" marL="0">
              <a:lnSpc>
                <a:spcPts val="2558"/>
              </a:lnSpc>
              <a:buNone/>
            </a:pPr>
            <a:r>
              <a:rPr lang="en-US" sz="1650" dirty="0">
                <a:solidFill>
                  <a:srgbClr val="F5EFDD"/>
                </a:solidFill>
                <a:latin typeface="Noto Sans JP" pitchFamily="34" charset="0"/>
                <a:ea typeface="Noto Sans JP" pitchFamily="34" charset="-122"/>
                <a:cs typeface="Noto Sans JP" pitchFamily="34" charset="-120"/>
              </a:rPr>
              <a:t>を観測値として確認するのが要点。</a:t>
            </a:r>
            <a:endParaRPr lang="en-US" sz="1650" dirty="0"/>
          </a:p>
        </p:txBody>
      </p:sp>
      <p:pic>
        <p:nvPicPr>
          <p:cNvPr id="10" name="Image 0" descr="gen-dedup-ff3b843c62efd2578b331bdfc9bb7c8f.png">    </p:cNvPr>
          <p:cNvPicPr>
            <a:picLocks noChangeAspect="1"/>
          </p:cNvPicPr>
          <p:nvPr/>
        </p:nvPicPr>
        <p:blipFill>
          <a:blip r:embed="rId1"/>
          <a:srcRect l="-2083" r="-2083" t="0" b="0"/>
          <a:stretch/>
        </p:blipFill>
        <p:spPr>
          <a:xfrm>
            <a:off x="914400" y="9334195"/>
            <a:ext cx="16459200" cy="9144"/>
          </a:xfrm>
          <a:prstGeom prst="rect">
            <a:avLst/>
          </a:prstGeom>
        </p:spPr>
      </p:pic>
      <p:sp>
        <p:nvSpPr>
          <p:cNvPr id="11" name="Shape 7"/>
          <p:cNvSpPr/>
          <p:nvPr/>
        </p:nvSpPr>
        <p:spPr>
          <a:xfrm>
            <a:off x="914400" y="609905"/>
            <a:ext cx="1619402" cy="381305"/>
          </a:xfrm>
          <a:prstGeom prst="roundRect">
            <a:avLst>
              <a:gd name="adj" fmla="val 49880"/>
            </a:avLst>
          </a:prstGeom>
          <a:solidFill>
            <a:srgbClr val="211C13"/>
          </a:solidFill>
          <a:ln w="12700">
            <a:solidFill>
              <a:srgbClr val="FFFFFF">
                <a:alpha val="0"/>
              </a:srgbClr>
            </a:solidFill>
            <a:prstDash val="solid"/>
          </a:ln>
        </p:spPr>
      </p:sp>
      <p:sp>
        <p:nvSpPr>
          <p:cNvPr id="12" name="Text 8"/>
          <p:cNvSpPr txBox="1"/>
          <p:nvPr/>
        </p:nvSpPr>
        <p:spPr>
          <a:xfrm>
            <a:off x="914400" y="1238098"/>
            <a:ext cx="16459200" cy="219456"/>
          </a:xfrm>
          <a:prstGeom prst="rect">
            <a:avLst/>
          </a:prstGeom>
          <a:noFill/>
          <a:ln/>
        </p:spPr>
        <p:txBody>
          <a:bodyPr wrap="none" lIns="0" tIns="0" rIns="0" bIns="0" rtlCol="0" anchor="ctr"/>
          <a:lstStyle/>
          <a:p>
            <a:pPr algn="l" indent="0" marL="0">
              <a:buNone/>
            </a:pPr>
            <a:r>
              <a:rPr lang="en-US" sz="1350" spc="324" kern="0" dirty="0">
                <a:solidFill>
                  <a:srgbClr val="B63A2A"/>
                </a:solidFill>
                <a:latin typeface="JetBrains Mono" pitchFamily="34" charset="0"/>
                <a:ea typeface="JetBrains Mono" pitchFamily="34" charset="-122"/>
                <a:cs typeface="JetBrains Mono" pitchFamily="34" charset="-120"/>
              </a:rPr>
              <a:t>14 · Carry back to work</a:t>
            </a:r>
            <a:endParaRPr lang="en-US" sz="1350" dirty="0"/>
          </a:p>
        </p:txBody>
      </p:sp>
      <p:sp>
        <p:nvSpPr>
          <p:cNvPr id="13" name="Text 9"/>
          <p:cNvSpPr txBox="1"/>
          <p:nvPr/>
        </p:nvSpPr>
        <p:spPr>
          <a:xfrm>
            <a:off x="914400" y="1533449"/>
            <a:ext cx="16459200" cy="838505"/>
          </a:xfrm>
          <a:prstGeom prst="rect">
            <a:avLst/>
          </a:prstGeom>
          <a:noFill/>
          <a:ln/>
        </p:spPr>
        <p:txBody>
          <a:bodyPr wrap="none" lIns="0" tIns="0" rIns="0" bIns="0" rtlCol="0" anchor="ctr"/>
          <a:lstStyle/>
          <a:p>
            <a:pPr algn="l" indent="0" marL="0">
              <a:buNone/>
            </a:pPr>
            <a:r>
              <a:rPr lang="en-US" sz="6000" b="1" spc="-120" kern="0" dirty="0">
                <a:solidFill>
                  <a:srgbClr val="211C13"/>
                </a:solidFill>
                <a:latin typeface="Zen Kaku Gothic Antique" pitchFamily="34" charset="0"/>
                <a:ea typeface="Zen Kaku Gothic Antique" pitchFamily="34" charset="-122"/>
                <a:cs typeface="Zen Kaku Gothic Antique" pitchFamily="34" charset="-120"/>
              </a:rPr>
              <a:t>レビュー観点と回帰テスト例</a:t>
            </a:r>
            <a:endParaRPr lang="en-US" sz="6000" dirty="0"/>
          </a:p>
        </p:txBody>
      </p:sp>
      <p:sp>
        <p:nvSpPr>
          <p:cNvPr id="14" name="Text 10"/>
          <p:cNvSpPr txBox="1"/>
          <p:nvPr/>
        </p:nvSpPr>
        <p:spPr>
          <a:xfrm>
            <a:off x="914400" y="9562795"/>
            <a:ext cx="12382805" cy="228600"/>
          </a:xfrm>
          <a:prstGeom prst="rect">
            <a:avLst/>
          </a:prstGeom>
          <a:noFill/>
          <a:ln/>
        </p:spPr>
        <p:txBody>
          <a:bodyPr wrap="none" lIns="0" tIns="0" rIns="0" bIns="0" rtlCol="0" anchor="ctr"/>
          <a:lstStyle/>
          <a:p>
            <a:pPr algn="l" indent="0" marL="0">
              <a:buNone/>
            </a:pPr>
            <a:r>
              <a:rPr lang="en-US" sz="1200" spc="72" kern="0" dirty="0">
                <a:solidFill>
                  <a:srgbClr val="5A4F3F"/>
                </a:solidFill>
                <a:latin typeface="JetBrains Mono" pitchFamily="34" charset="0"/>
                <a:ea typeface="JetBrains Mono" pitchFamily="34" charset="-122"/>
                <a:cs typeface="JetBrains Mono" pitchFamily="34" charset="-120"/>
              </a:rPr>
              <a:t>持ち帰りメモ — 値とコードを混ぜない、絞り込み条件を動的組み立てしない、観測値で検証する</a:t>
            </a:r>
            <a:endParaRPr lang="en-US" sz="1200" dirty="0"/>
          </a:p>
        </p:txBody>
      </p:sp>
      <p:sp>
        <p:nvSpPr>
          <p:cNvPr id="15" name="Text 11"/>
          <p:cNvSpPr txBox="1"/>
          <p:nvPr/>
        </p:nvSpPr>
        <p:spPr>
          <a:xfrm>
            <a:off x="15468905" y="9562795"/>
            <a:ext cx="1905610" cy="200254"/>
          </a:xfrm>
          <a:prstGeom prst="rect">
            <a:avLst/>
          </a:prstGeom>
          <a:noFill/>
          <a:ln/>
        </p:spPr>
        <p:txBody>
          <a:bodyPr wrap="none" lIns="0" tIns="0" rIns="0" bIns="0" rtlCol="0" anchor="ctr"/>
          <a:lstStyle/>
          <a:p>
            <a:pPr algn="r" indent="0" marL="0">
              <a:buNone/>
            </a:pPr>
            <a:r>
              <a:rPr lang="en-US" sz="1200" spc="72" kern="0" dirty="0">
                <a:solidFill>
                  <a:srgbClr val="5A4F3F"/>
                </a:solidFill>
                <a:latin typeface="JetBrains Mono" pitchFamily="34" charset="0"/>
                <a:ea typeface="JetBrains Mono" pitchFamily="34" charset="-122"/>
                <a:cs typeface="JetBrains Mono" pitchFamily="34" charset="-120"/>
              </a:rPr>
              <a:t>14 / 32</a:t>
            </a:r>
            <a:endParaRPr lang="en-US" sz="1200" dirty="0"/>
          </a:p>
        </p:txBody>
      </p:sp>
      <p:sp>
        <p:nvSpPr>
          <p:cNvPr id="16" name="Text 12"/>
          <p:cNvSpPr txBox="1"/>
          <p:nvPr/>
        </p:nvSpPr>
        <p:spPr>
          <a:xfrm>
            <a:off x="914400" y="609905"/>
            <a:ext cx="1619402" cy="381305"/>
          </a:xfrm>
          <a:prstGeom prst="rect">
            <a:avLst/>
          </a:prstGeom>
          <a:noFill/>
          <a:ln/>
        </p:spPr>
        <p:txBody>
          <a:bodyPr wrap="none" lIns="0" tIns="0" rIns="0" bIns="0" rtlCol="0" anchor="ctr"/>
          <a:lstStyle/>
          <a:p>
            <a:pPr algn="ctr" indent="0" marL="0">
              <a:buNone/>
            </a:pPr>
            <a:r>
              <a:rPr lang="en-US" sz="1050" spc="231" kern="0" dirty="0">
                <a:solidFill>
                  <a:srgbClr val="F5EFDD"/>
                </a:solidFill>
                <a:latin typeface="JetBrains Mono" pitchFamily="34" charset="0"/>
                <a:ea typeface="JetBrains Mono" pitchFamily="34" charset="-122"/>
                <a:cs typeface="JetBrains Mono" pitchFamily="34" charset="-120"/>
              </a:rPr>
              <a:t>INSTRUCTOR</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FE7D4"/>
        </a:solidFill>
      </p:bgPr>
    </p:bg>
    <p:spTree>
      <p:nvGrpSpPr>
        <p:cNvPr id="1" name=""/>
        <p:cNvGrpSpPr/>
        <p:nvPr/>
      </p:nvGrpSpPr>
      <p:grpSpPr>
        <a:xfrm>
          <a:off x="0" y="0"/>
          <a:ext cx="0" cy="0"/>
          <a:chOff x="0" y="0"/>
          <a:chExt cx="0" cy="0"/>
        </a:xfrm>
      </p:grpSpPr>
      <p:sp>
        <p:nvSpPr>
          <p:cNvPr id="3" name="Shape 0"/>
          <p:cNvSpPr/>
          <p:nvPr/>
        </p:nvSpPr>
        <p:spPr>
          <a:xfrm>
            <a:off x="0" y="0"/>
            <a:ext cx="1904695" cy="10287000"/>
          </a:xfrm>
          <a:prstGeom prst="rect">
            <a:avLst/>
          </a:prstGeom>
          <a:solidFill>
            <a:srgbClr val="B4791F"/>
          </a:solidFill>
          <a:ln w="12700">
            <a:solidFill>
              <a:srgbClr val="FFFFFF">
                <a:alpha val="0"/>
              </a:srgbClr>
            </a:solidFill>
            <a:prstDash val="solid"/>
          </a:ln>
        </p:spPr>
      </p:sp>
      <p:sp>
        <p:nvSpPr>
          <p:cNvPr id="4" name="Shape 1"/>
          <p:cNvSpPr/>
          <p:nvPr/>
        </p:nvSpPr>
        <p:spPr>
          <a:xfrm>
            <a:off x="2667305" y="4572000"/>
            <a:ext cx="7239305" cy="2286000"/>
          </a:xfrm>
          <a:prstGeom prst="roundRect">
            <a:avLst>
              <a:gd name="adj" fmla="val 1680"/>
            </a:avLst>
          </a:prstGeom>
          <a:solidFill>
            <a:srgbClr val="E5DBC4"/>
          </a:solidFill>
          <a:ln w="12700">
            <a:solidFill>
              <a:srgbClr val="FFFFFF">
                <a:alpha val="0"/>
              </a:srgbClr>
            </a:solidFill>
            <a:prstDash val="solid"/>
          </a:ln>
        </p:spPr>
      </p:sp>
      <p:sp>
        <p:nvSpPr>
          <p:cNvPr id="5" name="Shape 2"/>
          <p:cNvSpPr/>
          <p:nvPr/>
        </p:nvSpPr>
        <p:spPr>
          <a:xfrm>
            <a:off x="10287000" y="4572000"/>
            <a:ext cx="7239305" cy="2286000"/>
          </a:xfrm>
          <a:prstGeom prst="roundRect">
            <a:avLst>
              <a:gd name="adj" fmla="val 1680"/>
            </a:avLst>
          </a:prstGeom>
          <a:solidFill>
            <a:srgbClr val="1B1F25"/>
          </a:solidFill>
          <a:ln w="12700">
            <a:solidFill>
              <a:srgbClr val="FFFFFF">
                <a:alpha val="0"/>
              </a:srgbClr>
            </a:solidFill>
            <a:prstDash val="solid"/>
          </a:ln>
        </p:spPr>
      </p:sp>
      <p:sp>
        <p:nvSpPr>
          <p:cNvPr id="6" name="Shape 3"/>
          <p:cNvSpPr/>
          <p:nvPr/>
        </p:nvSpPr>
        <p:spPr>
          <a:xfrm>
            <a:off x="2667305" y="7048195"/>
            <a:ext cx="7239305" cy="1904695"/>
          </a:xfrm>
          <a:prstGeom prst="roundRect">
            <a:avLst>
              <a:gd name="adj" fmla="val 2016"/>
            </a:avLst>
          </a:prstGeom>
          <a:solidFill>
            <a:srgbClr val="E5DBC4"/>
          </a:solidFill>
          <a:ln w="12700">
            <a:solidFill>
              <a:srgbClr val="FFFFFF">
                <a:alpha val="0"/>
              </a:srgbClr>
            </a:solidFill>
            <a:prstDash val="solid"/>
          </a:ln>
        </p:spPr>
      </p:sp>
      <p:sp>
        <p:nvSpPr>
          <p:cNvPr id="7" name="Shape 4"/>
          <p:cNvSpPr/>
          <p:nvPr/>
        </p:nvSpPr>
        <p:spPr>
          <a:xfrm>
            <a:off x="10287000" y="7048195"/>
            <a:ext cx="7239305" cy="1904695"/>
          </a:xfrm>
          <a:prstGeom prst="roundRect">
            <a:avLst>
              <a:gd name="adj" fmla="val 2016"/>
            </a:avLst>
          </a:prstGeom>
          <a:solidFill>
            <a:srgbClr val="E5DBC4"/>
          </a:solidFill>
          <a:ln w="12700">
            <a:solidFill>
              <a:srgbClr val="FFFFFF">
                <a:alpha val="0"/>
              </a:srgbClr>
            </a:solidFill>
            <a:prstDash val="solid"/>
          </a:ln>
        </p:spPr>
      </p:sp>
      <p:sp>
        <p:nvSpPr>
          <p:cNvPr id="8" name="Text 5"/>
          <p:cNvSpPr txBox="1"/>
          <p:nvPr/>
        </p:nvSpPr>
        <p:spPr>
          <a:xfrm>
            <a:off x="228600" y="914400"/>
            <a:ext cx="1524305" cy="171907"/>
          </a:xfrm>
          <a:prstGeom prst="rect">
            <a:avLst/>
          </a:prstGeom>
          <a:noFill/>
          <a:ln/>
        </p:spPr>
        <p:txBody>
          <a:bodyPr wrap="none" lIns="0" tIns="0" rIns="0" bIns="0" rtlCol="0" anchor="ctr"/>
          <a:lstStyle/>
          <a:p>
            <a:pPr algn="l" indent="0" marL="0">
              <a:buNone/>
            </a:pPr>
            <a:r>
              <a:rPr lang="en-US" sz="1050" spc="231" kern="0" dirty="0">
                <a:solidFill>
                  <a:srgbClr val="F5EFDD"/>
                </a:solidFill>
                <a:latin typeface="JetBrains Mono" pitchFamily="34" charset="0"/>
                <a:ea typeface="JetBrains Mono" pitchFamily="34" charset="-122"/>
                <a:cs typeface="JetBrains Mono" pitchFamily="34" charset="-120"/>
              </a:rPr>
              <a:t>CHAPTER</a:t>
            </a:r>
            <a:endParaRPr lang="en-US" sz="1050" dirty="0"/>
          </a:p>
        </p:txBody>
      </p:sp>
      <p:sp>
        <p:nvSpPr>
          <p:cNvPr id="9" name="Text 6"/>
          <p:cNvSpPr txBox="1"/>
          <p:nvPr/>
        </p:nvSpPr>
        <p:spPr>
          <a:xfrm>
            <a:off x="228600" y="1143000"/>
            <a:ext cx="1524305" cy="876910"/>
          </a:xfrm>
          <a:prstGeom prst="rect">
            <a:avLst/>
          </a:prstGeom>
          <a:noFill/>
          <a:ln/>
        </p:spPr>
        <p:txBody>
          <a:bodyPr wrap="none" lIns="0" tIns="0" rIns="0" bIns="0" rtlCol="0" anchor="ctr"/>
          <a:lstStyle/>
          <a:p>
            <a:pPr algn="l" indent="0" marL="0">
              <a:buNone/>
            </a:pPr>
            <a:r>
              <a:rPr lang="en-US" sz="7200" b="1" spc="-144" kern="0" dirty="0">
                <a:solidFill>
                  <a:srgbClr val="F5EFDD"/>
                </a:solidFill>
                <a:latin typeface="Zen Kaku Gothic Antique" pitchFamily="34" charset="0"/>
                <a:ea typeface="Zen Kaku Gothic Antique" pitchFamily="34" charset="-122"/>
                <a:cs typeface="Zen Kaku Gothic Antique" pitchFamily="34" charset="-120"/>
              </a:rPr>
              <a:t>02</a:t>
            </a:r>
            <a:endParaRPr lang="en-US" sz="7200" dirty="0"/>
          </a:p>
        </p:txBody>
      </p:sp>
      <p:pic>
        <p:nvPicPr>
          <p:cNvPr id="10" name="Image 0" descr="gen-dedup-2173e259c8f89e09f8a89067735d6b02.png">    </p:cNvPr>
          <p:cNvPicPr>
            <a:picLocks noChangeAspect="1"/>
          </p:cNvPicPr>
          <p:nvPr/>
        </p:nvPicPr>
        <p:blipFill>
          <a:blip r:embed="rId1"/>
          <a:srcRect l="-404" r="-404" t="0" b="0"/>
          <a:stretch/>
        </p:blipFill>
        <p:spPr>
          <a:xfrm>
            <a:off x="228600" y="2182673"/>
            <a:ext cx="571500" cy="28346"/>
          </a:xfrm>
          <a:prstGeom prst="rect">
            <a:avLst/>
          </a:prstGeom>
        </p:spPr>
      </p:pic>
      <p:sp>
        <p:nvSpPr>
          <p:cNvPr id="11" name="Text 7"/>
          <p:cNvSpPr txBox="1"/>
          <p:nvPr/>
        </p:nvSpPr>
        <p:spPr>
          <a:xfrm>
            <a:off x="228600" y="8762695"/>
            <a:ext cx="1524305" cy="171907"/>
          </a:xfrm>
          <a:prstGeom prst="rect">
            <a:avLst/>
          </a:prstGeom>
          <a:noFill/>
          <a:ln/>
        </p:spPr>
        <p:txBody>
          <a:bodyPr wrap="none" lIns="0" tIns="0" rIns="0" bIns="0" rtlCol="0" anchor="ctr"/>
          <a:lstStyle/>
          <a:p>
            <a:pPr algn="l" indent="0" marL="0">
              <a:buNone/>
            </a:pPr>
            <a:r>
              <a:rPr lang="en-US" sz="1050" spc="231" kern="0" dirty="0">
                <a:solidFill>
                  <a:srgbClr val="F5EFDD">
                    <a:alpha val="85000"/>
                  </a:srgbClr>
                </a:solidFill>
                <a:latin typeface="JetBrains Mono" pitchFamily="34" charset="0"/>
                <a:ea typeface="JetBrains Mono" pitchFamily="34" charset="-122"/>
                <a:cs typeface="JetBrains Mono" pitchFamily="34" charset="-120"/>
              </a:rPr>
              <a:t>19–33</a:t>
            </a:r>
            <a:endParaRPr lang="en-US" sz="1050" dirty="0"/>
          </a:p>
        </p:txBody>
      </p:sp>
      <p:sp>
        <p:nvSpPr>
          <p:cNvPr id="12" name="Text 8"/>
          <p:cNvSpPr txBox="1"/>
          <p:nvPr/>
        </p:nvSpPr>
        <p:spPr>
          <a:xfrm>
            <a:off x="228600" y="8973007"/>
            <a:ext cx="1524305" cy="228600"/>
          </a:xfrm>
          <a:prstGeom prst="rect">
            <a:avLst/>
          </a:prstGeom>
          <a:noFill/>
          <a:ln/>
        </p:spPr>
        <p:txBody>
          <a:bodyPr wrap="none" lIns="0" tIns="0" rIns="0" bIns="0" rtlCol="0" anchor="ctr"/>
          <a:lstStyle/>
          <a:p>
            <a:pPr algn="l" indent="0" marL="0">
              <a:buNone/>
            </a:pPr>
            <a:r>
              <a:rPr lang="en-US" sz="1200" dirty="0">
                <a:solidFill>
                  <a:srgbClr val="F5EFDD">
                    <a:alpha val="90000"/>
                  </a:srgbClr>
                </a:solidFill>
                <a:latin typeface="Noto Sans JP" pitchFamily="34" charset="0"/>
                <a:ea typeface="Noto Sans JP" pitchFamily="34" charset="-122"/>
                <a:cs typeface="Noto Sans JP" pitchFamily="34" charset="-120"/>
              </a:rPr>
              <a:t>本編 約14分</a:t>
            </a:r>
            <a:endParaRPr lang="en-US" sz="1200" dirty="0"/>
          </a:p>
        </p:txBody>
      </p:sp>
      <p:sp>
        <p:nvSpPr>
          <p:cNvPr id="13" name="Text 9"/>
          <p:cNvSpPr txBox="1"/>
          <p:nvPr/>
        </p:nvSpPr>
        <p:spPr>
          <a:xfrm>
            <a:off x="2971800" y="4819802"/>
            <a:ext cx="6667805" cy="191110"/>
          </a:xfrm>
          <a:prstGeom prst="rect">
            <a:avLst/>
          </a:prstGeom>
          <a:noFill/>
          <a:ln/>
        </p:spPr>
        <p:txBody>
          <a:bodyPr wrap="none" lIns="0" tIns="0" rIns="0" bIns="0" rtlCol="0" anchor="ctr"/>
          <a:lstStyle/>
          <a:p>
            <a:pPr algn="l" indent="0" marL="0">
              <a:buNone/>
            </a:pPr>
            <a:r>
              <a:rPr lang="en-US" sz="1050" spc="189" kern="0" dirty="0">
                <a:solidFill>
                  <a:srgbClr val="B4791F"/>
                </a:solidFill>
                <a:latin typeface="JetBrains Mono" pitchFamily="34" charset="0"/>
                <a:ea typeface="JetBrains Mono" pitchFamily="34" charset="-122"/>
                <a:cs typeface="JetBrains Mono" pitchFamily="34" charset="-120"/>
              </a:rPr>
              <a:t>観測したい成功条件</a:t>
            </a:r>
            <a:endParaRPr lang="en-US" sz="1050" dirty="0"/>
          </a:p>
        </p:txBody>
      </p:sp>
      <p:sp>
        <p:nvSpPr>
          <p:cNvPr id="14" name="Text 10"/>
          <p:cNvSpPr txBox="1"/>
          <p:nvPr/>
        </p:nvSpPr>
        <p:spPr>
          <a:xfrm>
            <a:off x="2971800" y="5108753"/>
            <a:ext cx="6667805" cy="1063447"/>
          </a:xfrm>
          <a:prstGeom prst="rect">
            <a:avLst/>
          </a:prstGeom>
          <a:noFill/>
          <a:ln/>
        </p:spPr>
        <p:txBody>
          <a:bodyPr wrap="square" lIns="0" tIns="0" rIns="0" bIns="0" rtlCol="0" anchor="t"/>
          <a:lstStyle/>
          <a:p>
            <a:pPr algn="l" indent="0" marL="0">
              <a:lnSpc>
                <a:spcPts val="2700"/>
              </a:lnSpc>
              <a:buNone/>
            </a:pPr>
            <a:r>
              <a:rPr lang="en-US" sz="1800" dirty="0">
                <a:solidFill>
                  <a:srgbClr val="211C13"/>
                </a:solidFill>
                <a:latin typeface="Noto Sans JP" pitchFamily="34" charset="0"/>
                <a:ea typeface="Noto Sans JP" pitchFamily="34" charset="-122"/>
                <a:cs typeface="Noto Sans JP" pitchFamily="34" charset="-120"/>
              </a:rPr>
              <a:t>文字列を 1 度保存したあと、</a:t>
            </a:r>
            <a:pPr algn="l" indent="0" marL="0">
              <a:lnSpc>
                <a:spcPts val="2700"/>
              </a:lnSpc>
              <a:buNone/>
            </a:pPr>
            <a:endParaRPr lang="en-US" sz="1800" dirty="0"/>
          </a:p>
          <a:p>
            <a:pPr algn="l" indent="0" marL="0">
              <a:lnSpc>
                <a:spcPts val="2700"/>
              </a:lnSpc>
              <a:buNone/>
            </a:pPr>
            <a:r>
              <a:rPr lang="en-US" sz="1800" dirty="0">
                <a:solidFill>
                  <a:srgbClr val="211C13"/>
                </a:solidFill>
                <a:latin typeface="Noto Sans JP" pitchFamily="34" charset="0"/>
                <a:ea typeface="Noto Sans JP" pitchFamily="34" charset="-122"/>
                <a:cs typeface="Noto Sans JP" pitchFamily="34" charset="-120"/>
              </a:rPr>
              <a:t>自分の環境でランキングが再描画されたとき、</a:t>
            </a:r>
            <a:pPr algn="l" indent="0" marL="0">
              <a:lnSpc>
                <a:spcPts val="2700"/>
              </a:lnSpc>
              <a:buNone/>
            </a:pPr>
            <a:endParaRPr lang="en-US" sz="1800" dirty="0"/>
          </a:p>
          <a:p>
            <a:pPr algn="l" indent="0" marL="0">
              <a:lnSpc>
                <a:spcPts val="2700"/>
              </a:lnSpc>
              <a:buNone/>
            </a:pPr>
            <a:r>
              <a:rPr lang="en-US" sz="1800" dirty="0">
                <a:solidFill>
                  <a:srgbClr val="211C13"/>
                </a:solidFill>
                <a:latin typeface="Noto Sans JP" pitchFamily="34" charset="0"/>
                <a:ea typeface="Noto Sans JP" pitchFamily="34" charset="-122"/>
                <a:cs typeface="Noto Sans JP" pitchFamily="34" charset="-120"/>
              </a:rPr>
              <a:t>自分の表示名があった箇所で「紙吹雪」が動く。</a:t>
            </a:r>
            <a:endParaRPr lang="en-US" sz="1800" dirty="0"/>
          </a:p>
        </p:txBody>
      </p:sp>
      <p:sp>
        <p:nvSpPr>
          <p:cNvPr id="15" name="Text 11"/>
          <p:cNvSpPr txBox="1"/>
          <p:nvPr/>
        </p:nvSpPr>
        <p:spPr>
          <a:xfrm>
            <a:off x="10591495" y="4819802"/>
            <a:ext cx="6667805" cy="191110"/>
          </a:xfrm>
          <a:prstGeom prst="rect">
            <a:avLst/>
          </a:prstGeom>
          <a:noFill/>
          <a:ln/>
        </p:spPr>
        <p:txBody>
          <a:bodyPr wrap="none" lIns="0" tIns="0" rIns="0" bIns="0" rtlCol="0" anchor="ctr"/>
          <a:lstStyle/>
          <a:p>
            <a:pPr algn="l" indent="0" marL="0">
              <a:buNone/>
            </a:pPr>
            <a:r>
              <a:rPr lang="en-US" sz="1050" spc="189" kern="0" dirty="0">
                <a:solidFill>
                  <a:srgbClr val="D4922A"/>
                </a:solidFill>
                <a:latin typeface="JetBrains Mono" pitchFamily="34" charset="0"/>
                <a:ea typeface="JetBrains Mono" pitchFamily="34" charset="-122"/>
                <a:cs typeface="JetBrains Mono" pitchFamily="34" charset="-120"/>
              </a:rPr>
              <a:t>着手前の確認</a:t>
            </a:r>
            <a:endParaRPr lang="en-US" sz="1050" dirty="0"/>
          </a:p>
        </p:txBody>
      </p:sp>
      <p:sp>
        <p:nvSpPr>
          <p:cNvPr id="16" name="Text 12"/>
          <p:cNvSpPr txBox="1"/>
          <p:nvPr/>
        </p:nvSpPr>
        <p:spPr>
          <a:xfrm>
            <a:off x="10591495" y="5108753"/>
            <a:ext cx="6667805" cy="1082650"/>
          </a:xfrm>
          <a:prstGeom prst="rect">
            <a:avLst/>
          </a:prstGeom>
          <a:noFill/>
          <a:ln/>
        </p:spPr>
        <p:txBody>
          <a:bodyPr wrap="square" lIns="0" tIns="0" rIns="0" bIns="0" rtlCol="0" anchor="t"/>
          <a:lstStyle/>
          <a:p>
            <a:pPr algn="l" indent="0" marL="0">
              <a:lnSpc>
                <a:spcPts val="2700"/>
              </a:lnSpc>
              <a:buNone/>
            </a:pPr>
            <a:r>
              <a:rPr lang="en-US" sz="1800" dirty="0">
                <a:solidFill>
                  <a:srgbClr val="F5EFDD"/>
                </a:solidFill>
                <a:latin typeface="Noto Sans JP" pitchFamily="34" charset="0"/>
                <a:ea typeface="Noto Sans JP" pitchFamily="34" charset="-122"/>
                <a:cs typeface="Noto Sans JP" pitchFamily="34" charset="-120"/>
              </a:rPr>
              <a:t>名前入力欄 → プレビュー → 保存 → ランキング表示、</a:t>
            </a:r>
            <a:pPr algn="l" indent="0" marL="0">
              <a:lnSpc>
                <a:spcPts val="2700"/>
              </a:lnSpc>
              <a:buNone/>
            </a:pPr>
            <a:endParaRPr lang="en-US" sz="1800" dirty="0"/>
          </a:p>
          <a:p>
            <a:pPr algn="l" indent="0" marL="0">
              <a:lnSpc>
                <a:spcPts val="2700"/>
              </a:lnSpc>
              <a:buNone/>
            </a:pPr>
            <a:r>
              <a:rPr lang="en-US" sz="1800" dirty="0">
                <a:solidFill>
                  <a:srgbClr val="F5EFDD"/>
                </a:solidFill>
                <a:latin typeface="Noto Sans JP" pitchFamily="34" charset="0"/>
                <a:ea typeface="Noto Sans JP" pitchFamily="34" charset="-122"/>
                <a:cs typeface="Noto Sans JP" pitchFamily="34" charset="-120"/>
              </a:rPr>
              <a:t>どの場面で文字列が居るのかを DevTools で確認。</a:t>
            </a:r>
            <a:pPr algn="l" indent="0" marL="0">
              <a:lnSpc>
                <a:spcPts val="2700"/>
              </a:lnSpc>
              <a:buNone/>
            </a:pPr>
            <a:endParaRPr lang="en-US" sz="1800" dirty="0"/>
          </a:p>
          <a:p>
            <a:pPr algn="l" indent="0" marL="0">
              <a:lnSpc>
                <a:spcPts val="2700"/>
              </a:lnSpc>
              <a:buNone/>
            </a:pPr>
            <a:r>
              <a:rPr lang="en-US" sz="1800" dirty="0">
                <a:solidFill>
                  <a:srgbClr val="F5EFDD"/>
                </a:solidFill>
                <a:latin typeface="Noto Sans JP" pitchFamily="34" charset="0"/>
                <a:ea typeface="Noto Sans JP" pitchFamily="34" charset="-122"/>
                <a:cs typeface="Noto Sans JP" pitchFamily="34" charset="-120"/>
              </a:rPr>
              <a:t>教材に </a:t>
            </a:r>
            <a:pPr algn="l" indent="0" marL="0">
              <a:lnSpc>
                <a:spcPts val="2700"/>
              </a:lnSpc>
              <a:buNone/>
            </a:pPr>
            <a:r>
              <a:rPr lang="en-US" sz="1800" dirty="0">
                <a:solidFill>
                  <a:srgbClr val="F5EFDD"/>
                </a:solidFill>
                <a:latin typeface="JetBrains Mono" pitchFamily="34" charset="0"/>
                <a:ea typeface="JetBrains Mono" pitchFamily="34" charset="-122"/>
                <a:cs typeface="JetBrains Mono" pitchFamily="34" charset="-120"/>
              </a:rPr>
              <a:t>celebrate()</a:t>
            </a:r>
            <a:pPr algn="l" indent="0" marL="0">
              <a:lnSpc>
                <a:spcPts val="2700"/>
              </a:lnSpc>
              <a:buNone/>
            </a:pPr>
            <a:r>
              <a:rPr lang="en-US" sz="1800" dirty="0">
                <a:solidFill>
                  <a:srgbClr val="F5EFDD"/>
                </a:solidFill>
                <a:latin typeface="Noto Sans JP" pitchFamily="34" charset="0"/>
                <a:ea typeface="Noto Sans JP" pitchFamily="34" charset="-122"/>
                <a:cs typeface="Noto Sans JP" pitchFamily="34" charset="-120"/>
              </a:rPr>
              <a:t> という関数が用意されています。</a:t>
            </a:r>
            <a:endParaRPr lang="en-US" sz="1800" dirty="0"/>
          </a:p>
        </p:txBody>
      </p:sp>
      <p:sp>
        <p:nvSpPr>
          <p:cNvPr id="17" name="Text 13"/>
          <p:cNvSpPr txBox="1"/>
          <p:nvPr/>
        </p:nvSpPr>
        <p:spPr>
          <a:xfrm>
            <a:off x="2971800" y="7295998"/>
            <a:ext cx="6667805" cy="191110"/>
          </a:xfrm>
          <a:prstGeom prst="rect">
            <a:avLst/>
          </a:prstGeom>
          <a:noFill/>
          <a:ln/>
        </p:spPr>
        <p:txBody>
          <a:bodyPr wrap="none" lIns="0" tIns="0" rIns="0" bIns="0" rtlCol="0" anchor="ctr"/>
          <a:lstStyle/>
          <a:p>
            <a:pPr algn="l" indent="0" marL="0">
              <a:buNone/>
            </a:pPr>
            <a:r>
              <a:rPr lang="en-US" sz="1050" spc="189" kern="0" dirty="0">
                <a:solidFill>
                  <a:srgbClr val="5A4F3F"/>
                </a:solidFill>
                <a:latin typeface="JetBrains Mono" pitchFamily="34" charset="0"/>
                <a:ea typeface="JetBrains Mono" pitchFamily="34" charset="-122"/>
                <a:cs typeface="JetBrains Mono" pitchFamily="34" charset="-120"/>
              </a:rPr>
              <a:t>扱うパラメータ</a:t>
            </a:r>
            <a:endParaRPr lang="en-US" sz="1050" dirty="0"/>
          </a:p>
        </p:txBody>
      </p:sp>
      <p:sp>
        <p:nvSpPr>
          <p:cNvPr id="18" name="Text 14"/>
          <p:cNvSpPr txBox="1"/>
          <p:nvPr/>
        </p:nvSpPr>
        <p:spPr>
          <a:xfrm>
            <a:off x="2971800" y="7584948"/>
            <a:ext cx="6667805" cy="720547"/>
          </a:xfrm>
          <a:prstGeom prst="rect">
            <a:avLst/>
          </a:prstGeom>
          <a:noFill/>
          <a:ln/>
        </p:spPr>
        <p:txBody>
          <a:bodyPr wrap="square" lIns="0" tIns="0" rIns="0" bIns="0" rtlCol="0" anchor="t"/>
          <a:lstStyle/>
          <a:p>
            <a:pPr algn="l" indent="0" marL="0">
              <a:lnSpc>
                <a:spcPts val="2700"/>
              </a:lnSpc>
              <a:buNone/>
            </a:pPr>
            <a:r>
              <a:rPr lang="en-US" sz="1800" dirty="0">
                <a:solidFill>
                  <a:srgbClr val="211C13"/>
                </a:solidFill>
                <a:latin typeface="Noto Sans JP" pitchFamily="34" charset="0"/>
                <a:ea typeface="Noto Sans JP" pitchFamily="34" charset="-122"/>
                <a:cs typeface="Noto Sans JP" pitchFamily="34" charset="-120"/>
              </a:rPr>
              <a:t>入力値 / プレビューのレスポンス /</a:t>
            </a:r>
            <a:pPr algn="l" indent="0" marL="0">
              <a:lnSpc>
                <a:spcPts val="2700"/>
              </a:lnSpc>
              <a:buNone/>
            </a:pPr>
            <a:endParaRPr lang="en-US" sz="1800" dirty="0"/>
          </a:p>
          <a:p>
            <a:pPr algn="l" indent="0" marL="0">
              <a:lnSpc>
                <a:spcPts val="2700"/>
              </a:lnSpc>
              <a:buNone/>
            </a:pPr>
            <a:r>
              <a:rPr lang="en-US" sz="1800" dirty="0">
                <a:solidFill>
                  <a:srgbClr val="211C13"/>
                </a:solidFill>
                <a:latin typeface="Noto Sans JP" pitchFamily="34" charset="0"/>
                <a:ea typeface="Noto Sans JP" pitchFamily="34" charset="-122"/>
                <a:cs typeface="Noto Sans JP" pitchFamily="34" charset="-120"/>
              </a:rPr>
              <a:t>保存 API のペイロード / Elements パネル</a:t>
            </a:r>
            <a:endParaRPr lang="en-US" sz="1800" dirty="0"/>
          </a:p>
        </p:txBody>
      </p:sp>
      <p:sp>
        <p:nvSpPr>
          <p:cNvPr id="19" name="Text 15"/>
          <p:cNvSpPr txBox="1"/>
          <p:nvPr/>
        </p:nvSpPr>
        <p:spPr>
          <a:xfrm>
            <a:off x="10591495" y="7295998"/>
            <a:ext cx="6667805" cy="171907"/>
          </a:xfrm>
          <a:prstGeom prst="rect">
            <a:avLst/>
          </a:prstGeom>
          <a:noFill/>
          <a:ln/>
        </p:spPr>
        <p:txBody>
          <a:bodyPr wrap="none" lIns="0" tIns="0" rIns="0" bIns="0" rtlCol="0" anchor="ctr"/>
          <a:lstStyle/>
          <a:p>
            <a:pPr algn="l" indent="0" marL="0">
              <a:buNone/>
            </a:pPr>
            <a:r>
              <a:rPr lang="en-US" sz="1050" spc="189" kern="0" dirty="0">
                <a:solidFill>
                  <a:srgbClr val="5A4F3F"/>
                </a:solidFill>
                <a:latin typeface="JetBrains Mono" pitchFamily="34" charset="0"/>
                <a:ea typeface="JetBrains Mono" pitchFamily="34" charset="-122"/>
                <a:cs typeface="JetBrains Mono" pitchFamily="34" charset="-120"/>
              </a:rPr>
              <a:t>Not in scope</a:t>
            </a:r>
            <a:endParaRPr lang="en-US" sz="1050" dirty="0"/>
          </a:p>
        </p:txBody>
      </p:sp>
      <p:sp>
        <p:nvSpPr>
          <p:cNvPr id="20" name="Text 16"/>
          <p:cNvSpPr txBox="1"/>
          <p:nvPr/>
        </p:nvSpPr>
        <p:spPr>
          <a:xfrm>
            <a:off x="10591495" y="7566660"/>
            <a:ext cx="6667805" cy="720547"/>
          </a:xfrm>
          <a:prstGeom prst="rect">
            <a:avLst/>
          </a:prstGeom>
          <a:noFill/>
          <a:ln/>
        </p:spPr>
        <p:txBody>
          <a:bodyPr wrap="square" lIns="0" tIns="0" rIns="0" bIns="0" rtlCol="0" anchor="t"/>
          <a:lstStyle/>
          <a:p>
            <a:pPr algn="l" indent="0" marL="0">
              <a:lnSpc>
                <a:spcPts val="2700"/>
              </a:lnSpc>
              <a:buNone/>
            </a:pPr>
            <a:r>
              <a:rPr lang="en-US" sz="1800" dirty="0">
                <a:solidFill>
                  <a:srgbClr val="211C13"/>
                </a:solidFill>
                <a:latin typeface="Noto Sans JP" pitchFamily="34" charset="0"/>
                <a:ea typeface="Noto Sans JP" pitchFamily="34" charset="-122"/>
                <a:cs typeface="Noto Sans JP" pitchFamily="34" charset="-120"/>
              </a:rPr>
              <a:t>他人の画面を実際に動かす、教唆しない、</a:t>
            </a:r>
            <a:pPr algn="l" indent="0" marL="0">
              <a:lnSpc>
                <a:spcPts val="2700"/>
              </a:lnSpc>
              <a:buNone/>
            </a:pPr>
            <a:endParaRPr lang="en-US" sz="1800" dirty="0"/>
          </a:p>
          <a:p>
            <a:pPr algn="l" indent="0" marL="0">
              <a:lnSpc>
                <a:spcPts val="2700"/>
              </a:lnSpc>
              <a:buNone/>
            </a:pPr>
            <a:r>
              <a:rPr lang="en-US" sz="1800" dirty="0">
                <a:solidFill>
                  <a:srgbClr val="211C13"/>
                </a:solidFill>
                <a:latin typeface="Noto Sans JP" pitchFamily="34" charset="0"/>
                <a:ea typeface="Noto Sans JP" pitchFamily="34" charset="-122"/>
                <a:cs typeface="Noto Sans JP" pitchFamily="34" charset="-120"/>
              </a:rPr>
              <a:t>大量の文字列を保存して埋め尽くさない（観察目的なので）。</a:t>
            </a:r>
            <a:endParaRPr lang="en-US" sz="1800" dirty="0"/>
          </a:p>
        </p:txBody>
      </p:sp>
      <p:pic>
        <p:nvPicPr>
          <p:cNvPr id="21" name="Image 1" descr="gen-dedup-ff3b843c62efd2578b331bdfc9bb7c8f.png">    </p:cNvPr>
          <p:cNvPicPr>
            <a:picLocks noChangeAspect="1"/>
          </p:cNvPicPr>
          <p:nvPr/>
        </p:nvPicPr>
        <p:blipFill>
          <a:blip r:embed="rId2"/>
          <a:srcRect l="-2083" r="-2083" t="0" b="0"/>
          <a:stretch/>
        </p:blipFill>
        <p:spPr>
          <a:xfrm>
            <a:off x="914400" y="9334195"/>
            <a:ext cx="16459200" cy="9144"/>
          </a:xfrm>
          <a:prstGeom prst="rect">
            <a:avLst/>
          </a:prstGeom>
        </p:spPr>
      </p:pic>
      <p:sp>
        <p:nvSpPr>
          <p:cNvPr id="22" name="Text 17"/>
          <p:cNvSpPr txBox="1"/>
          <p:nvPr/>
        </p:nvSpPr>
        <p:spPr>
          <a:xfrm>
            <a:off x="2667305" y="914400"/>
            <a:ext cx="14287500" cy="219456"/>
          </a:xfrm>
          <a:prstGeom prst="rect">
            <a:avLst/>
          </a:prstGeom>
          <a:noFill/>
          <a:ln/>
        </p:spPr>
        <p:txBody>
          <a:bodyPr wrap="none" lIns="0" tIns="0" rIns="0" bIns="0" rtlCol="0" anchor="ctr"/>
          <a:lstStyle/>
          <a:p>
            <a:pPr algn="l" indent="0" marL="0">
              <a:buNone/>
            </a:pPr>
            <a:r>
              <a:rPr lang="en-US" sz="1350" spc="324" kern="0" dirty="0">
                <a:solidFill>
                  <a:srgbClr val="B4791F"/>
                </a:solidFill>
                <a:latin typeface="JetBrains Mono" pitchFamily="34" charset="0"/>
                <a:ea typeface="JetBrains Mono" pitchFamily="34" charset="-122"/>
                <a:cs typeface="JetBrains Mono" pitchFamily="34" charset="-120"/>
              </a:rPr>
              <a:t>15 · Challenge 02</a:t>
            </a:r>
            <a:endParaRPr lang="en-US" sz="1350" dirty="0"/>
          </a:p>
        </p:txBody>
      </p:sp>
      <p:sp>
        <p:nvSpPr>
          <p:cNvPr id="23" name="Text 18"/>
          <p:cNvSpPr txBox="1"/>
          <p:nvPr/>
        </p:nvSpPr>
        <p:spPr>
          <a:xfrm>
            <a:off x="2667305" y="1228954"/>
            <a:ext cx="14287500" cy="991210"/>
          </a:xfrm>
          <a:prstGeom prst="rect">
            <a:avLst/>
          </a:prstGeom>
          <a:noFill/>
          <a:ln/>
        </p:spPr>
        <p:txBody>
          <a:bodyPr wrap="none" lIns="0" tIns="0" rIns="0" bIns="0" rtlCol="0" anchor="ctr"/>
          <a:lstStyle/>
          <a:p>
            <a:pPr algn="l" indent="0" marL="0">
              <a:buNone/>
            </a:pPr>
            <a:r>
              <a:rPr lang="en-US" sz="7800" b="1" spc="-156" kern="0" dirty="0">
                <a:solidFill>
                  <a:srgbClr val="211C13"/>
                </a:solidFill>
                <a:latin typeface="Zen Kaku Gothic Antique" pitchFamily="34" charset="0"/>
                <a:ea typeface="Zen Kaku Gothic Antique" pitchFamily="34" charset="-122"/>
                <a:cs typeface="Zen Kaku Gothic Antique" pitchFamily="34" charset="-120"/>
              </a:rPr>
              <a:t>保存型 XSS</a:t>
            </a:r>
            <a:endParaRPr lang="en-US" sz="7800" dirty="0"/>
          </a:p>
        </p:txBody>
      </p:sp>
      <p:pic>
        <p:nvPicPr>
          <p:cNvPr id="24" name="Image 2" descr="gen-dedup-e33d62b7938d4a3fd64d688ee83b9838.png">    </p:cNvPr>
          <p:cNvPicPr>
            <a:picLocks noChangeAspect="1"/>
          </p:cNvPicPr>
          <p:nvPr/>
        </p:nvPicPr>
        <p:blipFill>
          <a:blip r:embed="rId3"/>
          <a:srcRect l="0" r="0" t="-408" b="-408"/>
          <a:stretch/>
        </p:blipFill>
        <p:spPr>
          <a:xfrm>
            <a:off x="2667305" y="2391156"/>
            <a:ext cx="1904695" cy="38405"/>
          </a:xfrm>
          <a:prstGeom prst="rect">
            <a:avLst/>
          </a:prstGeom>
        </p:spPr>
      </p:pic>
      <p:sp>
        <p:nvSpPr>
          <p:cNvPr id="25" name="Text 19"/>
          <p:cNvSpPr txBox="1"/>
          <p:nvPr/>
        </p:nvSpPr>
        <p:spPr>
          <a:xfrm>
            <a:off x="2667305" y="2611526"/>
            <a:ext cx="14287500" cy="960120"/>
          </a:xfrm>
          <a:prstGeom prst="rect">
            <a:avLst/>
          </a:prstGeom>
          <a:noFill/>
          <a:ln/>
        </p:spPr>
        <p:txBody>
          <a:bodyPr wrap="square" lIns="0" tIns="0" rIns="0" bIns="0" rtlCol="0" anchor="t"/>
          <a:lstStyle/>
          <a:p>
            <a:pPr algn="l" indent="0" marL="0">
              <a:lnSpc>
                <a:spcPts val="3600"/>
              </a:lnSpc>
              <a:buNone/>
            </a:pPr>
            <a:r>
              <a:rPr lang="en-US" sz="2400" dirty="0">
                <a:solidFill>
                  <a:srgbClr val="211C13"/>
                </a:solidFill>
                <a:latin typeface="Noto Sans JP" pitchFamily="34" charset="0"/>
                <a:ea typeface="Noto Sans JP" pitchFamily="34" charset="-122"/>
                <a:cs typeface="Noto Sans JP" pitchFamily="34" charset="-120"/>
              </a:rPr>
              <a:t>入力した名前が、別の誰かの画面で</a:t>
            </a:r>
            <a:pPr algn="l" indent="0" marL="0">
              <a:lnSpc>
                <a:spcPts val="3600"/>
              </a:lnSpc>
              <a:buNone/>
            </a:pPr>
            <a:endParaRPr lang="en-US" sz="2400" dirty="0"/>
          </a:p>
          <a:p>
            <a:pPr algn="l" indent="0" marL="0">
              <a:lnSpc>
                <a:spcPts val="3600"/>
              </a:lnSpc>
              <a:buNone/>
            </a:pPr>
            <a:r>
              <a:rPr lang="en-US" sz="2400" dirty="0">
                <a:solidFill>
                  <a:srgbClr val="211C13"/>
                </a:solidFill>
                <a:latin typeface="Noto Sans JP" pitchFamily="34" charset="0"/>
                <a:ea typeface="Noto Sans JP" pitchFamily="34" charset="-122"/>
                <a:cs typeface="Noto Sans JP" pitchFamily="34" charset="-120"/>
              </a:rPr>
              <a:t>「紙吹雪バナー」を発生させる。</a:t>
            </a:r>
            <a:endParaRPr lang="en-US" sz="2400" dirty="0"/>
          </a:p>
        </p:txBody>
      </p:sp>
      <p:sp>
        <p:nvSpPr>
          <p:cNvPr id="26" name="Text 20"/>
          <p:cNvSpPr txBox="1"/>
          <p:nvPr/>
        </p:nvSpPr>
        <p:spPr>
          <a:xfrm>
            <a:off x="2667305" y="9562795"/>
            <a:ext cx="9525305" cy="228600"/>
          </a:xfrm>
          <a:prstGeom prst="rect">
            <a:avLst/>
          </a:prstGeom>
          <a:noFill/>
          <a:ln/>
        </p:spPr>
        <p:txBody>
          <a:bodyPr wrap="none" lIns="0" tIns="0" rIns="0" bIns="0" rtlCol="0" anchor="ctr"/>
          <a:lstStyle/>
          <a:p>
            <a:pPr algn="l" indent="0" marL="0">
              <a:buNone/>
            </a:pPr>
            <a:r>
              <a:rPr lang="en-US" sz="1200" spc="72" kern="0" dirty="0">
                <a:solidFill>
                  <a:srgbClr val="5A4F3F"/>
                </a:solidFill>
                <a:latin typeface="JetBrains Mono" pitchFamily="34" charset="0"/>
                <a:ea typeface="JetBrains Mono" pitchFamily="34" charset="-122"/>
                <a:cs typeface="JetBrains Mono" pitchFamily="34" charset="-120"/>
              </a:rPr>
              <a:t>参加者向け — 16 で問題文を開きます。10分の個別演習。</a:t>
            </a:r>
            <a:endParaRPr lang="en-US" sz="1200" dirty="0"/>
          </a:p>
        </p:txBody>
      </p:sp>
      <p:sp>
        <p:nvSpPr>
          <p:cNvPr id="27" name="Text 21"/>
          <p:cNvSpPr txBox="1"/>
          <p:nvPr/>
        </p:nvSpPr>
        <p:spPr>
          <a:xfrm>
            <a:off x="15468905" y="9562795"/>
            <a:ext cx="1905610" cy="200254"/>
          </a:xfrm>
          <a:prstGeom prst="rect">
            <a:avLst/>
          </a:prstGeom>
          <a:noFill/>
          <a:ln/>
        </p:spPr>
        <p:txBody>
          <a:bodyPr wrap="none" lIns="0" tIns="0" rIns="0" bIns="0" rtlCol="0" anchor="ctr"/>
          <a:lstStyle/>
          <a:p>
            <a:pPr algn="r" indent="0" marL="0">
              <a:buNone/>
            </a:pPr>
            <a:r>
              <a:rPr lang="en-US" sz="1200" spc="72" kern="0" dirty="0">
                <a:solidFill>
                  <a:srgbClr val="5A4F3F"/>
                </a:solidFill>
                <a:latin typeface="JetBrains Mono" pitchFamily="34" charset="0"/>
                <a:ea typeface="JetBrains Mono" pitchFamily="34" charset="-122"/>
                <a:cs typeface="JetBrains Mono" pitchFamily="34" charset="-120"/>
              </a:rPr>
              <a:t>15 / 32</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FE7D4"/>
        </a:solidFill>
      </p:bgPr>
    </p:bg>
    <p:spTree>
      <p:nvGrpSpPr>
        <p:cNvPr id="1" name=""/>
        <p:cNvGrpSpPr/>
        <p:nvPr/>
      </p:nvGrpSpPr>
      <p:grpSpPr>
        <a:xfrm>
          <a:off x="0" y="0"/>
          <a:ext cx="0" cy="0"/>
          <a:chOff x="0" y="0"/>
          <a:chExt cx="0" cy="0"/>
        </a:xfrm>
      </p:grpSpPr>
      <p:sp>
        <p:nvSpPr>
          <p:cNvPr id="3" name="Shape 0"/>
          <p:cNvSpPr/>
          <p:nvPr/>
        </p:nvSpPr>
        <p:spPr>
          <a:xfrm>
            <a:off x="0" y="0"/>
            <a:ext cx="1904695" cy="10287000"/>
          </a:xfrm>
          <a:prstGeom prst="rect">
            <a:avLst/>
          </a:prstGeom>
          <a:solidFill>
            <a:srgbClr val="B4791F"/>
          </a:solidFill>
          <a:ln w="12700">
            <a:solidFill>
              <a:srgbClr val="FFFFFF">
                <a:alpha val="0"/>
              </a:srgbClr>
            </a:solidFill>
            <a:prstDash val="solid"/>
          </a:ln>
        </p:spPr>
      </p:sp>
      <p:sp>
        <p:nvSpPr>
          <p:cNvPr id="4" name="Shape 1"/>
          <p:cNvSpPr/>
          <p:nvPr/>
        </p:nvSpPr>
        <p:spPr>
          <a:xfrm>
            <a:off x="2667305" y="3238805"/>
            <a:ext cx="14859000" cy="5333695"/>
          </a:xfrm>
          <a:prstGeom prst="roundRect">
            <a:avLst>
              <a:gd name="adj" fmla="val 720"/>
            </a:avLst>
          </a:prstGeom>
          <a:solidFill>
            <a:srgbClr val="E5DBC4"/>
          </a:solidFill>
          <a:ln w="12700">
            <a:solidFill>
              <a:srgbClr val="FFFFFF">
                <a:alpha val="0"/>
              </a:srgbClr>
            </a:solidFill>
            <a:prstDash val="solid"/>
          </a:ln>
        </p:spPr>
      </p:sp>
      <p:sp>
        <p:nvSpPr>
          <p:cNvPr id="5" name="Text 2"/>
          <p:cNvSpPr txBox="1"/>
          <p:nvPr/>
        </p:nvSpPr>
        <p:spPr>
          <a:xfrm>
            <a:off x="228600" y="914400"/>
            <a:ext cx="1524305" cy="171907"/>
          </a:xfrm>
          <a:prstGeom prst="rect">
            <a:avLst/>
          </a:prstGeom>
          <a:noFill/>
          <a:ln/>
        </p:spPr>
        <p:txBody>
          <a:bodyPr wrap="none" lIns="0" tIns="0" rIns="0" bIns="0" rtlCol="0" anchor="ctr"/>
          <a:lstStyle/>
          <a:p>
            <a:pPr algn="l" indent="0" marL="0">
              <a:buNone/>
            </a:pPr>
            <a:r>
              <a:rPr lang="en-US" sz="1050" spc="231" kern="0" dirty="0">
                <a:solidFill>
                  <a:srgbClr val="F5EFDD"/>
                </a:solidFill>
                <a:latin typeface="JetBrains Mono" pitchFamily="34" charset="0"/>
                <a:ea typeface="JetBrains Mono" pitchFamily="34" charset="-122"/>
                <a:cs typeface="JetBrains Mono" pitchFamily="34" charset="-120"/>
              </a:rPr>
              <a:t>PROBLEM</a:t>
            </a:r>
            <a:endParaRPr lang="en-US" sz="1050" dirty="0"/>
          </a:p>
        </p:txBody>
      </p:sp>
      <p:sp>
        <p:nvSpPr>
          <p:cNvPr id="6" name="Text 3"/>
          <p:cNvSpPr txBox="1"/>
          <p:nvPr/>
        </p:nvSpPr>
        <p:spPr>
          <a:xfrm>
            <a:off x="228600" y="1143000"/>
            <a:ext cx="1524305" cy="876910"/>
          </a:xfrm>
          <a:prstGeom prst="rect">
            <a:avLst/>
          </a:prstGeom>
          <a:noFill/>
          <a:ln/>
        </p:spPr>
        <p:txBody>
          <a:bodyPr wrap="none" lIns="0" tIns="0" rIns="0" bIns="0" rtlCol="0" anchor="ctr"/>
          <a:lstStyle/>
          <a:p>
            <a:pPr algn="l" indent="0" marL="0">
              <a:buNone/>
            </a:pPr>
            <a:r>
              <a:rPr lang="en-US" sz="7200" b="1" spc="-144" kern="0" dirty="0">
                <a:solidFill>
                  <a:srgbClr val="F5EFDD"/>
                </a:solidFill>
                <a:latin typeface="Zen Kaku Gothic Antique" pitchFamily="34" charset="0"/>
                <a:ea typeface="Zen Kaku Gothic Antique" pitchFamily="34" charset="-122"/>
                <a:cs typeface="Zen Kaku Gothic Antique" pitchFamily="34" charset="-120"/>
              </a:rPr>
              <a:t>02</a:t>
            </a:r>
            <a:endParaRPr lang="en-US" sz="7200" dirty="0"/>
          </a:p>
        </p:txBody>
      </p:sp>
      <p:pic>
        <p:nvPicPr>
          <p:cNvPr id="7" name="Image 0" descr="gen-dedup-2173e259c8f89e09f8a89067735d6b02.png">    </p:cNvPr>
          <p:cNvPicPr>
            <a:picLocks noChangeAspect="1"/>
          </p:cNvPicPr>
          <p:nvPr/>
        </p:nvPicPr>
        <p:blipFill>
          <a:blip r:embed="rId1"/>
          <a:srcRect l="-404" r="-404" t="0" b="0"/>
          <a:stretch/>
        </p:blipFill>
        <p:spPr>
          <a:xfrm>
            <a:off x="228600" y="2182673"/>
            <a:ext cx="571500" cy="28346"/>
          </a:xfrm>
          <a:prstGeom prst="rect">
            <a:avLst/>
          </a:prstGeom>
        </p:spPr>
      </p:pic>
      <p:sp>
        <p:nvSpPr>
          <p:cNvPr id="8" name="Text 4"/>
          <p:cNvSpPr txBox="1"/>
          <p:nvPr/>
        </p:nvSpPr>
        <p:spPr>
          <a:xfrm>
            <a:off x="2971800" y="3461918"/>
            <a:ext cx="14287500" cy="1043330"/>
          </a:xfrm>
          <a:prstGeom prst="rect">
            <a:avLst/>
          </a:prstGeom>
          <a:noFill/>
          <a:ln/>
        </p:spPr>
        <p:txBody>
          <a:bodyPr wrap="square" lIns="0" tIns="0" rIns="0" bIns="0" rtlCol="0" anchor="t"/>
          <a:lstStyle/>
          <a:p>
            <a:pPr algn="l" indent="0" marL="0">
              <a:lnSpc>
                <a:spcPts val="3915"/>
              </a:lnSpc>
              <a:buNone/>
            </a:pPr>
            <a:r>
              <a:rPr lang="en-US" sz="2700" b="1" dirty="0">
                <a:solidFill>
                  <a:srgbClr val="211C13"/>
                </a:solidFill>
                <a:latin typeface="Noto Sans JP" pitchFamily="34" charset="0"/>
                <a:ea typeface="Noto Sans JP" pitchFamily="34" charset="-122"/>
                <a:cs typeface="Noto Sans JP" pitchFamily="34" charset="-120"/>
              </a:rPr>
              <a:t>名前入力 → 安全なプレビュー → 保存 → ランキング再描画、</a:t>
            </a:r>
            <a:pPr algn="l" indent="0" marL="0">
              <a:lnSpc>
                <a:spcPts val="3915"/>
              </a:lnSpc>
              <a:buNone/>
            </a:pPr>
            <a:endParaRPr lang="en-US" sz="2700" dirty="0"/>
          </a:p>
          <a:p>
            <a:pPr algn="l" indent="0" marL="0">
              <a:lnSpc>
                <a:spcPts val="3915"/>
              </a:lnSpc>
              <a:buNone/>
            </a:pPr>
            <a:r>
              <a:rPr lang="en-US" sz="2700" b="1" dirty="0">
                <a:solidFill>
                  <a:srgbClr val="211C13"/>
                </a:solidFill>
                <a:latin typeface="Noto Sans JP" pitchFamily="34" charset="0"/>
                <a:ea typeface="Noto Sans JP" pitchFamily="34" charset="-122"/>
                <a:cs typeface="Noto Sans JP" pitchFamily="34" charset="-120"/>
              </a:rPr>
              <a:t>この経路のどこかで、自分の「保存された表示名」がコードとして動く。</a:t>
            </a:r>
            <a:endParaRPr lang="en-US" sz="2700" dirty="0"/>
          </a:p>
        </p:txBody>
      </p:sp>
      <p:sp>
        <p:nvSpPr>
          <p:cNvPr id="9" name="Text 5"/>
          <p:cNvSpPr txBox="1"/>
          <p:nvPr/>
        </p:nvSpPr>
        <p:spPr>
          <a:xfrm>
            <a:off x="2971800" y="4842662"/>
            <a:ext cx="6858000" cy="171907"/>
          </a:xfrm>
          <a:prstGeom prst="rect">
            <a:avLst/>
          </a:prstGeom>
          <a:noFill/>
          <a:ln/>
        </p:spPr>
        <p:txBody>
          <a:bodyPr wrap="none" lIns="0" tIns="0" rIns="0" bIns="0" rtlCol="0" anchor="ctr"/>
          <a:lstStyle/>
          <a:p>
            <a:pPr algn="l" indent="0" marL="0">
              <a:buNone/>
            </a:pPr>
            <a:r>
              <a:rPr lang="en-US" sz="1050" spc="189" kern="0" dirty="0">
                <a:solidFill>
                  <a:srgbClr val="B4791F"/>
                </a:solidFill>
                <a:latin typeface="JetBrains Mono" pitchFamily="34" charset="0"/>
                <a:ea typeface="JetBrains Mono" pitchFamily="34" charset="-122"/>
                <a:cs typeface="JetBrains Mono" pitchFamily="34" charset="-120"/>
              </a:rPr>
              <a:t>CAN OBSERVE</a:t>
            </a:r>
            <a:endParaRPr lang="en-US" sz="1050" dirty="0"/>
          </a:p>
        </p:txBody>
      </p:sp>
      <p:sp>
        <p:nvSpPr>
          <p:cNvPr id="10" name="Text 6"/>
          <p:cNvSpPr txBox="1"/>
          <p:nvPr/>
        </p:nvSpPr>
        <p:spPr>
          <a:xfrm>
            <a:off x="2998622" y="5072177"/>
            <a:ext cx="6839407" cy="1573682"/>
          </a:xfrm>
          <a:prstGeom prst="rect">
            <a:avLst/>
          </a:prstGeom>
          <a:noFill/>
          <a:ln/>
        </p:spPr>
        <p:txBody>
          <a:bodyPr wrap="square" lIns="0" tIns="0" rIns="0" bIns="0" rtlCol="0" anchor="t"/>
          <a:lstStyle/>
          <a:p>
            <a:pPr algn="l" marL="266700" indent="-266700">
              <a:lnSpc>
                <a:spcPts val="2558"/>
              </a:lnSpc>
              <a:spcAft>
                <a:spcPts val="600"/>
              </a:spcAft>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558"/>
              </a:lnSpc>
              <a:spcAft>
                <a:spcPts val="600"/>
              </a:spcAft>
              <a:buSzPct val="100000"/>
              <a:buChar char="•"/>
            </a:pPr>
            <a:r>
              <a:rPr lang="en-US" sz="1650" dirty="0">
                <a:solidFill>
                  <a:srgbClr val="211C13"/>
                </a:solidFill>
                <a:latin typeface="Noto Sans JP" pitchFamily="34" charset="0"/>
                <a:ea typeface="Noto Sans JP" pitchFamily="34" charset="-122"/>
                <a:cs typeface="Noto Sans JP" pitchFamily="34" charset="-120"/>
              </a:rPr>
              <a:t>入力欄の書き換え</a:t>
            </a:r>
            <a:pPr algn="l" marL="266700" indent="-266700">
              <a:lnSpc>
                <a:spcPts val="2558"/>
              </a:lnSpc>
              <a:spcAft>
                <a:spcPts val="600"/>
              </a:spcAft>
              <a:buSzPct val="100000"/>
              <a:buChar char="•"/>
            </a:pPr>
            <a:endParaRPr lang="en-US" sz="1650" dirty="0"/>
          </a:p>
          <a:p>
            <a:pPr algn="l" marL="266700" indent="-266700">
              <a:lnSpc>
                <a:spcPts val="2558"/>
              </a:lnSpc>
              <a:spcAft>
                <a:spcPts val="600"/>
              </a:spcAft>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558"/>
              </a:lnSpc>
              <a:spcAft>
                <a:spcPts val="600"/>
              </a:spcAft>
              <a:buSzPct val="100000"/>
              <a:buChar char="•"/>
            </a:pPr>
            <a:r>
              <a:rPr lang="en-US" sz="1650" dirty="0">
                <a:solidFill>
                  <a:srgbClr val="211C13"/>
                </a:solidFill>
                <a:latin typeface="Noto Sans JP" pitchFamily="34" charset="0"/>
                <a:ea typeface="Noto Sans JP" pitchFamily="34" charset="-122"/>
                <a:cs typeface="Noto Sans JP" pitchFamily="34" charset="-120"/>
              </a:rPr>
              <a:t>プレビュー枠のレンダリング結果</a:t>
            </a:r>
            <a:pPr algn="l" marL="266700" indent="-266700">
              <a:lnSpc>
                <a:spcPts val="2558"/>
              </a:lnSpc>
              <a:spcAft>
                <a:spcPts val="600"/>
              </a:spcAft>
              <a:buSzPct val="100000"/>
              <a:buChar char="•"/>
            </a:pPr>
            <a:endParaRPr lang="en-US" sz="1650" dirty="0"/>
          </a:p>
          <a:p>
            <a:pPr algn="l" marL="266700" indent="-266700">
              <a:lnSpc>
                <a:spcPts val="2558"/>
              </a:lnSpc>
              <a:spcAft>
                <a:spcPts val="600"/>
              </a:spcAft>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558"/>
              </a:lnSpc>
              <a:spcAft>
                <a:spcPts val="600"/>
              </a:spcAft>
              <a:buSzPct val="100000"/>
              <a:buChar char="•"/>
            </a:pPr>
            <a:r>
              <a:rPr lang="en-US" sz="1650" dirty="0">
                <a:solidFill>
                  <a:srgbClr val="211C13"/>
                </a:solidFill>
                <a:latin typeface="Noto Sans JP" pitchFamily="34" charset="0"/>
                <a:ea typeface="Noto Sans JP" pitchFamily="34" charset="-122"/>
                <a:cs typeface="Noto Sans JP" pitchFamily="34" charset="-120"/>
              </a:rPr>
              <a:t>保存 API のリクエスト・レスポンス</a:t>
            </a:r>
            <a:pPr algn="l" marL="266700" indent="-266700">
              <a:lnSpc>
                <a:spcPts val="2558"/>
              </a:lnSpc>
              <a:spcAft>
                <a:spcPts val="600"/>
              </a:spcAft>
              <a:buSzPct val="100000"/>
              <a:buChar char="•"/>
            </a:pPr>
            <a:endParaRPr lang="en-US" sz="1650" dirty="0"/>
          </a:p>
          <a:p>
            <a:pPr algn="l" marL="266700" indent="-266700">
              <a:lnSpc>
                <a:spcPts val="2558"/>
              </a:lnSpc>
              <a:spcAft>
                <a:spcPts val="600"/>
              </a:spcAft>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558"/>
              </a:lnSpc>
              <a:spcAft>
                <a:spcPts val="600"/>
              </a:spcAft>
              <a:buSzPct val="100000"/>
              <a:buChar char="•"/>
            </a:pPr>
            <a:r>
              <a:rPr lang="en-US" sz="1650" dirty="0">
                <a:solidFill>
                  <a:srgbClr val="211C13"/>
                </a:solidFill>
                <a:latin typeface="Noto Sans JP" pitchFamily="34" charset="0"/>
                <a:ea typeface="Noto Sans JP" pitchFamily="34" charset="-122"/>
                <a:cs typeface="Noto Sans JP" pitchFamily="34" charset="-120"/>
              </a:rPr>
              <a:t>ランキング画面で自分の該当行</a:t>
            </a:r>
            <a:endParaRPr lang="en-US" sz="1650" dirty="0"/>
          </a:p>
        </p:txBody>
      </p:sp>
      <p:sp>
        <p:nvSpPr>
          <p:cNvPr id="11" name="Text 7"/>
          <p:cNvSpPr txBox="1"/>
          <p:nvPr/>
        </p:nvSpPr>
        <p:spPr>
          <a:xfrm>
            <a:off x="10134295" y="4842662"/>
            <a:ext cx="6858000" cy="171907"/>
          </a:xfrm>
          <a:prstGeom prst="rect">
            <a:avLst/>
          </a:prstGeom>
          <a:noFill/>
          <a:ln/>
        </p:spPr>
        <p:txBody>
          <a:bodyPr wrap="none" lIns="0" tIns="0" rIns="0" bIns="0" rtlCol="0" anchor="ctr"/>
          <a:lstStyle/>
          <a:p>
            <a:pPr algn="l" indent="0" marL="0">
              <a:buNone/>
            </a:pPr>
            <a:r>
              <a:rPr lang="en-US" sz="1050" spc="189" kern="0" dirty="0">
                <a:solidFill>
                  <a:srgbClr val="2F6F4F"/>
                </a:solidFill>
                <a:latin typeface="JetBrains Mono" pitchFamily="34" charset="0"/>
                <a:ea typeface="JetBrains Mono" pitchFamily="34" charset="-122"/>
                <a:cs typeface="JetBrains Mono" pitchFamily="34" charset="-120"/>
              </a:rPr>
              <a:t>SUCCESS LOOKS LIKE</a:t>
            </a:r>
            <a:endParaRPr lang="en-US" sz="1050" dirty="0"/>
          </a:p>
        </p:txBody>
      </p:sp>
      <p:sp>
        <p:nvSpPr>
          <p:cNvPr id="12" name="Text 8"/>
          <p:cNvSpPr txBox="1"/>
          <p:nvPr/>
        </p:nvSpPr>
        <p:spPr>
          <a:xfrm>
            <a:off x="10161118" y="5072177"/>
            <a:ext cx="6839407" cy="1525219"/>
          </a:xfrm>
          <a:prstGeom prst="rect">
            <a:avLst/>
          </a:prstGeom>
          <a:noFill/>
          <a:ln/>
        </p:spPr>
        <p:txBody>
          <a:bodyPr wrap="square" lIns="0" tIns="0" rIns="0" bIns="0" rtlCol="0" anchor="t"/>
          <a:lstStyle/>
          <a:p>
            <a:pPr algn="l" marL="266700" indent="-266700">
              <a:lnSpc>
                <a:spcPts val="2558"/>
              </a:lnSpc>
              <a:spcAft>
                <a:spcPts val="600"/>
              </a:spcAft>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558"/>
              </a:lnSpc>
              <a:spcAft>
                <a:spcPts val="600"/>
              </a:spcAft>
              <a:buSzPct val="100000"/>
              <a:buChar char="•"/>
            </a:pPr>
            <a:r>
              <a:rPr lang="en-US" sz="1650" dirty="0">
                <a:solidFill>
                  <a:srgbClr val="211C13"/>
                </a:solidFill>
                <a:latin typeface="Noto Sans JP" pitchFamily="34" charset="0"/>
                <a:ea typeface="Noto Sans JP" pitchFamily="34" charset="-122"/>
                <a:cs typeface="Noto Sans JP" pitchFamily="34" charset="-120"/>
              </a:rPr>
              <a:t>ランキング画面で自分の表示名があった箇所に、</a:t>
            </a:r>
            <a:pPr algn="l" indent="0" marL="0">
              <a:lnSpc>
                <a:spcPts val="2558"/>
              </a:lnSpc>
              <a:spcAft>
                <a:spcPts val="600"/>
              </a:spcAft>
              <a:buNone/>
            </a:pPr>
            <a:endParaRPr lang="en-US" sz="1650" dirty="0"/>
          </a:p>
          <a:p>
            <a:pPr algn="l" marL="266700" indent="-266700">
              <a:lnSpc>
                <a:spcPts val="2558"/>
              </a:lnSpc>
              <a:spcAft>
                <a:spcPts val="600"/>
              </a:spcAft>
              <a:buSzPct val="100000"/>
              <a:buChar char="•"/>
            </a:pPr>
            <a:r>
              <a:rPr lang="en-US" sz="1650" dirty="0">
                <a:solidFill>
                  <a:srgbClr val="211C13"/>
                </a:solidFill>
                <a:latin typeface="Noto Sans JP" pitchFamily="34" charset="0"/>
                <a:ea typeface="Noto Sans JP" pitchFamily="34" charset="-122"/>
                <a:cs typeface="Noto Sans JP" pitchFamily="34" charset="-120"/>
              </a:rPr>
              <a:t>教材用 </a:t>
            </a:r>
            <a:pPr algn="l" marL="266700" indent="-266700">
              <a:lnSpc>
                <a:spcPts val="2558"/>
              </a:lnSpc>
              <a:spcAft>
                <a:spcPts val="600"/>
              </a:spcAft>
              <a:buSzPct val="100000"/>
              <a:buChar char="•"/>
            </a:pPr>
            <a:r>
              <a:rPr lang="en-US" sz="1650" dirty="0">
                <a:solidFill>
                  <a:srgbClr val="211C13"/>
                </a:solidFill>
                <a:latin typeface="JetBrains Mono" pitchFamily="34" charset="0"/>
                <a:ea typeface="JetBrains Mono" pitchFamily="34" charset="-122"/>
                <a:cs typeface="JetBrains Mono" pitchFamily="34" charset="-120"/>
              </a:rPr>
              <a:t>celebrate()</a:t>
            </a:r>
            <a:pPr algn="l" marL="266700" indent="-266700">
              <a:lnSpc>
                <a:spcPts val="2558"/>
              </a:lnSpc>
              <a:spcAft>
                <a:spcPts val="600"/>
              </a:spcAft>
              <a:buSzPct val="100000"/>
              <a:buChar char="•"/>
            </a:pPr>
            <a:r>
              <a:rPr lang="en-US" sz="1650" dirty="0">
                <a:solidFill>
                  <a:srgbClr val="211C13"/>
                </a:solidFill>
                <a:latin typeface="Noto Sans JP" pitchFamily="34" charset="0"/>
                <a:ea typeface="Noto Sans JP" pitchFamily="34" charset="-122"/>
                <a:cs typeface="Noto Sans JP" pitchFamily="34" charset="-120"/>
              </a:rPr>
              <a:t> が走る</a:t>
            </a:r>
            <a:pPr algn="l" marL="266700" indent="-266700">
              <a:lnSpc>
                <a:spcPts val="2558"/>
              </a:lnSpc>
              <a:spcAft>
                <a:spcPts val="600"/>
              </a:spcAft>
              <a:buSzPct val="100000"/>
              <a:buChar char="•"/>
            </a:pPr>
            <a:endParaRPr lang="en-US" sz="1650" dirty="0"/>
          </a:p>
          <a:p>
            <a:pPr algn="l" marL="266700" indent="-266700">
              <a:lnSpc>
                <a:spcPts val="2558"/>
              </a:lnSpc>
              <a:spcAft>
                <a:spcPts val="600"/>
              </a:spcAft>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558"/>
              </a:lnSpc>
              <a:spcAft>
                <a:spcPts val="600"/>
              </a:spcAft>
              <a:buSzPct val="100000"/>
              <a:buChar char="•"/>
            </a:pPr>
            <a:r>
              <a:rPr lang="en-US" sz="1650" dirty="0">
                <a:solidFill>
                  <a:srgbClr val="211C13"/>
                </a:solidFill>
                <a:latin typeface="Noto Sans JP" pitchFamily="34" charset="0"/>
                <a:ea typeface="Noto Sans JP" pitchFamily="34" charset="-122"/>
                <a:cs typeface="Noto Sans JP" pitchFamily="34" charset="-120"/>
              </a:rPr>
              <a:t>Elements パネルで該当ノードが HTMLとして解釈されている</a:t>
            </a:r>
            <a:pPr algn="l" marL="266700" indent="-266700">
              <a:lnSpc>
                <a:spcPts val="2558"/>
              </a:lnSpc>
              <a:spcAft>
                <a:spcPts val="600"/>
              </a:spcAft>
              <a:buSzPct val="100000"/>
              <a:buChar char="•"/>
            </a:pPr>
            <a:endParaRPr lang="en-US" sz="1650" dirty="0"/>
          </a:p>
          <a:p>
            <a:pPr algn="l" marL="266700" indent="-266700">
              <a:lnSpc>
                <a:spcPts val="2558"/>
              </a:lnSpc>
              <a:spcAft>
                <a:spcPts val="600"/>
              </a:spcAft>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558"/>
              </a:lnSpc>
              <a:spcAft>
                <a:spcPts val="600"/>
              </a:spcAft>
              <a:buSzPct val="100000"/>
              <a:buChar char="•"/>
            </a:pPr>
            <a:r>
              <a:rPr lang="en-US" sz="1650" dirty="0">
                <a:solidFill>
                  <a:srgbClr val="211C13"/>
                </a:solidFill>
                <a:latin typeface="Noto Sans JP" pitchFamily="34" charset="0"/>
                <a:ea typeface="Noto Sans JP" pitchFamily="34" charset="-122"/>
                <a:cs typeface="Noto Sans JP" pitchFamily="34" charset="-120"/>
              </a:rPr>
              <a:t>別タブで自分のランキングを開き直しても再現する</a:t>
            </a:r>
            <a:endParaRPr lang="en-US" sz="1650" dirty="0"/>
          </a:p>
        </p:txBody>
      </p:sp>
      <p:pic>
        <p:nvPicPr>
          <p:cNvPr id="13" name="Image 1" descr="gen-dedup-ff3b843c62efd2578b331bdfc9bb7c8f.png">    </p:cNvPr>
          <p:cNvPicPr>
            <a:picLocks noChangeAspect="1"/>
          </p:cNvPicPr>
          <p:nvPr/>
        </p:nvPicPr>
        <p:blipFill>
          <a:blip r:embed="rId2"/>
          <a:srcRect l="-2083" r="-2083" t="0" b="0"/>
          <a:stretch/>
        </p:blipFill>
        <p:spPr>
          <a:xfrm>
            <a:off x="914400" y="9334195"/>
            <a:ext cx="16459200" cy="9144"/>
          </a:xfrm>
          <a:prstGeom prst="rect">
            <a:avLst/>
          </a:prstGeom>
        </p:spPr>
      </p:pic>
      <p:sp>
        <p:nvSpPr>
          <p:cNvPr id="14" name="Text 9"/>
          <p:cNvSpPr txBox="1"/>
          <p:nvPr/>
        </p:nvSpPr>
        <p:spPr>
          <a:xfrm>
            <a:off x="2667305" y="914400"/>
            <a:ext cx="14287500" cy="219456"/>
          </a:xfrm>
          <a:prstGeom prst="rect">
            <a:avLst/>
          </a:prstGeom>
          <a:noFill/>
          <a:ln/>
        </p:spPr>
        <p:txBody>
          <a:bodyPr wrap="none" lIns="0" tIns="0" rIns="0" bIns="0" rtlCol="0" anchor="ctr"/>
          <a:lstStyle/>
          <a:p>
            <a:pPr algn="l" indent="0" marL="0">
              <a:buNone/>
            </a:pPr>
            <a:r>
              <a:rPr lang="en-US" sz="1350" spc="324" kern="0" dirty="0">
                <a:solidFill>
                  <a:srgbClr val="B4791F"/>
                </a:solidFill>
                <a:latin typeface="JetBrains Mono" pitchFamily="34" charset="0"/>
                <a:ea typeface="JetBrains Mono" pitchFamily="34" charset="-122"/>
                <a:cs typeface="JetBrains Mono" pitchFamily="34" charset="-120"/>
              </a:rPr>
              <a:t>Problem statement</a:t>
            </a:r>
            <a:endParaRPr lang="en-US" sz="1350" dirty="0"/>
          </a:p>
        </p:txBody>
      </p:sp>
      <p:sp>
        <p:nvSpPr>
          <p:cNvPr id="15" name="Text 10"/>
          <p:cNvSpPr txBox="1"/>
          <p:nvPr/>
        </p:nvSpPr>
        <p:spPr>
          <a:xfrm>
            <a:off x="2667305" y="1228954"/>
            <a:ext cx="14287500" cy="914400"/>
          </a:xfrm>
          <a:prstGeom prst="rect">
            <a:avLst/>
          </a:prstGeom>
          <a:noFill/>
          <a:ln/>
        </p:spPr>
        <p:txBody>
          <a:bodyPr wrap="none" lIns="0" tIns="0" rIns="0" bIns="0" rtlCol="0" anchor="ctr"/>
          <a:lstStyle/>
          <a:p>
            <a:pPr algn="l" indent="0" marL="0">
              <a:buNone/>
            </a:pPr>
            <a:r>
              <a:rPr lang="en-US" sz="7200" b="1" spc="-144" kern="0" dirty="0">
                <a:solidFill>
                  <a:srgbClr val="211C13"/>
                </a:solidFill>
                <a:latin typeface="Zen Kaku Gothic Antique" pitchFamily="34" charset="0"/>
                <a:ea typeface="Zen Kaku Gothic Antique" pitchFamily="34" charset="-122"/>
                <a:cs typeface="Zen Kaku Gothic Antique" pitchFamily="34" charset="-120"/>
              </a:rPr>
              <a:t>問題文</a:t>
            </a:r>
            <a:endParaRPr lang="en-US" sz="7200" dirty="0"/>
          </a:p>
        </p:txBody>
      </p:sp>
      <p:sp>
        <p:nvSpPr>
          <p:cNvPr id="16" name="Text 11"/>
          <p:cNvSpPr txBox="1"/>
          <p:nvPr/>
        </p:nvSpPr>
        <p:spPr>
          <a:xfrm>
            <a:off x="2667305" y="2276856"/>
            <a:ext cx="14287500" cy="247802"/>
          </a:xfrm>
          <a:prstGeom prst="rect">
            <a:avLst/>
          </a:prstGeom>
          <a:noFill/>
          <a:ln/>
        </p:spPr>
        <p:txBody>
          <a:bodyPr wrap="none" lIns="0" tIns="0" rIns="0" bIns="0" rtlCol="0" anchor="ctr"/>
          <a:lstStyle/>
          <a:p>
            <a:pPr algn="l" indent="0" marL="0">
              <a:buNone/>
            </a:pPr>
            <a:r>
              <a:rPr lang="en-US" sz="1350" spc="243" kern="0" dirty="0">
                <a:solidFill>
                  <a:srgbClr val="5A4F3F"/>
                </a:solidFill>
                <a:latin typeface="JetBrains Mono" pitchFamily="34" charset="0"/>
                <a:ea typeface="JetBrains Mono" pitchFamily="34" charset="-122"/>
                <a:cs typeface="JetBrains Mono" pitchFamily="34" charset="-120"/>
              </a:rPr>
              <a:t>— 解答は載せない · 提出UIもありません</a:t>
            </a:r>
            <a:endParaRPr lang="en-US" sz="1350" dirty="0"/>
          </a:p>
        </p:txBody>
      </p:sp>
      <p:sp>
        <p:nvSpPr>
          <p:cNvPr id="17" name="Text 12"/>
          <p:cNvSpPr txBox="1"/>
          <p:nvPr/>
        </p:nvSpPr>
        <p:spPr>
          <a:xfrm>
            <a:off x="2667305" y="8953805"/>
            <a:ext cx="10478110" cy="247802"/>
          </a:xfrm>
          <a:prstGeom prst="rect">
            <a:avLst/>
          </a:prstGeom>
          <a:noFill/>
          <a:ln/>
        </p:spPr>
        <p:txBody>
          <a:bodyPr wrap="none" lIns="0" tIns="0" rIns="0" bIns="0" rtlCol="0" anchor="ctr"/>
          <a:lstStyle/>
          <a:p>
            <a:pPr algn="l" indent="0" marL="0">
              <a:buNone/>
            </a:pPr>
            <a:r>
              <a:rPr lang="en-US" sz="1350" spc="243" kern="0" dirty="0">
                <a:solidFill>
                  <a:srgbClr val="5A4F3F"/>
                </a:solidFill>
                <a:latin typeface="JetBrains Mono" pitchFamily="34" charset="0"/>
                <a:ea typeface="JetBrains Mono" pitchFamily="34" charset="-122"/>
                <a:cs typeface="JetBrains Mono" pitchFamily="34" charset="-120"/>
              </a:rPr>
              <a:t>範囲外 — 教材外の関数を呼ぶ / 大量保存 / 本物の alert 等は扱わない</a:t>
            </a:r>
            <a:endParaRPr lang="en-US" sz="1350" dirty="0"/>
          </a:p>
        </p:txBody>
      </p:sp>
      <p:sp>
        <p:nvSpPr>
          <p:cNvPr id="18" name="Text 13"/>
          <p:cNvSpPr txBox="1"/>
          <p:nvPr/>
        </p:nvSpPr>
        <p:spPr>
          <a:xfrm>
            <a:off x="2667305" y="9258300"/>
            <a:ext cx="10478110" cy="277063"/>
          </a:xfrm>
          <a:prstGeom prst="rect">
            <a:avLst/>
          </a:prstGeom>
          <a:noFill/>
          <a:ln/>
        </p:spPr>
        <p:txBody>
          <a:bodyPr wrap="none" lIns="0" tIns="0" rIns="0" bIns="0" rtlCol="0" anchor="ctr"/>
          <a:lstStyle/>
          <a:p>
            <a:pPr algn="l" indent="0" marL="0">
              <a:buNone/>
            </a:pPr>
            <a:r>
              <a:rPr lang="en-US" sz="1500" dirty="0">
                <a:solidFill>
                  <a:srgbClr val="211C13"/>
                </a:solidFill>
                <a:latin typeface="Noto Sans JP" pitchFamily="34" charset="0"/>
                <a:ea typeface="Noto Sans JP" pitchFamily="34" charset="-122"/>
                <a:cs typeface="Noto Sans JP" pitchFamily="34" charset="-120"/>
              </a:rPr>
              <a:t>プレビューで何が起きて、保存で何が起きて、ランキングで何が起きるかを分けて観察してください。</a:t>
            </a:r>
            <a:endParaRPr lang="en-US" sz="1500" dirty="0"/>
          </a:p>
        </p:txBody>
      </p:sp>
      <p:sp>
        <p:nvSpPr>
          <p:cNvPr id="19" name="Text 14"/>
          <p:cNvSpPr txBox="1"/>
          <p:nvPr/>
        </p:nvSpPr>
        <p:spPr>
          <a:xfrm>
            <a:off x="2667305" y="9562795"/>
            <a:ext cx="9525305" cy="228600"/>
          </a:xfrm>
          <a:prstGeom prst="rect">
            <a:avLst/>
          </a:prstGeom>
          <a:noFill/>
          <a:ln/>
        </p:spPr>
        <p:txBody>
          <a:bodyPr wrap="none" lIns="0" tIns="0" rIns="0" bIns="0" rtlCol="0" anchor="ctr"/>
          <a:lstStyle/>
          <a:p>
            <a:pPr algn="l" indent="0" marL="0">
              <a:buNone/>
            </a:pPr>
            <a:r>
              <a:rPr lang="en-US" sz="1200" spc="72" kern="0" dirty="0">
                <a:solidFill>
                  <a:srgbClr val="5A4F3F"/>
                </a:solidFill>
                <a:latin typeface="JetBrains Mono" pitchFamily="34" charset="0"/>
                <a:ea typeface="JetBrains Mono" pitchFamily="34" charset="-122"/>
                <a:cs typeface="JetBrains Mono" pitchFamily="34" charset="-120"/>
              </a:rPr>
              <a:t>タイマー目安 10分 — 詰まったらヒントを順次公開、次の解説へ進みます</a:t>
            </a:r>
            <a:endParaRPr lang="en-US" sz="1200" dirty="0"/>
          </a:p>
        </p:txBody>
      </p:sp>
      <p:sp>
        <p:nvSpPr>
          <p:cNvPr id="20" name="Text 15"/>
          <p:cNvSpPr txBox="1"/>
          <p:nvPr/>
        </p:nvSpPr>
        <p:spPr>
          <a:xfrm>
            <a:off x="15468905" y="9562795"/>
            <a:ext cx="1905610" cy="200254"/>
          </a:xfrm>
          <a:prstGeom prst="rect">
            <a:avLst/>
          </a:prstGeom>
          <a:noFill/>
          <a:ln/>
        </p:spPr>
        <p:txBody>
          <a:bodyPr wrap="none" lIns="0" tIns="0" rIns="0" bIns="0" rtlCol="0" anchor="ctr"/>
          <a:lstStyle/>
          <a:p>
            <a:pPr algn="r" indent="0" marL="0">
              <a:buNone/>
            </a:pPr>
            <a:r>
              <a:rPr lang="en-US" sz="1200" spc="72" kern="0" dirty="0">
                <a:solidFill>
                  <a:srgbClr val="5A4F3F"/>
                </a:solidFill>
                <a:latin typeface="JetBrains Mono" pitchFamily="34" charset="0"/>
                <a:ea typeface="JetBrains Mono" pitchFamily="34" charset="-122"/>
                <a:cs typeface="JetBrains Mono" pitchFamily="34" charset="-120"/>
              </a:rPr>
              <a:t>16 / 32</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FE7D4"/>
        </a:solidFill>
      </p:bgPr>
    </p:bg>
    <p:spTree>
      <p:nvGrpSpPr>
        <p:cNvPr id="1" name=""/>
        <p:cNvGrpSpPr/>
        <p:nvPr/>
      </p:nvGrpSpPr>
      <p:grpSpPr>
        <a:xfrm>
          <a:off x="0" y="0"/>
          <a:ext cx="0" cy="0"/>
          <a:chOff x="0" y="0"/>
          <a:chExt cx="0" cy="0"/>
        </a:xfrm>
      </p:grpSpPr>
      <p:sp>
        <p:nvSpPr>
          <p:cNvPr id="3" name="Shape 0"/>
          <p:cNvSpPr/>
          <p:nvPr/>
        </p:nvSpPr>
        <p:spPr>
          <a:xfrm>
            <a:off x="0" y="0"/>
            <a:ext cx="1904695" cy="10287000"/>
          </a:xfrm>
          <a:prstGeom prst="rect">
            <a:avLst/>
          </a:prstGeom>
          <a:solidFill>
            <a:srgbClr val="B4791F"/>
          </a:solidFill>
          <a:ln w="12700">
            <a:solidFill>
              <a:srgbClr val="FFFFFF">
                <a:alpha val="0"/>
              </a:srgbClr>
            </a:solidFill>
            <a:prstDash val="solid"/>
          </a:ln>
        </p:spPr>
      </p:sp>
      <p:sp>
        <p:nvSpPr>
          <p:cNvPr id="4" name="Shape 1"/>
          <p:cNvSpPr/>
          <p:nvPr/>
        </p:nvSpPr>
        <p:spPr>
          <a:xfrm>
            <a:off x="2667305" y="2857500"/>
            <a:ext cx="14859000" cy="1904695"/>
          </a:xfrm>
          <a:prstGeom prst="roundRect">
            <a:avLst>
              <a:gd name="adj" fmla="val 2016"/>
            </a:avLst>
          </a:prstGeom>
          <a:solidFill>
            <a:srgbClr val="E5DBC4"/>
          </a:solidFill>
          <a:ln w="12700">
            <a:solidFill>
              <a:srgbClr val="FFFFFF">
                <a:alpha val="0"/>
              </a:srgbClr>
            </a:solidFill>
            <a:prstDash val="solid"/>
          </a:ln>
        </p:spPr>
      </p:sp>
      <p:sp>
        <p:nvSpPr>
          <p:cNvPr id="5" name="Shape 2"/>
          <p:cNvSpPr/>
          <p:nvPr/>
        </p:nvSpPr>
        <p:spPr>
          <a:xfrm>
            <a:off x="2667305" y="5333695"/>
            <a:ext cx="3238805" cy="1524305"/>
          </a:xfrm>
          <a:prstGeom prst="roundRect">
            <a:avLst>
              <a:gd name="adj" fmla="val 2519"/>
            </a:avLst>
          </a:prstGeom>
          <a:solidFill>
            <a:srgbClr val="1B1F25"/>
          </a:solidFill>
          <a:ln w="12700">
            <a:solidFill>
              <a:srgbClr val="FFFFFF">
                <a:alpha val="0"/>
              </a:srgbClr>
            </a:solidFill>
            <a:prstDash val="solid"/>
          </a:ln>
        </p:spPr>
      </p:sp>
      <p:sp>
        <p:nvSpPr>
          <p:cNvPr id="6" name="Shape 3"/>
          <p:cNvSpPr/>
          <p:nvPr/>
        </p:nvSpPr>
        <p:spPr>
          <a:xfrm>
            <a:off x="6476695" y="5333695"/>
            <a:ext cx="3238805" cy="1524305"/>
          </a:xfrm>
          <a:prstGeom prst="roundRect">
            <a:avLst>
              <a:gd name="adj" fmla="val 2519"/>
            </a:avLst>
          </a:prstGeom>
          <a:solidFill>
            <a:srgbClr val="1B1F25"/>
          </a:solidFill>
          <a:ln w="12700">
            <a:solidFill>
              <a:srgbClr val="FFFFFF">
                <a:alpha val="0"/>
              </a:srgbClr>
            </a:solidFill>
            <a:prstDash val="solid"/>
          </a:ln>
        </p:spPr>
      </p:sp>
      <p:sp>
        <p:nvSpPr>
          <p:cNvPr id="7" name="Shape 4"/>
          <p:cNvSpPr/>
          <p:nvPr/>
        </p:nvSpPr>
        <p:spPr>
          <a:xfrm>
            <a:off x="10287000" y="5333695"/>
            <a:ext cx="3238805" cy="1524305"/>
          </a:xfrm>
          <a:prstGeom prst="roundRect">
            <a:avLst>
              <a:gd name="adj" fmla="val 2519"/>
            </a:avLst>
          </a:prstGeom>
          <a:solidFill>
            <a:srgbClr val="1B1F25"/>
          </a:solidFill>
          <a:ln w="12700">
            <a:solidFill>
              <a:srgbClr val="FFFFFF">
                <a:alpha val="0"/>
              </a:srgbClr>
            </a:solidFill>
            <a:prstDash val="solid"/>
          </a:ln>
        </p:spPr>
      </p:sp>
      <p:sp>
        <p:nvSpPr>
          <p:cNvPr id="8" name="Shape 5"/>
          <p:cNvSpPr/>
          <p:nvPr/>
        </p:nvSpPr>
        <p:spPr>
          <a:xfrm>
            <a:off x="13811098" y="5333695"/>
            <a:ext cx="3715207" cy="1524305"/>
          </a:xfrm>
          <a:prstGeom prst="roundRect">
            <a:avLst>
              <a:gd name="adj" fmla="val 2519"/>
            </a:avLst>
          </a:prstGeom>
          <a:solidFill>
            <a:srgbClr val="E5DBC4"/>
          </a:solidFill>
          <a:ln w="12700">
            <a:solidFill>
              <a:srgbClr val="FFFFFF">
                <a:alpha val="0"/>
              </a:srgbClr>
            </a:solidFill>
            <a:prstDash val="solid"/>
          </a:ln>
        </p:spPr>
      </p:sp>
      <p:sp>
        <p:nvSpPr>
          <p:cNvPr id="9" name="Shape 6"/>
          <p:cNvSpPr/>
          <p:nvPr/>
        </p:nvSpPr>
        <p:spPr>
          <a:xfrm>
            <a:off x="2667305" y="7239305"/>
            <a:ext cx="14859000" cy="1524305"/>
          </a:xfrm>
          <a:prstGeom prst="roundRect">
            <a:avLst>
              <a:gd name="adj" fmla="val 2519"/>
            </a:avLst>
          </a:prstGeom>
          <a:solidFill>
            <a:srgbClr val="1B1F25"/>
          </a:solidFill>
          <a:ln w="12700">
            <a:solidFill>
              <a:srgbClr val="FFFFFF">
                <a:alpha val="0"/>
              </a:srgbClr>
            </a:solidFill>
            <a:prstDash val="solid"/>
          </a:ln>
        </p:spPr>
      </p:sp>
      <p:sp>
        <p:nvSpPr>
          <p:cNvPr id="10" name="Text 7"/>
          <p:cNvSpPr txBox="1"/>
          <p:nvPr/>
        </p:nvSpPr>
        <p:spPr>
          <a:xfrm>
            <a:off x="228600" y="914400"/>
            <a:ext cx="1524305" cy="171907"/>
          </a:xfrm>
          <a:prstGeom prst="rect">
            <a:avLst/>
          </a:prstGeom>
          <a:noFill/>
          <a:ln/>
        </p:spPr>
        <p:txBody>
          <a:bodyPr wrap="none" lIns="0" tIns="0" rIns="0" bIns="0" rtlCol="0" anchor="ctr"/>
          <a:lstStyle/>
          <a:p>
            <a:pPr algn="l" indent="0" marL="0">
              <a:buNone/>
            </a:pPr>
            <a:r>
              <a:rPr lang="en-US" sz="1050" spc="231" kern="0" dirty="0">
                <a:solidFill>
                  <a:srgbClr val="F5EFDD"/>
                </a:solidFill>
                <a:latin typeface="JetBrains Mono" pitchFamily="34" charset="0"/>
                <a:ea typeface="JetBrains Mono" pitchFamily="34" charset="-122"/>
                <a:cs typeface="JetBrains Mono" pitchFamily="34" charset="-120"/>
              </a:rPr>
              <a:t>HINT</a:t>
            </a:r>
            <a:endParaRPr lang="en-US" sz="1050" dirty="0"/>
          </a:p>
        </p:txBody>
      </p:sp>
      <p:sp>
        <p:nvSpPr>
          <p:cNvPr id="11" name="Text 8"/>
          <p:cNvSpPr txBox="1"/>
          <p:nvPr/>
        </p:nvSpPr>
        <p:spPr>
          <a:xfrm>
            <a:off x="228600" y="1143000"/>
            <a:ext cx="1786738" cy="876910"/>
          </a:xfrm>
          <a:prstGeom prst="rect">
            <a:avLst/>
          </a:prstGeom>
          <a:noFill/>
          <a:ln/>
        </p:spPr>
        <p:txBody>
          <a:bodyPr wrap="none" lIns="0" tIns="0" rIns="0" bIns="0" rtlCol="0" anchor="ctr"/>
          <a:lstStyle/>
          <a:p>
            <a:pPr algn="l" indent="0" marL="0">
              <a:buNone/>
            </a:pPr>
            <a:r>
              <a:rPr lang="en-US" sz="7200" b="1" spc="-144" kern="0" dirty="0">
                <a:solidFill>
                  <a:srgbClr val="F5EFDD"/>
                </a:solidFill>
                <a:latin typeface="Zen Kaku Gothic Antique" pitchFamily="34" charset="0"/>
                <a:ea typeface="Zen Kaku Gothic Antique" pitchFamily="34" charset="-122"/>
                <a:cs typeface="Zen Kaku Gothic Antique" pitchFamily="34" charset="-120"/>
              </a:rPr>
              <a:t>1/3</a:t>
            </a:r>
            <a:endParaRPr lang="en-US" sz="7200" dirty="0"/>
          </a:p>
        </p:txBody>
      </p:sp>
      <p:pic>
        <p:nvPicPr>
          <p:cNvPr id="12" name="Image 0" descr="gen-dedup-2173e259c8f89e09f8a89067735d6b02.png">    </p:cNvPr>
          <p:cNvPicPr>
            <a:picLocks noChangeAspect="1"/>
          </p:cNvPicPr>
          <p:nvPr/>
        </p:nvPicPr>
        <p:blipFill>
          <a:blip r:embed="rId1"/>
          <a:srcRect l="-404" r="-404" t="0" b="0"/>
          <a:stretch/>
        </p:blipFill>
        <p:spPr>
          <a:xfrm>
            <a:off x="228600" y="2182673"/>
            <a:ext cx="571500" cy="28346"/>
          </a:xfrm>
          <a:prstGeom prst="rect">
            <a:avLst/>
          </a:prstGeom>
        </p:spPr>
      </p:pic>
      <p:sp>
        <p:nvSpPr>
          <p:cNvPr id="13" name="Text 9"/>
          <p:cNvSpPr txBox="1"/>
          <p:nvPr/>
        </p:nvSpPr>
        <p:spPr>
          <a:xfrm>
            <a:off x="2971800" y="3124505"/>
            <a:ext cx="14287500" cy="438912"/>
          </a:xfrm>
          <a:prstGeom prst="rect">
            <a:avLst/>
          </a:prstGeom>
          <a:noFill/>
          <a:ln/>
        </p:spPr>
        <p:txBody>
          <a:bodyPr wrap="none" lIns="0" tIns="0" rIns="0" bIns="0" rtlCol="0" anchor="ctr"/>
          <a:lstStyle/>
          <a:p>
            <a:pPr algn="l" indent="0" marL="0">
              <a:buNone/>
            </a:pPr>
            <a:r>
              <a:rPr lang="en-US" sz="2400" b="1" dirty="0">
                <a:solidFill>
                  <a:srgbClr val="211C13"/>
                </a:solidFill>
                <a:latin typeface="Noto Sans JP" pitchFamily="34" charset="0"/>
                <a:ea typeface="Noto Sans JP" pitchFamily="34" charset="-122"/>
                <a:cs typeface="Noto Sans JP" pitchFamily="34" charset="-120"/>
              </a:rPr>
              <a:t>入力 → プレビュー → 保存 → ランキング表示</a:t>
            </a:r>
            <a:endParaRPr lang="en-US" sz="2400" dirty="0"/>
          </a:p>
        </p:txBody>
      </p:sp>
      <p:sp>
        <p:nvSpPr>
          <p:cNvPr id="14" name="Text 10"/>
          <p:cNvSpPr txBox="1"/>
          <p:nvPr/>
        </p:nvSpPr>
        <p:spPr>
          <a:xfrm>
            <a:off x="2971800" y="3696005"/>
            <a:ext cx="14287500" cy="314554"/>
          </a:xfrm>
          <a:prstGeom prst="rect">
            <a:avLst/>
          </a:prstGeom>
          <a:noFill/>
          <a:ln/>
        </p:spPr>
        <p:txBody>
          <a:bodyPr wrap="none" lIns="0" tIns="0" rIns="0" bIns="0" rtlCol="0" anchor="ctr"/>
          <a:lstStyle/>
          <a:p>
            <a:pPr algn="l" indent="0" marL="0">
              <a:buNone/>
            </a:pPr>
            <a:r>
              <a:rPr lang="en-US" sz="1650" dirty="0">
                <a:solidFill>
                  <a:srgbClr val="5A4F3F"/>
                </a:solidFill>
                <a:latin typeface="Noto Sans JP" pitchFamily="34" charset="0"/>
                <a:ea typeface="Noto Sans JP" pitchFamily="34" charset="-122"/>
                <a:cs typeface="Noto Sans JP" pitchFamily="34" charset="-120"/>
              </a:rPr>
              <a:t>同じ文字列が、4つの場面で、それぞれ別の役割をになっているかもしれません。Network と Elements で 1 つずつ観察してみます。</a:t>
            </a:r>
            <a:endParaRPr lang="en-US" sz="1650" dirty="0"/>
          </a:p>
        </p:txBody>
      </p:sp>
      <p:sp>
        <p:nvSpPr>
          <p:cNvPr id="15" name="Text 11"/>
          <p:cNvSpPr txBox="1"/>
          <p:nvPr/>
        </p:nvSpPr>
        <p:spPr>
          <a:xfrm>
            <a:off x="2971800" y="5581498"/>
            <a:ext cx="2667305" cy="171907"/>
          </a:xfrm>
          <a:prstGeom prst="rect">
            <a:avLst/>
          </a:prstGeom>
          <a:noFill/>
          <a:ln/>
        </p:spPr>
        <p:txBody>
          <a:bodyPr wrap="none" lIns="0" tIns="0" rIns="0" bIns="0" rtlCol="0" anchor="ctr"/>
          <a:lstStyle/>
          <a:p>
            <a:pPr algn="l" indent="0" marL="0">
              <a:buNone/>
            </a:pPr>
            <a:r>
              <a:rPr lang="en-US" sz="1050" spc="189" kern="0" dirty="0">
                <a:solidFill>
                  <a:srgbClr val="D4922A"/>
                </a:solidFill>
                <a:latin typeface="JetBrains Mono" pitchFamily="34" charset="0"/>
                <a:ea typeface="JetBrains Mono" pitchFamily="34" charset="-122"/>
                <a:cs typeface="JetBrains Mono" pitchFamily="34" charset="-120"/>
              </a:rPr>
              <a:t>STEP A</a:t>
            </a:r>
            <a:endParaRPr lang="en-US" sz="1050" dirty="0"/>
          </a:p>
        </p:txBody>
      </p:sp>
      <p:sp>
        <p:nvSpPr>
          <p:cNvPr id="16" name="Text 12"/>
          <p:cNvSpPr txBox="1"/>
          <p:nvPr/>
        </p:nvSpPr>
        <p:spPr>
          <a:xfrm>
            <a:off x="2971800" y="5829300"/>
            <a:ext cx="2667305" cy="352958"/>
          </a:xfrm>
          <a:prstGeom prst="rect">
            <a:avLst/>
          </a:prstGeom>
          <a:noFill/>
          <a:ln/>
        </p:spPr>
        <p:txBody>
          <a:bodyPr wrap="none" lIns="0" tIns="0" rIns="0" bIns="0" rtlCol="0" anchor="ctr"/>
          <a:lstStyle/>
          <a:p>
            <a:pPr algn="l" indent="0" marL="0">
              <a:buNone/>
            </a:pPr>
            <a:r>
              <a:rPr lang="en-US" sz="1950" b="1" dirty="0">
                <a:solidFill>
                  <a:srgbClr val="F5EFDD"/>
                </a:solidFill>
                <a:latin typeface="Zen Kaku Gothic Antique" pitchFamily="34" charset="0"/>
                <a:ea typeface="Zen Kaku Gothic Antique" pitchFamily="34" charset="-122"/>
                <a:cs typeface="Zen Kaku Gothic Antique" pitchFamily="34" charset="-120"/>
              </a:rPr>
              <a:t>入力と即時プレビュー</a:t>
            </a:r>
            <a:endParaRPr lang="en-US" sz="1950" dirty="0"/>
          </a:p>
        </p:txBody>
      </p:sp>
      <p:sp>
        <p:nvSpPr>
          <p:cNvPr id="17" name="Text 13"/>
          <p:cNvSpPr txBox="1"/>
          <p:nvPr/>
        </p:nvSpPr>
        <p:spPr>
          <a:xfrm>
            <a:off x="2971800" y="6238951"/>
            <a:ext cx="2667305" cy="247802"/>
          </a:xfrm>
          <a:prstGeom prst="rect">
            <a:avLst/>
          </a:prstGeom>
          <a:noFill/>
          <a:ln/>
        </p:spPr>
        <p:txBody>
          <a:bodyPr wrap="none" lIns="0" tIns="0" rIns="0" bIns="0" rtlCol="0" anchor="ctr"/>
          <a:lstStyle/>
          <a:p>
            <a:pPr algn="l" indent="0" marL="0">
              <a:buNone/>
            </a:pPr>
            <a:r>
              <a:rPr lang="en-US" sz="1350" dirty="0">
                <a:solidFill>
                  <a:srgbClr val="8A8170"/>
                </a:solidFill>
                <a:latin typeface="Noto Sans JP" pitchFamily="34" charset="0"/>
                <a:ea typeface="Noto Sans JP" pitchFamily="34" charset="-122"/>
                <a:cs typeface="Noto Sans JP" pitchFamily="34" charset="-120"/>
              </a:rPr>
              <a:t>入力するたびに走るのは何か</a:t>
            </a:r>
            <a:endParaRPr lang="en-US" sz="1350" dirty="0"/>
          </a:p>
        </p:txBody>
      </p:sp>
      <p:sp>
        <p:nvSpPr>
          <p:cNvPr id="18" name="Text 14"/>
          <p:cNvSpPr txBox="1"/>
          <p:nvPr/>
        </p:nvSpPr>
        <p:spPr>
          <a:xfrm>
            <a:off x="6057900" y="6057900"/>
            <a:ext cx="381305" cy="448056"/>
          </a:xfrm>
          <a:prstGeom prst="rect">
            <a:avLst/>
          </a:prstGeom>
          <a:noFill/>
          <a:ln/>
        </p:spPr>
        <p:txBody>
          <a:bodyPr wrap="none" lIns="0" tIns="0" rIns="0" bIns="0" rtlCol="0" anchor="ctr"/>
          <a:lstStyle/>
          <a:p>
            <a:pPr algn="ctr" indent="0" marL="0">
              <a:buNone/>
            </a:pPr>
            <a:r>
              <a:rPr lang="en-US" sz="2400" dirty="0">
                <a:solidFill>
                  <a:srgbClr val="B4791F"/>
                </a:solidFill>
                <a:latin typeface="JetBrains Mono" pitchFamily="34" charset="0"/>
                <a:ea typeface="JetBrains Mono" pitchFamily="34" charset="-122"/>
                <a:cs typeface="JetBrains Mono" pitchFamily="34" charset="-120"/>
              </a:rPr>
              <a:t>→</a:t>
            </a:r>
            <a:endParaRPr lang="en-US" sz="2400" dirty="0"/>
          </a:p>
        </p:txBody>
      </p:sp>
      <p:sp>
        <p:nvSpPr>
          <p:cNvPr id="19" name="Text 15"/>
          <p:cNvSpPr txBox="1"/>
          <p:nvPr/>
        </p:nvSpPr>
        <p:spPr>
          <a:xfrm>
            <a:off x="6782105" y="5581498"/>
            <a:ext cx="2667305" cy="171907"/>
          </a:xfrm>
          <a:prstGeom prst="rect">
            <a:avLst/>
          </a:prstGeom>
          <a:noFill/>
          <a:ln/>
        </p:spPr>
        <p:txBody>
          <a:bodyPr wrap="none" lIns="0" tIns="0" rIns="0" bIns="0" rtlCol="0" anchor="ctr"/>
          <a:lstStyle/>
          <a:p>
            <a:pPr algn="l" indent="0" marL="0">
              <a:buNone/>
            </a:pPr>
            <a:r>
              <a:rPr lang="en-US" sz="1050" spc="189" kern="0" dirty="0">
                <a:solidFill>
                  <a:srgbClr val="D4922A"/>
                </a:solidFill>
                <a:latin typeface="JetBrains Mono" pitchFamily="34" charset="0"/>
                <a:ea typeface="JetBrains Mono" pitchFamily="34" charset="-122"/>
                <a:cs typeface="JetBrains Mono" pitchFamily="34" charset="-120"/>
              </a:rPr>
              <a:t>STEP B</a:t>
            </a:r>
            <a:endParaRPr lang="en-US" sz="1050" dirty="0"/>
          </a:p>
        </p:txBody>
      </p:sp>
      <p:sp>
        <p:nvSpPr>
          <p:cNvPr id="20" name="Text 16"/>
          <p:cNvSpPr txBox="1"/>
          <p:nvPr/>
        </p:nvSpPr>
        <p:spPr>
          <a:xfrm>
            <a:off x="6782105" y="5829300"/>
            <a:ext cx="2667305" cy="352958"/>
          </a:xfrm>
          <a:prstGeom prst="rect">
            <a:avLst/>
          </a:prstGeom>
          <a:noFill/>
          <a:ln/>
        </p:spPr>
        <p:txBody>
          <a:bodyPr wrap="none" lIns="0" tIns="0" rIns="0" bIns="0" rtlCol="0" anchor="ctr"/>
          <a:lstStyle/>
          <a:p>
            <a:pPr algn="l" indent="0" marL="0">
              <a:buNone/>
            </a:pPr>
            <a:r>
              <a:rPr lang="en-US" sz="1950" b="1" dirty="0">
                <a:solidFill>
                  <a:srgbClr val="F5EFDD"/>
                </a:solidFill>
                <a:latin typeface="Zen Kaku Gothic Antique" pitchFamily="34" charset="0"/>
                <a:ea typeface="Zen Kaku Gothic Antique" pitchFamily="34" charset="-122"/>
                <a:cs typeface="Zen Kaku Gothic Antique" pitchFamily="34" charset="-120"/>
              </a:rPr>
              <a:t>保存のリクエスト</a:t>
            </a:r>
            <a:endParaRPr lang="en-US" sz="1950" dirty="0"/>
          </a:p>
        </p:txBody>
      </p:sp>
      <p:sp>
        <p:nvSpPr>
          <p:cNvPr id="21" name="Text 17"/>
          <p:cNvSpPr txBox="1"/>
          <p:nvPr/>
        </p:nvSpPr>
        <p:spPr>
          <a:xfrm>
            <a:off x="6782105" y="6238951"/>
            <a:ext cx="2667305" cy="247802"/>
          </a:xfrm>
          <a:prstGeom prst="rect">
            <a:avLst/>
          </a:prstGeom>
          <a:noFill/>
          <a:ln/>
        </p:spPr>
        <p:txBody>
          <a:bodyPr wrap="none" lIns="0" tIns="0" rIns="0" bIns="0" rtlCol="0" anchor="ctr"/>
          <a:lstStyle/>
          <a:p>
            <a:pPr algn="l" indent="0" marL="0">
              <a:buNone/>
            </a:pPr>
            <a:r>
              <a:rPr lang="en-US" sz="1350" dirty="0">
                <a:solidFill>
                  <a:srgbClr val="8A8170"/>
                </a:solidFill>
                <a:latin typeface="Noto Sans JP" pitchFamily="34" charset="0"/>
                <a:ea typeface="Noto Sans JP" pitchFamily="34" charset="-122"/>
                <a:cs typeface="Noto Sans JP" pitchFamily="34" charset="-120"/>
              </a:rPr>
              <a:t>Body に何が書かれているか</a:t>
            </a:r>
            <a:endParaRPr lang="en-US" sz="1350" dirty="0"/>
          </a:p>
        </p:txBody>
      </p:sp>
      <p:sp>
        <p:nvSpPr>
          <p:cNvPr id="22" name="Text 18"/>
          <p:cNvSpPr txBox="1"/>
          <p:nvPr/>
        </p:nvSpPr>
        <p:spPr>
          <a:xfrm>
            <a:off x="9868205" y="6057900"/>
            <a:ext cx="381305" cy="448056"/>
          </a:xfrm>
          <a:prstGeom prst="rect">
            <a:avLst/>
          </a:prstGeom>
          <a:noFill/>
          <a:ln/>
        </p:spPr>
        <p:txBody>
          <a:bodyPr wrap="none" lIns="0" tIns="0" rIns="0" bIns="0" rtlCol="0" anchor="ctr"/>
          <a:lstStyle/>
          <a:p>
            <a:pPr algn="ctr" indent="0" marL="0">
              <a:buNone/>
            </a:pPr>
            <a:r>
              <a:rPr lang="en-US" sz="2400" dirty="0">
                <a:solidFill>
                  <a:srgbClr val="B4791F"/>
                </a:solidFill>
                <a:latin typeface="JetBrains Mono" pitchFamily="34" charset="0"/>
                <a:ea typeface="JetBrains Mono" pitchFamily="34" charset="-122"/>
                <a:cs typeface="JetBrains Mono" pitchFamily="34" charset="-120"/>
              </a:rPr>
              <a:t>→</a:t>
            </a:r>
            <a:endParaRPr lang="en-US" sz="2400" dirty="0"/>
          </a:p>
        </p:txBody>
      </p:sp>
      <p:sp>
        <p:nvSpPr>
          <p:cNvPr id="23" name="Text 19"/>
          <p:cNvSpPr txBox="1"/>
          <p:nvPr/>
        </p:nvSpPr>
        <p:spPr>
          <a:xfrm>
            <a:off x="10591495" y="5581498"/>
            <a:ext cx="2667305" cy="171907"/>
          </a:xfrm>
          <a:prstGeom prst="rect">
            <a:avLst/>
          </a:prstGeom>
          <a:noFill/>
          <a:ln/>
        </p:spPr>
        <p:txBody>
          <a:bodyPr wrap="none" lIns="0" tIns="0" rIns="0" bIns="0" rtlCol="0" anchor="ctr"/>
          <a:lstStyle/>
          <a:p>
            <a:pPr algn="l" indent="0" marL="0">
              <a:buNone/>
            </a:pPr>
            <a:r>
              <a:rPr lang="en-US" sz="1050" spc="189" kern="0" dirty="0">
                <a:solidFill>
                  <a:srgbClr val="D4922A"/>
                </a:solidFill>
                <a:latin typeface="JetBrains Mono" pitchFamily="34" charset="0"/>
                <a:ea typeface="JetBrains Mono" pitchFamily="34" charset="-122"/>
                <a:cs typeface="JetBrains Mono" pitchFamily="34" charset="-120"/>
              </a:rPr>
              <a:t>STEP C</a:t>
            </a:r>
            <a:endParaRPr lang="en-US" sz="1050" dirty="0"/>
          </a:p>
        </p:txBody>
      </p:sp>
      <p:sp>
        <p:nvSpPr>
          <p:cNvPr id="24" name="Text 20"/>
          <p:cNvSpPr txBox="1"/>
          <p:nvPr/>
        </p:nvSpPr>
        <p:spPr>
          <a:xfrm>
            <a:off x="10591495" y="5829300"/>
            <a:ext cx="2667305" cy="352958"/>
          </a:xfrm>
          <a:prstGeom prst="rect">
            <a:avLst/>
          </a:prstGeom>
          <a:noFill/>
          <a:ln/>
        </p:spPr>
        <p:txBody>
          <a:bodyPr wrap="none" lIns="0" tIns="0" rIns="0" bIns="0" rtlCol="0" anchor="ctr"/>
          <a:lstStyle/>
          <a:p>
            <a:pPr algn="l" indent="0" marL="0">
              <a:buNone/>
            </a:pPr>
            <a:r>
              <a:rPr lang="en-US" sz="1950" b="1" dirty="0">
                <a:solidFill>
                  <a:srgbClr val="F5EFDD"/>
                </a:solidFill>
                <a:latin typeface="Zen Kaku Gothic Antique" pitchFamily="34" charset="0"/>
                <a:ea typeface="Zen Kaku Gothic Antique" pitchFamily="34" charset="-122"/>
                <a:cs typeface="Zen Kaku Gothic Antique" pitchFamily="34" charset="-120"/>
              </a:rPr>
              <a:t>ランキングの再描画</a:t>
            </a:r>
            <a:endParaRPr lang="en-US" sz="1950" dirty="0"/>
          </a:p>
        </p:txBody>
      </p:sp>
      <p:sp>
        <p:nvSpPr>
          <p:cNvPr id="25" name="Text 21"/>
          <p:cNvSpPr txBox="1"/>
          <p:nvPr/>
        </p:nvSpPr>
        <p:spPr>
          <a:xfrm>
            <a:off x="10591495" y="6238951"/>
            <a:ext cx="2667305" cy="247802"/>
          </a:xfrm>
          <a:prstGeom prst="rect">
            <a:avLst/>
          </a:prstGeom>
          <a:noFill/>
          <a:ln/>
        </p:spPr>
        <p:txBody>
          <a:bodyPr wrap="none" lIns="0" tIns="0" rIns="0" bIns="0" rtlCol="0" anchor="ctr"/>
          <a:lstStyle/>
          <a:p>
            <a:pPr algn="l" indent="0" marL="0">
              <a:buNone/>
            </a:pPr>
            <a:r>
              <a:rPr lang="en-US" sz="1350" dirty="0">
                <a:solidFill>
                  <a:srgbClr val="8A8170"/>
                </a:solidFill>
                <a:latin typeface="Noto Sans JP" pitchFamily="34" charset="0"/>
                <a:ea typeface="Noto Sans JP" pitchFamily="34" charset="-122"/>
                <a:cs typeface="Noto Sans JP" pitchFamily="34" charset="-120"/>
              </a:rPr>
              <a:t>Elements でどう見えるか</a:t>
            </a:r>
            <a:endParaRPr lang="en-US" sz="1350" dirty="0"/>
          </a:p>
        </p:txBody>
      </p:sp>
      <p:sp>
        <p:nvSpPr>
          <p:cNvPr id="26" name="Text 22"/>
          <p:cNvSpPr txBox="1"/>
          <p:nvPr/>
        </p:nvSpPr>
        <p:spPr>
          <a:xfrm>
            <a:off x="14116507" y="5581498"/>
            <a:ext cx="3143707" cy="171907"/>
          </a:xfrm>
          <a:prstGeom prst="rect">
            <a:avLst/>
          </a:prstGeom>
          <a:noFill/>
          <a:ln/>
        </p:spPr>
        <p:txBody>
          <a:bodyPr wrap="none" lIns="0" tIns="0" rIns="0" bIns="0" rtlCol="0" anchor="ctr"/>
          <a:lstStyle/>
          <a:p>
            <a:pPr algn="l" indent="0" marL="0">
              <a:buNone/>
            </a:pPr>
            <a:r>
              <a:rPr lang="en-US" sz="1050" spc="189" kern="0" dirty="0">
                <a:solidFill>
                  <a:srgbClr val="B4791F"/>
                </a:solidFill>
                <a:latin typeface="JetBrains Mono" pitchFamily="34" charset="0"/>
                <a:ea typeface="JetBrains Mono" pitchFamily="34" charset="-122"/>
                <a:cs typeface="JetBrains Mono" pitchFamily="34" charset="-120"/>
              </a:rPr>
              <a:t>NOTICE</a:t>
            </a:r>
            <a:endParaRPr lang="en-US" sz="1050" dirty="0"/>
          </a:p>
        </p:txBody>
      </p:sp>
      <p:sp>
        <p:nvSpPr>
          <p:cNvPr id="27" name="Text 23"/>
          <p:cNvSpPr txBox="1"/>
          <p:nvPr/>
        </p:nvSpPr>
        <p:spPr>
          <a:xfrm>
            <a:off x="14116507" y="5829300"/>
            <a:ext cx="3143707" cy="857707"/>
          </a:xfrm>
          <a:prstGeom prst="rect">
            <a:avLst/>
          </a:prstGeom>
          <a:noFill/>
          <a:ln/>
        </p:spPr>
        <p:txBody>
          <a:bodyPr wrap="square" lIns="0" tIns="0" rIns="0" bIns="0" rtlCol="0" anchor="ctr"/>
          <a:lstStyle/>
          <a:p>
            <a:pPr algn="l" indent="0" marL="0">
              <a:lnSpc>
                <a:spcPts val="2250"/>
              </a:lnSpc>
              <a:buNone/>
            </a:pPr>
            <a:r>
              <a:rPr lang="en-US" sz="1500" dirty="0">
                <a:solidFill>
                  <a:srgbClr val="211C13"/>
                </a:solidFill>
                <a:latin typeface="Noto Sans JP" pitchFamily="34" charset="0"/>
                <a:ea typeface="Noto Sans JP" pitchFamily="34" charset="-122"/>
                <a:cs typeface="Noto Sans JP" pitchFamily="34" charset="-120"/>
              </a:rPr>
              <a:t>「同じ入力でも、表示名がレンダリングされる道は1つではないかもしれません」</a:t>
            </a:r>
            <a:endParaRPr lang="en-US" sz="1500" dirty="0"/>
          </a:p>
        </p:txBody>
      </p:sp>
      <p:sp>
        <p:nvSpPr>
          <p:cNvPr id="28" name="Text 24"/>
          <p:cNvSpPr txBox="1"/>
          <p:nvPr/>
        </p:nvSpPr>
        <p:spPr>
          <a:xfrm>
            <a:off x="2971800" y="7487107"/>
            <a:ext cx="14287500" cy="171907"/>
          </a:xfrm>
          <a:prstGeom prst="rect">
            <a:avLst/>
          </a:prstGeom>
          <a:noFill/>
          <a:ln/>
        </p:spPr>
        <p:txBody>
          <a:bodyPr wrap="none" lIns="0" tIns="0" rIns="0" bIns="0" rtlCol="0" anchor="ctr"/>
          <a:lstStyle/>
          <a:p>
            <a:pPr algn="l" indent="0" marL="0">
              <a:buNone/>
            </a:pPr>
            <a:r>
              <a:rPr lang="en-US" sz="1050" spc="189" kern="0" dirty="0">
                <a:solidFill>
                  <a:srgbClr val="D4922A"/>
                </a:solidFill>
                <a:latin typeface="JetBrains Mono" pitchFamily="34" charset="0"/>
                <a:ea typeface="JetBrains Mono" pitchFamily="34" charset="-122"/>
                <a:cs typeface="JetBrains Mono" pitchFamily="34" charset="-120"/>
              </a:rPr>
              <a:t>QUIETLY NOTE</a:t>
            </a:r>
            <a:endParaRPr lang="en-US" sz="1050" dirty="0"/>
          </a:p>
        </p:txBody>
      </p:sp>
      <p:sp>
        <p:nvSpPr>
          <p:cNvPr id="29" name="Text 25"/>
          <p:cNvSpPr txBox="1"/>
          <p:nvPr/>
        </p:nvSpPr>
        <p:spPr>
          <a:xfrm>
            <a:off x="2971800" y="7755026"/>
            <a:ext cx="14287500" cy="694030"/>
          </a:xfrm>
          <a:prstGeom prst="rect">
            <a:avLst/>
          </a:prstGeom>
          <a:noFill/>
          <a:ln/>
        </p:spPr>
        <p:txBody>
          <a:bodyPr wrap="square" lIns="0" tIns="0" rIns="0" bIns="0" rtlCol="0" anchor="t"/>
          <a:lstStyle/>
          <a:p>
            <a:pPr algn="l" indent="0" marL="0">
              <a:lnSpc>
                <a:spcPts val="2558"/>
              </a:lnSpc>
              <a:buNone/>
            </a:pPr>
            <a:r>
              <a:rPr lang="en-US" sz="1650" dirty="0">
                <a:solidFill>
                  <a:srgbClr val="F5EFDD"/>
                </a:solidFill>
                <a:latin typeface="Noto Sans JP" pitchFamily="34" charset="0"/>
                <a:ea typeface="Noto Sans JP" pitchFamily="34" charset="-122"/>
                <a:cs typeface="Noto Sans JP" pitchFamily="34" charset="-120"/>
              </a:rPr>
              <a:t>観察メモ：保存後に Network で GET されるランキングのレスポンスに、自分の入力がそのまま文字列として含まれているか、</a:t>
            </a:r>
            <a:pPr algn="l" indent="0" marL="0">
              <a:lnSpc>
                <a:spcPts val="2558"/>
              </a:lnSpc>
              <a:buNone/>
            </a:pPr>
            <a:endParaRPr lang="en-US" sz="1650" dirty="0"/>
          </a:p>
          <a:p>
            <a:pPr algn="l" indent="0" marL="0">
              <a:lnSpc>
                <a:spcPts val="2558"/>
              </a:lnSpc>
              <a:buNone/>
            </a:pPr>
            <a:r>
              <a:rPr lang="en-US" sz="1650" dirty="0">
                <a:solidFill>
                  <a:srgbClr val="F5EFDD"/>
                </a:solidFill>
                <a:latin typeface="Noto Sans JP" pitchFamily="34" charset="0"/>
                <a:ea typeface="Noto Sans JP" pitchFamily="34" charset="-122"/>
                <a:cs typeface="Noto Sans JP" pitchFamily="34" charset="-120"/>
              </a:rPr>
              <a:t>別フィールドとして含まれているかを一度書き留めておきます。</a:t>
            </a:r>
            <a:endParaRPr lang="en-US" sz="1650" dirty="0"/>
          </a:p>
        </p:txBody>
      </p:sp>
      <p:pic>
        <p:nvPicPr>
          <p:cNvPr id="30" name="Image 1" descr="gen-dedup-ff3b843c62efd2578b331bdfc9bb7c8f.png">    </p:cNvPr>
          <p:cNvPicPr>
            <a:picLocks noChangeAspect="1"/>
          </p:cNvPicPr>
          <p:nvPr/>
        </p:nvPicPr>
        <p:blipFill>
          <a:blip r:embed="rId2"/>
          <a:srcRect l="-2083" r="-2083" t="0" b="0"/>
          <a:stretch/>
        </p:blipFill>
        <p:spPr>
          <a:xfrm>
            <a:off x="914400" y="9334195"/>
            <a:ext cx="16459200" cy="9144"/>
          </a:xfrm>
          <a:prstGeom prst="rect">
            <a:avLst/>
          </a:prstGeom>
        </p:spPr>
      </p:pic>
      <p:sp>
        <p:nvSpPr>
          <p:cNvPr id="31" name="Text 26"/>
          <p:cNvSpPr txBox="1"/>
          <p:nvPr/>
        </p:nvSpPr>
        <p:spPr>
          <a:xfrm>
            <a:off x="2667305" y="914400"/>
            <a:ext cx="14287500" cy="219456"/>
          </a:xfrm>
          <a:prstGeom prst="rect">
            <a:avLst/>
          </a:prstGeom>
          <a:noFill/>
          <a:ln/>
        </p:spPr>
        <p:txBody>
          <a:bodyPr wrap="none" lIns="0" tIns="0" rIns="0" bIns="0" rtlCol="0" anchor="ctr"/>
          <a:lstStyle/>
          <a:p>
            <a:pPr algn="l" indent="0" marL="0">
              <a:buNone/>
            </a:pPr>
            <a:r>
              <a:rPr lang="en-US" sz="1350" spc="324" kern="0" dirty="0">
                <a:solidFill>
                  <a:srgbClr val="B4791F"/>
                </a:solidFill>
                <a:latin typeface="JetBrains Mono" pitchFamily="34" charset="0"/>
                <a:ea typeface="JetBrains Mono" pitchFamily="34" charset="-122"/>
                <a:cs typeface="JetBrains Mono" pitchFamily="34" charset="-120"/>
              </a:rPr>
              <a:t>Hint · 1 of 3</a:t>
            </a:r>
            <a:endParaRPr lang="en-US" sz="1350" dirty="0"/>
          </a:p>
        </p:txBody>
      </p:sp>
      <p:sp>
        <p:nvSpPr>
          <p:cNvPr id="32" name="Text 27"/>
          <p:cNvSpPr txBox="1"/>
          <p:nvPr/>
        </p:nvSpPr>
        <p:spPr>
          <a:xfrm>
            <a:off x="2667305" y="1228954"/>
            <a:ext cx="14287500" cy="838505"/>
          </a:xfrm>
          <a:prstGeom prst="rect">
            <a:avLst/>
          </a:prstGeom>
          <a:noFill/>
          <a:ln/>
        </p:spPr>
        <p:txBody>
          <a:bodyPr wrap="none" lIns="0" tIns="0" rIns="0" bIns="0" rtlCol="0" anchor="ctr"/>
          <a:lstStyle/>
          <a:p>
            <a:pPr algn="l" indent="0" marL="0">
              <a:buNone/>
            </a:pPr>
            <a:r>
              <a:rPr lang="en-US" sz="6600" b="1" spc="-132" kern="0" dirty="0">
                <a:solidFill>
                  <a:srgbClr val="211C13"/>
                </a:solidFill>
                <a:latin typeface="Zen Kaku Gothic Antique" pitchFamily="34" charset="0"/>
                <a:ea typeface="Zen Kaku Gothic Antique" pitchFamily="34" charset="-122"/>
                <a:cs typeface="Zen Kaku Gothic Antique" pitchFamily="34" charset="-120"/>
              </a:rPr>
              <a:t>経路を、点で切ってみる。</a:t>
            </a:r>
            <a:endParaRPr lang="en-US" sz="6600" dirty="0"/>
          </a:p>
        </p:txBody>
      </p:sp>
      <p:sp>
        <p:nvSpPr>
          <p:cNvPr id="33" name="Text 28"/>
          <p:cNvSpPr txBox="1"/>
          <p:nvPr/>
        </p:nvSpPr>
        <p:spPr>
          <a:xfrm>
            <a:off x="2667305" y="9562795"/>
            <a:ext cx="9525305" cy="228600"/>
          </a:xfrm>
          <a:prstGeom prst="rect">
            <a:avLst/>
          </a:prstGeom>
          <a:noFill/>
          <a:ln/>
        </p:spPr>
        <p:txBody>
          <a:bodyPr wrap="none" lIns="0" tIns="0" rIns="0" bIns="0" rtlCol="0" anchor="ctr"/>
          <a:lstStyle/>
          <a:p>
            <a:pPr algn="l" indent="0" marL="0">
              <a:buNone/>
            </a:pPr>
            <a:r>
              <a:rPr lang="en-US" sz="1200" spc="72" kern="0" dirty="0">
                <a:solidFill>
                  <a:srgbClr val="5A4F3F"/>
                </a:solidFill>
                <a:latin typeface="JetBrains Mono" pitchFamily="34" charset="0"/>
                <a:ea typeface="JetBrains Mono" pitchFamily="34" charset="-122"/>
                <a:cs typeface="JetBrains Mono" pitchFamily="34" charset="-120"/>
              </a:rPr>
              <a:t>ヒント2/3 と 3/3 は参加者の進捗に応じて順次公開</a:t>
            </a:r>
            <a:endParaRPr lang="en-US" sz="1200" dirty="0"/>
          </a:p>
        </p:txBody>
      </p:sp>
      <p:sp>
        <p:nvSpPr>
          <p:cNvPr id="34" name="Text 29"/>
          <p:cNvSpPr txBox="1"/>
          <p:nvPr/>
        </p:nvSpPr>
        <p:spPr>
          <a:xfrm>
            <a:off x="15468905" y="9562795"/>
            <a:ext cx="1905610" cy="200254"/>
          </a:xfrm>
          <a:prstGeom prst="rect">
            <a:avLst/>
          </a:prstGeom>
          <a:noFill/>
          <a:ln/>
        </p:spPr>
        <p:txBody>
          <a:bodyPr wrap="none" lIns="0" tIns="0" rIns="0" bIns="0" rtlCol="0" anchor="ctr"/>
          <a:lstStyle/>
          <a:p>
            <a:pPr algn="r" indent="0" marL="0">
              <a:buNone/>
            </a:pPr>
            <a:r>
              <a:rPr lang="en-US" sz="1200" spc="72" kern="0" dirty="0">
                <a:solidFill>
                  <a:srgbClr val="5A4F3F"/>
                </a:solidFill>
                <a:latin typeface="JetBrains Mono" pitchFamily="34" charset="0"/>
                <a:ea typeface="JetBrains Mono" pitchFamily="34" charset="-122"/>
                <a:cs typeface="JetBrains Mono" pitchFamily="34" charset="-120"/>
              </a:rPr>
              <a:t>17 / 32</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FE7D4"/>
        </a:solidFill>
      </p:bgPr>
    </p:bg>
    <p:spTree>
      <p:nvGrpSpPr>
        <p:cNvPr id="1" name=""/>
        <p:cNvGrpSpPr/>
        <p:nvPr/>
      </p:nvGrpSpPr>
      <p:grpSpPr>
        <a:xfrm>
          <a:off x="0" y="0"/>
          <a:ext cx="0" cy="0"/>
          <a:chOff x="0" y="0"/>
          <a:chExt cx="0" cy="0"/>
        </a:xfrm>
      </p:grpSpPr>
      <p:sp>
        <p:nvSpPr>
          <p:cNvPr id="3" name="Shape 0"/>
          <p:cNvSpPr/>
          <p:nvPr/>
        </p:nvSpPr>
        <p:spPr>
          <a:xfrm>
            <a:off x="0" y="0"/>
            <a:ext cx="1904695" cy="10287000"/>
          </a:xfrm>
          <a:prstGeom prst="rect">
            <a:avLst/>
          </a:prstGeom>
          <a:solidFill>
            <a:srgbClr val="B4791F"/>
          </a:solidFill>
          <a:ln w="12700">
            <a:solidFill>
              <a:srgbClr val="FFFFFF">
                <a:alpha val="0"/>
              </a:srgbClr>
            </a:solidFill>
            <a:prstDash val="solid"/>
          </a:ln>
        </p:spPr>
      </p:sp>
      <p:sp>
        <p:nvSpPr>
          <p:cNvPr id="4" name="Shape 1"/>
          <p:cNvSpPr/>
          <p:nvPr/>
        </p:nvSpPr>
        <p:spPr>
          <a:xfrm>
            <a:off x="2667305" y="2857500"/>
            <a:ext cx="7239305" cy="5524805"/>
          </a:xfrm>
          <a:prstGeom prst="roundRect">
            <a:avLst>
              <a:gd name="adj" fmla="val 695"/>
            </a:avLst>
          </a:prstGeom>
          <a:solidFill>
            <a:srgbClr val="1B1F25"/>
          </a:solidFill>
          <a:ln w="12700">
            <a:solidFill>
              <a:srgbClr val="FFFFFF">
                <a:alpha val="0"/>
              </a:srgbClr>
            </a:solidFill>
            <a:prstDash val="solid"/>
          </a:ln>
        </p:spPr>
      </p:sp>
      <p:sp>
        <p:nvSpPr>
          <p:cNvPr id="5" name="Shape 2"/>
          <p:cNvSpPr/>
          <p:nvPr/>
        </p:nvSpPr>
        <p:spPr>
          <a:xfrm>
            <a:off x="10287000" y="2857500"/>
            <a:ext cx="7239305" cy="5524805"/>
          </a:xfrm>
          <a:prstGeom prst="roundRect">
            <a:avLst>
              <a:gd name="adj" fmla="val 695"/>
            </a:avLst>
          </a:prstGeom>
          <a:solidFill>
            <a:srgbClr val="1B1F25"/>
          </a:solidFill>
          <a:ln w="12700">
            <a:solidFill>
              <a:srgbClr val="FFFFFF">
                <a:alpha val="0"/>
              </a:srgbClr>
            </a:solidFill>
            <a:prstDash val="solid"/>
          </a:ln>
        </p:spPr>
      </p:sp>
      <p:sp>
        <p:nvSpPr>
          <p:cNvPr id="6" name="Text 3"/>
          <p:cNvSpPr txBox="1"/>
          <p:nvPr/>
        </p:nvSpPr>
        <p:spPr>
          <a:xfrm>
            <a:off x="228600" y="914400"/>
            <a:ext cx="1524305" cy="171907"/>
          </a:xfrm>
          <a:prstGeom prst="rect">
            <a:avLst/>
          </a:prstGeom>
          <a:noFill/>
          <a:ln/>
        </p:spPr>
        <p:txBody>
          <a:bodyPr wrap="none" lIns="0" tIns="0" rIns="0" bIns="0" rtlCol="0" anchor="ctr"/>
          <a:lstStyle/>
          <a:p>
            <a:pPr algn="l" indent="0" marL="0">
              <a:buNone/>
            </a:pPr>
            <a:r>
              <a:rPr lang="en-US" sz="1050" spc="231" kern="0" dirty="0">
                <a:solidFill>
                  <a:srgbClr val="F5EFDD"/>
                </a:solidFill>
                <a:latin typeface="JetBrains Mono" pitchFamily="34" charset="0"/>
                <a:ea typeface="JetBrains Mono" pitchFamily="34" charset="-122"/>
                <a:cs typeface="JetBrains Mono" pitchFamily="34" charset="-120"/>
              </a:rPr>
              <a:t>HINT</a:t>
            </a:r>
            <a:endParaRPr lang="en-US" sz="1050" dirty="0"/>
          </a:p>
        </p:txBody>
      </p:sp>
      <p:sp>
        <p:nvSpPr>
          <p:cNvPr id="7" name="Text 4"/>
          <p:cNvSpPr txBox="1"/>
          <p:nvPr/>
        </p:nvSpPr>
        <p:spPr>
          <a:xfrm>
            <a:off x="228600" y="1143000"/>
            <a:ext cx="1786738" cy="876910"/>
          </a:xfrm>
          <a:prstGeom prst="rect">
            <a:avLst/>
          </a:prstGeom>
          <a:noFill/>
          <a:ln/>
        </p:spPr>
        <p:txBody>
          <a:bodyPr wrap="none" lIns="0" tIns="0" rIns="0" bIns="0" rtlCol="0" anchor="ctr"/>
          <a:lstStyle/>
          <a:p>
            <a:pPr algn="l" indent="0" marL="0">
              <a:buNone/>
            </a:pPr>
            <a:r>
              <a:rPr lang="en-US" sz="7200" b="1" spc="-144" kern="0" dirty="0">
                <a:solidFill>
                  <a:srgbClr val="F5EFDD"/>
                </a:solidFill>
                <a:latin typeface="Zen Kaku Gothic Antique" pitchFamily="34" charset="0"/>
                <a:ea typeface="Zen Kaku Gothic Antique" pitchFamily="34" charset="-122"/>
                <a:cs typeface="Zen Kaku Gothic Antique" pitchFamily="34" charset="-120"/>
              </a:rPr>
              <a:t>2/3</a:t>
            </a:r>
            <a:endParaRPr lang="en-US" sz="7200" dirty="0"/>
          </a:p>
        </p:txBody>
      </p:sp>
      <p:pic>
        <p:nvPicPr>
          <p:cNvPr id="8" name="Image 0" descr="gen-dedup-2173e259c8f89e09f8a89067735d6b02.png">    </p:cNvPr>
          <p:cNvPicPr>
            <a:picLocks noChangeAspect="1"/>
          </p:cNvPicPr>
          <p:nvPr/>
        </p:nvPicPr>
        <p:blipFill>
          <a:blip r:embed="rId1"/>
          <a:srcRect l="-404" r="-404" t="0" b="0"/>
          <a:stretch/>
        </p:blipFill>
        <p:spPr>
          <a:xfrm>
            <a:off x="228600" y="2182673"/>
            <a:ext cx="571500" cy="28346"/>
          </a:xfrm>
          <a:prstGeom prst="rect">
            <a:avLst/>
          </a:prstGeom>
        </p:spPr>
      </p:pic>
      <p:sp>
        <p:nvSpPr>
          <p:cNvPr id="9" name="Text 5"/>
          <p:cNvSpPr txBox="1"/>
          <p:nvPr/>
        </p:nvSpPr>
        <p:spPr>
          <a:xfrm>
            <a:off x="2971800" y="3143707"/>
            <a:ext cx="6667805" cy="191110"/>
          </a:xfrm>
          <a:prstGeom prst="rect">
            <a:avLst/>
          </a:prstGeom>
          <a:noFill/>
          <a:ln/>
        </p:spPr>
        <p:txBody>
          <a:bodyPr wrap="none" lIns="0" tIns="0" rIns="0" bIns="0" rtlCol="0" anchor="ctr"/>
          <a:lstStyle/>
          <a:p>
            <a:pPr algn="l" indent="0" marL="0">
              <a:buNone/>
            </a:pPr>
            <a:r>
              <a:rPr lang="en-US" sz="1050" spc="189" kern="0" dirty="0">
                <a:solidFill>
                  <a:srgbClr val="D4922A"/>
                </a:solidFill>
                <a:latin typeface="JetBrains Mono" pitchFamily="34" charset="0"/>
                <a:ea typeface="JetBrains Mono" pitchFamily="34" charset="-122"/>
                <a:cs typeface="JetBrains Mono" pitchFamily="34" charset="-120"/>
              </a:rPr>
              <a:t>プレビュー枠の見え方</a:t>
            </a:r>
            <a:endParaRPr lang="en-US" sz="1050" dirty="0"/>
          </a:p>
        </p:txBody>
      </p:sp>
      <p:sp>
        <p:nvSpPr>
          <p:cNvPr id="10" name="Text 6"/>
          <p:cNvSpPr txBox="1"/>
          <p:nvPr/>
        </p:nvSpPr>
        <p:spPr>
          <a:xfrm>
            <a:off x="2971800" y="3504895"/>
            <a:ext cx="6667805" cy="676656"/>
          </a:xfrm>
          <a:prstGeom prst="rect">
            <a:avLst/>
          </a:prstGeom>
          <a:noFill/>
          <a:ln/>
        </p:spPr>
        <p:txBody>
          <a:bodyPr wrap="square" lIns="0" tIns="0" rIns="0" bIns="0" rtlCol="0" anchor="ctr"/>
          <a:lstStyle/>
          <a:p>
            <a:pPr algn="l" indent="0" marL="0">
              <a:lnSpc>
                <a:spcPts val="2640"/>
              </a:lnSpc>
              <a:buNone/>
            </a:pPr>
            <a:r>
              <a:rPr lang="en-US" sz="1650" dirty="0">
                <a:solidFill>
                  <a:srgbClr val="ECE4D2"/>
                </a:solidFill>
                <a:latin typeface="JetBrains Mono" pitchFamily="34" charset="0"/>
                <a:ea typeface="JetBrains Mono" pitchFamily="34" charset="-122"/>
                <a:cs typeface="JetBrains Mono" pitchFamily="34" charset="-120"/>
              </a:rPr>
              <a:t>&lt;div id="preview"&gt; &lt;span class="name"&gt;山田 太郎&lt;/span&gt; &lt;/div&gt;</a:t>
            </a:r>
            <a:endParaRPr lang="en-US" sz="1650" dirty="0"/>
          </a:p>
        </p:txBody>
      </p:sp>
      <p:sp>
        <p:nvSpPr>
          <p:cNvPr id="11" name="Text 7"/>
          <p:cNvSpPr txBox="1"/>
          <p:nvPr/>
        </p:nvSpPr>
        <p:spPr>
          <a:xfrm>
            <a:off x="2971800" y="4347058"/>
            <a:ext cx="6667805" cy="295351"/>
          </a:xfrm>
          <a:prstGeom prst="rect">
            <a:avLst/>
          </a:prstGeom>
          <a:noFill/>
          <a:ln/>
        </p:spPr>
        <p:txBody>
          <a:bodyPr wrap="none" lIns="0" tIns="0" rIns="0" bIns="0" rtlCol="0" anchor="ctr"/>
          <a:lstStyle/>
          <a:p>
            <a:pPr algn="l" indent="0" marL="0">
              <a:buNone/>
            </a:pPr>
            <a:r>
              <a:rPr lang="en-US" sz="1500" dirty="0">
                <a:solidFill>
                  <a:srgbClr val="8A8170"/>
                </a:solidFill>
                <a:latin typeface="Noto Sans JP" pitchFamily="34" charset="0"/>
                <a:ea typeface="Noto Sans JP" pitchFamily="34" charset="-122"/>
                <a:cs typeface="Noto Sans JP" pitchFamily="34" charset="-120"/>
              </a:rPr>
              <a:t>文字列が</a:t>
            </a:r>
            <a:pPr algn="l" indent="0" marL="0">
              <a:buNone/>
            </a:pPr>
            <a:r>
              <a:rPr lang="en-US" sz="1500" b="1" dirty="0">
                <a:solidFill>
                  <a:srgbClr val="8A8170"/>
                </a:solidFill>
                <a:latin typeface="Noto Sans JP" pitchFamily="34" charset="0"/>
                <a:ea typeface="Noto Sans JP" pitchFamily="34" charset="-122"/>
                <a:cs typeface="Noto Sans JP" pitchFamily="34" charset="-120"/>
              </a:rPr>
              <a:t>テキストノード</a:t>
            </a:r>
            <a:pPr algn="l" indent="0" marL="0">
              <a:buNone/>
            </a:pPr>
            <a:r>
              <a:rPr lang="en-US" sz="1500" dirty="0">
                <a:solidFill>
                  <a:srgbClr val="8A8170"/>
                </a:solidFill>
                <a:latin typeface="Noto Sans JP" pitchFamily="34" charset="0"/>
                <a:ea typeface="Noto Sans JP" pitchFamily="34" charset="-122"/>
                <a:cs typeface="Noto Sans JP" pitchFamily="34" charset="-120"/>
              </a:rPr>
              <a:t>として入っているなら、入力は安全側の扱い。</a:t>
            </a:r>
            <a:endParaRPr lang="en-US" sz="1500" dirty="0"/>
          </a:p>
        </p:txBody>
      </p:sp>
      <p:sp>
        <p:nvSpPr>
          <p:cNvPr id="12" name="Text 8"/>
          <p:cNvSpPr txBox="1"/>
          <p:nvPr/>
        </p:nvSpPr>
        <p:spPr>
          <a:xfrm>
            <a:off x="10591495" y="3143707"/>
            <a:ext cx="6667805" cy="191110"/>
          </a:xfrm>
          <a:prstGeom prst="rect">
            <a:avLst/>
          </a:prstGeom>
          <a:noFill/>
          <a:ln/>
        </p:spPr>
        <p:txBody>
          <a:bodyPr wrap="none" lIns="0" tIns="0" rIns="0" bIns="0" rtlCol="0" anchor="ctr"/>
          <a:lstStyle/>
          <a:p>
            <a:pPr algn="l" indent="0" marL="0">
              <a:buNone/>
            </a:pPr>
            <a:r>
              <a:rPr lang="en-US" sz="1050" spc="189" kern="0" dirty="0">
                <a:solidFill>
                  <a:srgbClr val="D4922A"/>
                </a:solidFill>
                <a:latin typeface="JetBrains Mono" pitchFamily="34" charset="0"/>
                <a:ea typeface="JetBrains Mono" pitchFamily="34" charset="-122"/>
                <a:cs typeface="JetBrains Mono" pitchFamily="34" charset="-120"/>
              </a:rPr>
              <a:t>ランキング該当行の見え方（模式図）</a:t>
            </a:r>
            <a:endParaRPr lang="en-US" sz="1050" dirty="0"/>
          </a:p>
        </p:txBody>
      </p:sp>
      <p:sp>
        <p:nvSpPr>
          <p:cNvPr id="13" name="Text 9"/>
          <p:cNvSpPr txBox="1"/>
          <p:nvPr/>
        </p:nvSpPr>
        <p:spPr>
          <a:xfrm>
            <a:off x="10591495" y="3504895"/>
            <a:ext cx="6667805" cy="1010412"/>
          </a:xfrm>
          <a:prstGeom prst="rect">
            <a:avLst/>
          </a:prstGeom>
          <a:noFill/>
          <a:ln/>
        </p:spPr>
        <p:txBody>
          <a:bodyPr wrap="square" lIns="0" tIns="0" rIns="0" bIns="0" rtlCol="0" anchor="ctr"/>
          <a:lstStyle/>
          <a:p>
            <a:pPr algn="l" indent="0" marL="0">
              <a:lnSpc>
                <a:spcPts val="2640"/>
              </a:lnSpc>
              <a:buNone/>
            </a:pPr>
            <a:r>
              <a:rPr lang="en-US" sz="1650" dirty="0">
                <a:solidFill>
                  <a:srgbClr val="ECE4D2"/>
                </a:solidFill>
                <a:latin typeface="JetBrains Mono" pitchFamily="34" charset="0"/>
                <a:ea typeface="JetBrains Mono" pitchFamily="34" charset="-122"/>
                <a:cs typeface="JetBrains Mono" pitchFamily="34" charset="-120"/>
              </a:rPr>
              <a:t>&lt;li class="rank-row"&gt; &lt;span class="rank"&gt;3&lt;/span&gt; &lt;span class="name"&gt; 山田 &lt;img onerror=...&gt; 太郎 &lt;/span&gt; &lt;/li&gt;</a:t>
            </a:r>
            <a:endParaRPr lang="en-US" sz="1650" dirty="0"/>
          </a:p>
        </p:txBody>
      </p:sp>
      <p:sp>
        <p:nvSpPr>
          <p:cNvPr id="14" name="Text 10"/>
          <p:cNvSpPr txBox="1"/>
          <p:nvPr/>
        </p:nvSpPr>
        <p:spPr>
          <a:xfrm>
            <a:off x="10591495" y="4648810"/>
            <a:ext cx="6667805" cy="623621"/>
          </a:xfrm>
          <a:prstGeom prst="rect">
            <a:avLst/>
          </a:prstGeom>
          <a:noFill/>
          <a:ln/>
        </p:spPr>
        <p:txBody>
          <a:bodyPr wrap="square" lIns="0" tIns="0" rIns="0" bIns="0" rtlCol="0" anchor="t"/>
          <a:lstStyle/>
          <a:p>
            <a:pPr algn="l" indent="0" marL="0">
              <a:lnSpc>
                <a:spcPts val="2325"/>
              </a:lnSpc>
              <a:buNone/>
            </a:pPr>
            <a:r>
              <a:rPr lang="en-US" sz="1500" dirty="0">
                <a:solidFill>
                  <a:srgbClr val="8A8170"/>
                </a:solidFill>
                <a:latin typeface="Noto Sans JP" pitchFamily="34" charset="0"/>
                <a:ea typeface="Noto Sans JP" pitchFamily="34" charset="-122"/>
                <a:cs typeface="Noto Sans JP" pitchFamily="34" charset="-120"/>
              </a:rPr>
              <a:t>もし HTML としてそのまま解釈されているなら、</a:t>
            </a:r>
            <a:pPr algn="l" indent="0" marL="0">
              <a:lnSpc>
                <a:spcPts val="2325"/>
              </a:lnSpc>
              <a:buNone/>
            </a:pPr>
            <a:endParaRPr lang="en-US" sz="1500" dirty="0"/>
          </a:p>
          <a:p>
            <a:pPr algn="l" indent="0" marL="0">
              <a:lnSpc>
                <a:spcPts val="2325"/>
              </a:lnSpc>
              <a:buNone/>
            </a:pPr>
            <a:r>
              <a:rPr lang="en-US" sz="1500" dirty="0">
                <a:solidFill>
                  <a:srgbClr val="8A8170"/>
                </a:solidFill>
                <a:latin typeface="Noto Sans JP" pitchFamily="34" charset="0"/>
                <a:ea typeface="Noto Sans JP" pitchFamily="34" charset="-122"/>
                <a:cs typeface="Noto Sans JP" pitchFamily="34" charset="-120"/>
              </a:rPr>
              <a:t>ここで文字列はコードになって実行され得る。</a:t>
            </a:r>
            <a:endParaRPr lang="en-US" sz="1500" dirty="0"/>
          </a:p>
        </p:txBody>
      </p:sp>
      <p:pic>
        <p:nvPicPr>
          <p:cNvPr id="15" name="Image 1" descr="gen-dedup-ff3b843c62efd2578b331bdfc9bb7c8f.png">    </p:cNvPr>
          <p:cNvPicPr>
            <a:picLocks noChangeAspect="1"/>
          </p:cNvPicPr>
          <p:nvPr/>
        </p:nvPicPr>
        <p:blipFill>
          <a:blip r:embed="rId2"/>
          <a:srcRect l="-2083" r="-2083" t="0" b="0"/>
          <a:stretch/>
        </p:blipFill>
        <p:spPr>
          <a:xfrm>
            <a:off x="914400" y="9334195"/>
            <a:ext cx="16459200" cy="9144"/>
          </a:xfrm>
          <a:prstGeom prst="rect">
            <a:avLst/>
          </a:prstGeom>
        </p:spPr>
      </p:pic>
      <p:sp>
        <p:nvSpPr>
          <p:cNvPr id="16" name="Text 11"/>
          <p:cNvSpPr txBox="1"/>
          <p:nvPr/>
        </p:nvSpPr>
        <p:spPr>
          <a:xfrm>
            <a:off x="2667305" y="914400"/>
            <a:ext cx="14287500" cy="219456"/>
          </a:xfrm>
          <a:prstGeom prst="rect">
            <a:avLst/>
          </a:prstGeom>
          <a:noFill/>
          <a:ln/>
        </p:spPr>
        <p:txBody>
          <a:bodyPr wrap="none" lIns="0" tIns="0" rIns="0" bIns="0" rtlCol="0" anchor="ctr"/>
          <a:lstStyle/>
          <a:p>
            <a:pPr algn="l" indent="0" marL="0">
              <a:buNone/>
            </a:pPr>
            <a:r>
              <a:rPr lang="en-US" sz="1350" spc="324" kern="0" dirty="0">
                <a:solidFill>
                  <a:srgbClr val="B4791F"/>
                </a:solidFill>
                <a:latin typeface="JetBrains Mono" pitchFamily="34" charset="0"/>
                <a:ea typeface="JetBrains Mono" pitchFamily="34" charset="-122"/>
                <a:cs typeface="JetBrains Mono" pitchFamily="34" charset="-120"/>
              </a:rPr>
              <a:t>Hint · 2 of 3</a:t>
            </a:r>
            <a:endParaRPr lang="en-US" sz="1350" dirty="0"/>
          </a:p>
        </p:txBody>
      </p:sp>
      <p:sp>
        <p:nvSpPr>
          <p:cNvPr id="17" name="Text 12"/>
          <p:cNvSpPr txBox="1"/>
          <p:nvPr/>
        </p:nvSpPr>
        <p:spPr>
          <a:xfrm>
            <a:off x="2667305" y="1228954"/>
            <a:ext cx="14287500" cy="838505"/>
          </a:xfrm>
          <a:prstGeom prst="rect">
            <a:avLst/>
          </a:prstGeom>
          <a:noFill/>
          <a:ln/>
        </p:spPr>
        <p:txBody>
          <a:bodyPr wrap="none" lIns="0" tIns="0" rIns="0" bIns="0" rtlCol="0" anchor="ctr"/>
          <a:lstStyle/>
          <a:p>
            <a:pPr algn="l" indent="0" marL="0">
              <a:buNone/>
            </a:pPr>
            <a:r>
              <a:rPr lang="en-US" sz="6600" b="1" spc="-132" kern="0" dirty="0">
                <a:solidFill>
                  <a:srgbClr val="211C13"/>
                </a:solidFill>
                <a:latin typeface="Zen Kaku Gothic Antique" pitchFamily="34" charset="0"/>
                <a:ea typeface="Zen Kaku Gothic Antique" pitchFamily="34" charset="-122"/>
                <a:cs typeface="Zen Kaku Gothic Antique" pitchFamily="34" charset="-120"/>
              </a:rPr>
              <a:t>Elements パネルで HTML を覗く。</a:t>
            </a:r>
            <a:endParaRPr lang="en-US" sz="6600" dirty="0"/>
          </a:p>
        </p:txBody>
      </p:sp>
      <p:sp>
        <p:nvSpPr>
          <p:cNvPr id="18" name="Text 13"/>
          <p:cNvSpPr txBox="1"/>
          <p:nvPr/>
        </p:nvSpPr>
        <p:spPr>
          <a:xfrm>
            <a:off x="2667305" y="8667598"/>
            <a:ext cx="10478110" cy="314554"/>
          </a:xfrm>
          <a:prstGeom prst="rect">
            <a:avLst/>
          </a:prstGeom>
          <a:noFill/>
          <a:ln/>
        </p:spPr>
        <p:txBody>
          <a:bodyPr wrap="none" lIns="0" tIns="0" rIns="0" bIns="0" rtlCol="0" anchor="ctr"/>
          <a:lstStyle/>
          <a:p>
            <a:pPr algn="l" indent="0" marL="0">
              <a:buNone/>
            </a:pPr>
            <a:r>
              <a:rPr lang="en-US" sz="1650" dirty="0">
                <a:solidFill>
                  <a:srgbClr val="211C13"/>
                </a:solidFill>
                <a:latin typeface="Noto Sans JP" pitchFamily="34" charset="0"/>
                <a:ea typeface="Noto Sans JP" pitchFamily="34" charset="-122"/>
                <a:cs typeface="Noto Sans JP" pitchFamily="34" charset="-120"/>
              </a:rPr>
              <a:t>ランキングの該当ノードを Elements で展開して、入力した文字列の「扱い」を確認します。</a:t>
            </a:r>
            <a:endParaRPr lang="en-US" sz="1650" dirty="0"/>
          </a:p>
        </p:txBody>
      </p:sp>
      <p:sp>
        <p:nvSpPr>
          <p:cNvPr id="19" name="Text 14"/>
          <p:cNvSpPr txBox="1"/>
          <p:nvPr/>
        </p:nvSpPr>
        <p:spPr>
          <a:xfrm>
            <a:off x="2667305" y="9562795"/>
            <a:ext cx="9525305" cy="228600"/>
          </a:xfrm>
          <a:prstGeom prst="rect">
            <a:avLst/>
          </a:prstGeom>
          <a:noFill/>
          <a:ln/>
        </p:spPr>
        <p:txBody>
          <a:bodyPr wrap="none" lIns="0" tIns="0" rIns="0" bIns="0" rtlCol="0" anchor="ctr"/>
          <a:lstStyle/>
          <a:p>
            <a:pPr algn="l" indent="0" marL="0">
              <a:buNone/>
            </a:pPr>
            <a:r>
              <a:rPr lang="en-US" sz="1200" spc="72" kern="0" dirty="0">
                <a:solidFill>
                  <a:srgbClr val="5A4F3F"/>
                </a:solidFill>
                <a:latin typeface="JetBrains Mono" pitchFamily="34" charset="0"/>
                <a:ea typeface="JetBrains Mono" pitchFamily="34" charset="-122"/>
                <a:cs typeface="JetBrains Mono" pitchFamily="34" charset="-120"/>
              </a:rPr>
              <a:t>ヒント3/3 で確定的な入力へ進める · 模式的な見え方を知らない範囲で書いています</a:t>
            </a:r>
            <a:endParaRPr lang="en-US" sz="1200" dirty="0"/>
          </a:p>
        </p:txBody>
      </p:sp>
      <p:sp>
        <p:nvSpPr>
          <p:cNvPr id="20" name="Text 15"/>
          <p:cNvSpPr txBox="1"/>
          <p:nvPr/>
        </p:nvSpPr>
        <p:spPr>
          <a:xfrm>
            <a:off x="15468905" y="9562795"/>
            <a:ext cx="1905610" cy="200254"/>
          </a:xfrm>
          <a:prstGeom prst="rect">
            <a:avLst/>
          </a:prstGeom>
          <a:noFill/>
          <a:ln/>
        </p:spPr>
        <p:txBody>
          <a:bodyPr wrap="none" lIns="0" tIns="0" rIns="0" bIns="0" rtlCol="0" anchor="ctr"/>
          <a:lstStyle/>
          <a:p>
            <a:pPr algn="r" indent="0" marL="0">
              <a:buNone/>
            </a:pPr>
            <a:r>
              <a:rPr lang="en-US" sz="1200" spc="72" kern="0" dirty="0">
                <a:solidFill>
                  <a:srgbClr val="5A4F3F"/>
                </a:solidFill>
                <a:latin typeface="JetBrains Mono" pitchFamily="34" charset="0"/>
                <a:ea typeface="JetBrains Mono" pitchFamily="34" charset="-122"/>
                <a:cs typeface="JetBrains Mono" pitchFamily="34" charset="-120"/>
              </a:rPr>
              <a:t>18 / 32</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FE7D4"/>
        </a:solidFill>
      </p:bgPr>
    </p:bg>
    <p:spTree>
      <p:nvGrpSpPr>
        <p:cNvPr id="1" name=""/>
        <p:cNvGrpSpPr/>
        <p:nvPr/>
      </p:nvGrpSpPr>
      <p:grpSpPr>
        <a:xfrm>
          <a:off x="0" y="0"/>
          <a:ext cx="0" cy="0"/>
          <a:chOff x="0" y="0"/>
          <a:chExt cx="0" cy="0"/>
        </a:xfrm>
      </p:grpSpPr>
      <p:sp>
        <p:nvSpPr>
          <p:cNvPr id="3" name="Shape 0"/>
          <p:cNvSpPr/>
          <p:nvPr/>
        </p:nvSpPr>
        <p:spPr>
          <a:xfrm>
            <a:off x="0" y="0"/>
            <a:ext cx="1904695" cy="10287000"/>
          </a:xfrm>
          <a:prstGeom prst="rect">
            <a:avLst/>
          </a:prstGeom>
          <a:solidFill>
            <a:srgbClr val="B4791F"/>
          </a:solidFill>
          <a:ln w="12700">
            <a:solidFill>
              <a:srgbClr val="FFFFFF">
                <a:alpha val="0"/>
              </a:srgbClr>
            </a:solidFill>
            <a:prstDash val="solid"/>
          </a:ln>
        </p:spPr>
      </p:sp>
      <p:sp>
        <p:nvSpPr>
          <p:cNvPr id="4" name="Shape 1"/>
          <p:cNvSpPr/>
          <p:nvPr/>
        </p:nvSpPr>
        <p:spPr>
          <a:xfrm>
            <a:off x="2667305" y="2667305"/>
            <a:ext cx="10477195" cy="6476695"/>
          </a:xfrm>
          <a:prstGeom prst="roundRect">
            <a:avLst>
              <a:gd name="adj" fmla="val 593"/>
            </a:avLst>
          </a:prstGeom>
          <a:solidFill>
            <a:srgbClr val="E5DBC4"/>
          </a:solidFill>
          <a:ln w="12700">
            <a:solidFill>
              <a:srgbClr val="FFFFFF">
                <a:alpha val="0"/>
              </a:srgbClr>
            </a:solidFill>
            <a:prstDash val="solid"/>
          </a:ln>
        </p:spPr>
      </p:sp>
      <p:sp>
        <p:nvSpPr>
          <p:cNvPr id="5" name="Shape 2"/>
          <p:cNvSpPr/>
          <p:nvPr/>
        </p:nvSpPr>
        <p:spPr>
          <a:xfrm>
            <a:off x="13525805" y="2667305"/>
            <a:ext cx="4000500" cy="6476695"/>
          </a:xfrm>
          <a:prstGeom prst="roundRect">
            <a:avLst>
              <a:gd name="adj" fmla="val 960"/>
            </a:avLst>
          </a:prstGeom>
          <a:solidFill>
            <a:srgbClr val="1B1F25"/>
          </a:solidFill>
          <a:ln w="12700">
            <a:solidFill>
              <a:srgbClr val="FFFFFF">
                <a:alpha val="0"/>
              </a:srgbClr>
            </a:solidFill>
            <a:prstDash val="solid"/>
          </a:ln>
        </p:spPr>
      </p:sp>
      <p:sp>
        <p:nvSpPr>
          <p:cNvPr id="6" name="Text 3"/>
          <p:cNvSpPr txBox="1"/>
          <p:nvPr/>
        </p:nvSpPr>
        <p:spPr>
          <a:xfrm>
            <a:off x="228600" y="914400"/>
            <a:ext cx="1524305" cy="171907"/>
          </a:xfrm>
          <a:prstGeom prst="rect">
            <a:avLst/>
          </a:prstGeom>
          <a:noFill/>
          <a:ln/>
        </p:spPr>
        <p:txBody>
          <a:bodyPr wrap="none" lIns="0" tIns="0" rIns="0" bIns="0" rtlCol="0" anchor="ctr"/>
          <a:lstStyle/>
          <a:p>
            <a:pPr algn="l" indent="0" marL="0">
              <a:buNone/>
            </a:pPr>
            <a:r>
              <a:rPr lang="en-US" sz="1050" spc="231" kern="0" dirty="0">
                <a:solidFill>
                  <a:srgbClr val="F5EFDD"/>
                </a:solidFill>
                <a:latin typeface="JetBrains Mono" pitchFamily="34" charset="0"/>
                <a:ea typeface="JetBrains Mono" pitchFamily="34" charset="-122"/>
                <a:cs typeface="JetBrains Mono" pitchFamily="34" charset="-120"/>
              </a:rPr>
              <a:t>HINT</a:t>
            </a:r>
            <a:endParaRPr lang="en-US" sz="1050" dirty="0"/>
          </a:p>
        </p:txBody>
      </p:sp>
      <p:sp>
        <p:nvSpPr>
          <p:cNvPr id="7" name="Text 4"/>
          <p:cNvSpPr txBox="1"/>
          <p:nvPr/>
        </p:nvSpPr>
        <p:spPr>
          <a:xfrm>
            <a:off x="228600" y="1143000"/>
            <a:ext cx="1786738" cy="876910"/>
          </a:xfrm>
          <a:prstGeom prst="rect">
            <a:avLst/>
          </a:prstGeom>
          <a:noFill/>
          <a:ln/>
        </p:spPr>
        <p:txBody>
          <a:bodyPr wrap="none" lIns="0" tIns="0" rIns="0" bIns="0" rtlCol="0" anchor="ctr"/>
          <a:lstStyle/>
          <a:p>
            <a:pPr algn="l" indent="0" marL="0">
              <a:buNone/>
            </a:pPr>
            <a:r>
              <a:rPr lang="en-US" sz="7200" b="1" spc="-144" kern="0" dirty="0">
                <a:solidFill>
                  <a:srgbClr val="F5EFDD"/>
                </a:solidFill>
                <a:latin typeface="Zen Kaku Gothic Antique" pitchFamily="34" charset="0"/>
                <a:ea typeface="Zen Kaku Gothic Antique" pitchFamily="34" charset="-122"/>
                <a:cs typeface="Zen Kaku Gothic Antique" pitchFamily="34" charset="-120"/>
              </a:rPr>
              <a:t>3/3</a:t>
            </a:r>
            <a:endParaRPr lang="en-US" sz="7200" dirty="0"/>
          </a:p>
        </p:txBody>
      </p:sp>
      <p:pic>
        <p:nvPicPr>
          <p:cNvPr id="8" name="Image 0" descr="gen-dedup-2173e259c8f89e09f8a89067735d6b02.png">    </p:cNvPr>
          <p:cNvPicPr>
            <a:picLocks noChangeAspect="1"/>
          </p:cNvPicPr>
          <p:nvPr/>
        </p:nvPicPr>
        <p:blipFill>
          <a:blip r:embed="rId1"/>
          <a:srcRect l="-404" r="-404" t="0" b="0"/>
          <a:stretch/>
        </p:blipFill>
        <p:spPr>
          <a:xfrm>
            <a:off x="228600" y="2182673"/>
            <a:ext cx="571500" cy="28346"/>
          </a:xfrm>
          <a:prstGeom prst="rect">
            <a:avLst/>
          </a:prstGeom>
        </p:spPr>
      </p:pic>
      <p:sp>
        <p:nvSpPr>
          <p:cNvPr id="9" name="Text 5"/>
          <p:cNvSpPr txBox="1"/>
          <p:nvPr/>
        </p:nvSpPr>
        <p:spPr>
          <a:xfrm>
            <a:off x="2971800" y="2952598"/>
            <a:ext cx="9906610" cy="191110"/>
          </a:xfrm>
          <a:prstGeom prst="rect">
            <a:avLst/>
          </a:prstGeom>
          <a:noFill/>
          <a:ln/>
        </p:spPr>
        <p:txBody>
          <a:bodyPr wrap="none" lIns="0" tIns="0" rIns="0" bIns="0" rtlCol="0" anchor="ctr"/>
          <a:lstStyle/>
          <a:p>
            <a:pPr algn="l" indent="0" marL="0">
              <a:buNone/>
            </a:pPr>
            <a:r>
              <a:rPr lang="en-US" sz="1050" spc="189" kern="0" dirty="0">
                <a:solidFill>
                  <a:srgbClr val="B4791F"/>
                </a:solidFill>
                <a:latin typeface="JetBrains Mono" pitchFamily="34" charset="0"/>
                <a:ea typeface="JetBrains Mono" pitchFamily="34" charset="-122"/>
                <a:cs typeface="JetBrains Mono" pitchFamily="34" charset="-120"/>
              </a:rPr>
              <a:t>発想の転換</a:t>
            </a:r>
            <a:endParaRPr lang="en-US" sz="1050" dirty="0"/>
          </a:p>
        </p:txBody>
      </p:sp>
      <p:sp>
        <p:nvSpPr>
          <p:cNvPr id="10" name="Text 6"/>
          <p:cNvSpPr txBox="1"/>
          <p:nvPr/>
        </p:nvSpPr>
        <p:spPr>
          <a:xfrm>
            <a:off x="2971800" y="3271723"/>
            <a:ext cx="9906610" cy="1196035"/>
          </a:xfrm>
          <a:prstGeom prst="rect">
            <a:avLst/>
          </a:prstGeom>
          <a:noFill/>
          <a:ln/>
        </p:spPr>
        <p:txBody>
          <a:bodyPr wrap="square" lIns="0" tIns="0" rIns="0" bIns="0" rtlCol="0" anchor="t"/>
          <a:lstStyle/>
          <a:p>
            <a:pPr algn="l" indent="0" marL="0">
              <a:lnSpc>
                <a:spcPts val="3023"/>
              </a:lnSpc>
              <a:buNone/>
            </a:pPr>
            <a:r>
              <a:rPr lang="en-US" sz="1950" dirty="0">
                <a:solidFill>
                  <a:srgbClr val="211C13"/>
                </a:solidFill>
                <a:latin typeface="Noto Sans JP" pitchFamily="34" charset="0"/>
                <a:ea typeface="Noto Sans JP" pitchFamily="34" charset="-122"/>
                <a:cs typeface="Noto Sans JP" pitchFamily="34" charset="-120"/>
              </a:rPr>
              <a:t>ランキングの表示枠に、自分の保存名がレンダリングされる。</a:t>
            </a:r>
            <a:pPr algn="l" indent="0" marL="0">
              <a:lnSpc>
                <a:spcPts val="3023"/>
              </a:lnSpc>
              <a:buNone/>
            </a:pPr>
            <a:endParaRPr lang="en-US" sz="1950" dirty="0"/>
          </a:p>
          <a:p>
            <a:pPr algn="l" indent="0" marL="0">
              <a:lnSpc>
                <a:spcPts val="3023"/>
              </a:lnSpc>
              <a:buNone/>
            </a:pPr>
            <a:r>
              <a:rPr lang="en-US" sz="1950" dirty="0">
                <a:solidFill>
                  <a:srgbClr val="211C13"/>
                </a:solidFill>
                <a:latin typeface="Noto Sans JP" pitchFamily="34" charset="0"/>
                <a:ea typeface="Noto Sans JP" pitchFamily="34" charset="-122"/>
                <a:cs typeface="Noto Sans JP" pitchFamily="34" charset="-120"/>
              </a:rPr>
              <a:t>もしそこで</a:t>
            </a:r>
            <a:pPr algn="l" indent="0" marL="0">
              <a:lnSpc>
                <a:spcPts val="3023"/>
              </a:lnSpc>
              <a:buNone/>
            </a:pPr>
            <a:r>
              <a:rPr lang="en-US" sz="1950" b="1" dirty="0">
                <a:solidFill>
                  <a:srgbClr val="211C13"/>
                </a:solidFill>
                <a:latin typeface="Noto Sans JP" pitchFamily="34" charset="0"/>
                <a:ea typeface="Noto Sans JP" pitchFamily="34" charset="-122"/>
                <a:cs typeface="Noto Sans JP" pitchFamily="34" charset="-120"/>
              </a:rPr>
              <a:t>コードが実行される余地</a:t>
            </a:r>
            <a:pPr algn="l" indent="0" marL="0">
              <a:lnSpc>
                <a:spcPts val="3023"/>
              </a:lnSpc>
              <a:buNone/>
            </a:pPr>
            <a:r>
              <a:rPr lang="en-US" sz="1950" dirty="0">
                <a:solidFill>
                  <a:srgbClr val="211C13"/>
                </a:solidFill>
                <a:latin typeface="Noto Sans JP" pitchFamily="34" charset="0"/>
                <a:ea typeface="Noto Sans JP" pitchFamily="34" charset="-122"/>
                <a:cs typeface="Noto Sans JP" pitchFamily="34" charset="-120"/>
              </a:rPr>
              <a:t>があるなら、</a:t>
            </a:r>
            <a:pPr algn="l" indent="0" marL="0">
              <a:lnSpc>
                <a:spcPts val="3023"/>
              </a:lnSpc>
              <a:buNone/>
            </a:pPr>
            <a:endParaRPr lang="en-US" sz="1950" dirty="0"/>
          </a:p>
          <a:p>
            <a:pPr algn="l" indent="0" marL="0">
              <a:lnSpc>
                <a:spcPts val="3023"/>
              </a:lnSpc>
              <a:buNone/>
            </a:pPr>
            <a:r>
              <a:rPr lang="en-US" sz="1950" dirty="0">
                <a:solidFill>
                  <a:srgbClr val="211C13"/>
                </a:solidFill>
                <a:latin typeface="Noto Sans JP" pitchFamily="34" charset="0"/>
                <a:ea typeface="Noto Sans JP" pitchFamily="34" charset="-122"/>
                <a:cs typeface="Noto Sans JP" pitchFamily="34" charset="-120"/>
              </a:rPr>
              <a:t>そこに教材で用意された関数呼び出しを「保存する」だけで十分かもしれない。</a:t>
            </a:r>
            <a:endParaRPr lang="en-US" sz="1950" dirty="0"/>
          </a:p>
        </p:txBody>
      </p:sp>
      <p:pic>
        <p:nvPicPr>
          <p:cNvPr id="11" name="Image 1" descr="gen-dedup-55550f065aa99c524fb5a447f8c28625.png">    </p:cNvPr>
          <p:cNvPicPr>
            <a:picLocks noChangeAspect="1"/>
          </p:cNvPicPr>
          <p:nvPr/>
        </p:nvPicPr>
        <p:blipFill>
          <a:blip r:embed="rId2"/>
          <a:srcRect l="-2083" r="-2083" t="0" b="0"/>
          <a:stretch/>
        </p:blipFill>
        <p:spPr>
          <a:xfrm>
            <a:off x="2971800" y="4732934"/>
            <a:ext cx="9905695" cy="9144"/>
          </a:xfrm>
          <a:prstGeom prst="rect">
            <a:avLst/>
          </a:prstGeom>
        </p:spPr>
      </p:pic>
      <p:sp>
        <p:nvSpPr>
          <p:cNvPr id="12" name="Text 7"/>
          <p:cNvSpPr txBox="1"/>
          <p:nvPr/>
        </p:nvSpPr>
        <p:spPr>
          <a:xfrm>
            <a:off x="2971800" y="4970678"/>
            <a:ext cx="9906610" cy="191110"/>
          </a:xfrm>
          <a:prstGeom prst="rect">
            <a:avLst/>
          </a:prstGeom>
          <a:noFill/>
          <a:ln/>
        </p:spPr>
        <p:txBody>
          <a:bodyPr wrap="none" lIns="0" tIns="0" rIns="0" bIns="0" rtlCol="0" anchor="ctr"/>
          <a:lstStyle/>
          <a:p>
            <a:pPr algn="l" indent="0" marL="0">
              <a:buNone/>
            </a:pPr>
            <a:r>
              <a:rPr lang="en-US" sz="1050" spc="189" kern="0" dirty="0">
                <a:solidFill>
                  <a:srgbClr val="5A4F3F"/>
                </a:solidFill>
                <a:latin typeface="JetBrains Mono" pitchFamily="34" charset="0"/>
                <a:ea typeface="JetBrains Mono" pitchFamily="34" charset="-122"/>
                <a:cs typeface="JetBrains Mono" pitchFamily="34" charset="-120"/>
              </a:rPr>
              <a:t>動作確認のチェックリスト</a:t>
            </a:r>
            <a:endParaRPr lang="en-US" sz="1050" dirty="0"/>
          </a:p>
        </p:txBody>
      </p:sp>
      <p:sp>
        <p:nvSpPr>
          <p:cNvPr id="13" name="Text 8"/>
          <p:cNvSpPr txBox="1"/>
          <p:nvPr/>
        </p:nvSpPr>
        <p:spPr>
          <a:xfrm>
            <a:off x="2998622" y="5243170"/>
            <a:ext cx="9887102" cy="1127455"/>
          </a:xfrm>
          <a:prstGeom prst="rect">
            <a:avLst/>
          </a:prstGeom>
          <a:noFill/>
          <a:ln/>
        </p:spPr>
        <p:txBody>
          <a:bodyPr wrap="square" lIns="0" tIns="0" rIns="0" bIns="0" rtlCol="0" anchor="t"/>
          <a:lstStyle/>
          <a:p>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ランキングが再読み込みで同じ現象を見せるか</a:t>
            </a:r>
            <a:pPr algn="l" marL="266700" indent="-266700">
              <a:lnSpc>
                <a:spcPts val="2805"/>
              </a:lnSpc>
              <a:buSzPct val="100000"/>
              <a:buChar char="•"/>
            </a:pPr>
            <a:endParaRPr lang="en-US" sz="1650" dirty="0"/>
          </a:p>
          <a:p>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別のタブで開き直しても動くか</a:t>
            </a:r>
            <a:pPr algn="l" marL="266700" indent="-266700">
              <a:lnSpc>
                <a:spcPts val="2805"/>
              </a:lnSpc>
              <a:buSzPct val="100000"/>
              <a:buChar char="•"/>
            </a:pPr>
            <a:endParaRPr lang="en-US" sz="1650" dirty="0"/>
          </a:p>
          <a:p>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1回成功したらそこで止めているか</a:t>
            </a:r>
            <a:endParaRPr lang="en-US" sz="1650" dirty="0"/>
          </a:p>
        </p:txBody>
      </p:sp>
      <p:sp>
        <p:nvSpPr>
          <p:cNvPr id="14" name="Text 9"/>
          <p:cNvSpPr txBox="1"/>
          <p:nvPr/>
        </p:nvSpPr>
        <p:spPr>
          <a:xfrm>
            <a:off x="13830300" y="2952598"/>
            <a:ext cx="3429000" cy="191110"/>
          </a:xfrm>
          <a:prstGeom prst="rect">
            <a:avLst/>
          </a:prstGeom>
          <a:noFill/>
          <a:ln/>
        </p:spPr>
        <p:txBody>
          <a:bodyPr wrap="none" lIns="0" tIns="0" rIns="0" bIns="0" rtlCol="0" anchor="ctr"/>
          <a:lstStyle/>
          <a:p>
            <a:pPr algn="l" indent="0" marL="0">
              <a:buNone/>
            </a:pPr>
            <a:r>
              <a:rPr lang="en-US" sz="1050" spc="189" kern="0" dirty="0">
                <a:solidFill>
                  <a:srgbClr val="D4922A"/>
                </a:solidFill>
                <a:latin typeface="JetBrains Mono" pitchFamily="34" charset="0"/>
                <a:ea typeface="JetBrains Mono" pitchFamily="34" charset="-122"/>
                <a:cs typeface="JetBrains Mono" pitchFamily="34" charset="-120"/>
              </a:rPr>
              <a:t>うまくいったら</a:t>
            </a:r>
            <a:endParaRPr lang="en-US" sz="1050" dirty="0"/>
          </a:p>
        </p:txBody>
      </p:sp>
      <p:sp>
        <p:nvSpPr>
          <p:cNvPr id="15" name="Text 10"/>
          <p:cNvSpPr txBox="1"/>
          <p:nvPr/>
        </p:nvSpPr>
        <p:spPr>
          <a:xfrm>
            <a:off x="13830300" y="3281782"/>
            <a:ext cx="3429000" cy="1509674"/>
          </a:xfrm>
          <a:prstGeom prst="rect">
            <a:avLst/>
          </a:prstGeom>
          <a:noFill/>
          <a:ln/>
        </p:spPr>
        <p:txBody>
          <a:bodyPr wrap="square" lIns="0" tIns="0" rIns="0" bIns="0" rtlCol="0" anchor="t"/>
          <a:lstStyle/>
          <a:p>
            <a:pPr algn="l" indent="0" marL="0">
              <a:lnSpc>
                <a:spcPts val="2325"/>
              </a:lnSpc>
              <a:buNone/>
            </a:pPr>
            <a:r>
              <a:rPr lang="en-US" sz="1500" dirty="0">
                <a:solidFill>
                  <a:srgbClr val="F5EFDD"/>
                </a:solidFill>
                <a:latin typeface="Noto Sans JP" pitchFamily="34" charset="0"/>
                <a:ea typeface="Noto Sans JP" pitchFamily="34" charset="-122"/>
                <a:cs typeface="Noto Sans JP" pitchFamily="34" charset="-120"/>
              </a:rPr>
              <a:t>1度だけ成功を確認したら停止。</a:t>
            </a:r>
            <a:pPr algn="l" indent="0" marL="0">
              <a:lnSpc>
                <a:spcPts val="2325"/>
              </a:lnSpc>
              <a:buNone/>
            </a:pPr>
            <a:endParaRPr lang="en-US" sz="1500" dirty="0"/>
          </a:p>
          <a:p>
            <a:pPr algn="l" indent="0" marL="0">
              <a:lnSpc>
                <a:spcPts val="2325"/>
              </a:lnSpc>
              <a:buNone/>
            </a:pPr>
            <a:r>
              <a:rPr lang="en-US" sz="1500" dirty="0">
                <a:solidFill>
                  <a:srgbClr val="F5EFDD"/>
                </a:solidFill>
                <a:latin typeface="Noto Sans JP" pitchFamily="34" charset="0"/>
                <a:ea typeface="Noto Sans JP" pitchFamily="34" charset="-122"/>
                <a:cs typeface="Noto Sans JP" pitchFamily="34" charset="-120"/>
              </a:rPr>
              <a:t>闇雲にバリエーションを増やさない。</a:t>
            </a:r>
            <a:pPr algn="l" indent="0" marL="0">
              <a:lnSpc>
                <a:spcPts val="2325"/>
              </a:lnSpc>
              <a:buNone/>
            </a:pPr>
            <a:endParaRPr lang="en-US" sz="1500" dirty="0"/>
          </a:p>
          <a:p>
            <a:pPr algn="l" indent="0" marL="0">
              <a:lnSpc>
                <a:spcPts val="2325"/>
              </a:lnSpc>
              <a:buNone/>
            </a:pPr>
            <a:endParaRPr lang="en-US" sz="1500" dirty="0"/>
          </a:p>
          <a:p>
            <a:pPr algn="l" indent="0" marL="0">
              <a:lnSpc>
                <a:spcPts val="2325"/>
              </a:lnSpc>
              <a:buNone/>
            </a:pPr>
            <a:r>
              <a:rPr lang="en-US" sz="1500" dirty="0">
                <a:solidFill>
                  <a:srgbClr val="F5EFDD"/>
                </a:solidFill>
                <a:latin typeface="Noto Sans JP" pitchFamily="34" charset="0"/>
                <a:ea typeface="Noto Sans JP" pitchFamily="34" charset="-122"/>
                <a:cs typeface="Noto Sans JP" pitchFamily="34" charset="-120"/>
              </a:rPr>
              <a:t>講師を呼んで、何が入っていて、何が起きたかを見せてください。</a:t>
            </a:r>
            <a:endParaRPr lang="en-US" sz="1500" dirty="0"/>
          </a:p>
        </p:txBody>
      </p:sp>
      <p:pic>
        <p:nvPicPr>
          <p:cNvPr id="16" name="Image 2" descr="gen-dedup-07448e11b513476c2ae35eb0bfa2e59d.png">    </p:cNvPr>
          <p:cNvPicPr>
            <a:picLocks noChangeAspect="1"/>
          </p:cNvPicPr>
          <p:nvPr/>
        </p:nvPicPr>
        <p:blipFill>
          <a:blip r:embed="rId3"/>
          <a:srcRect l="-2083" r="-2083" t="0" b="0"/>
          <a:stretch/>
        </p:blipFill>
        <p:spPr>
          <a:xfrm>
            <a:off x="13830300" y="5020056"/>
            <a:ext cx="3429000" cy="9144"/>
          </a:xfrm>
          <a:prstGeom prst="rect">
            <a:avLst/>
          </a:prstGeom>
        </p:spPr>
      </p:pic>
      <p:sp>
        <p:nvSpPr>
          <p:cNvPr id="17" name="Text 11"/>
          <p:cNvSpPr txBox="1"/>
          <p:nvPr/>
        </p:nvSpPr>
        <p:spPr>
          <a:xfrm>
            <a:off x="13830300" y="5257800"/>
            <a:ext cx="3429000" cy="191110"/>
          </a:xfrm>
          <a:prstGeom prst="rect">
            <a:avLst/>
          </a:prstGeom>
          <a:noFill/>
          <a:ln/>
        </p:spPr>
        <p:txBody>
          <a:bodyPr wrap="none" lIns="0" tIns="0" rIns="0" bIns="0" rtlCol="0" anchor="ctr"/>
          <a:lstStyle/>
          <a:p>
            <a:pPr algn="l" indent="0" marL="0">
              <a:buNone/>
            </a:pPr>
            <a:r>
              <a:rPr lang="en-US" sz="1050" spc="189" kern="0" dirty="0">
                <a:solidFill>
                  <a:srgbClr val="D4922A"/>
                </a:solidFill>
                <a:latin typeface="JetBrains Mono" pitchFamily="34" charset="0"/>
                <a:ea typeface="JetBrains Mono" pitchFamily="34" charset="-122"/>
                <a:cs typeface="JetBrains Mono" pitchFamily="34" charset="-120"/>
              </a:rPr>
              <a:t>入力について</a:t>
            </a:r>
            <a:endParaRPr lang="en-US" sz="1050" dirty="0"/>
          </a:p>
        </p:txBody>
      </p:sp>
      <p:sp>
        <p:nvSpPr>
          <p:cNvPr id="18" name="Text 12"/>
          <p:cNvSpPr txBox="1"/>
          <p:nvPr/>
        </p:nvSpPr>
        <p:spPr>
          <a:xfrm>
            <a:off x="13830300" y="5551322"/>
            <a:ext cx="3429000" cy="564185"/>
          </a:xfrm>
          <a:prstGeom prst="rect">
            <a:avLst/>
          </a:prstGeom>
          <a:noFill/>
          <a:ln/>
        </p:spPr>
        <p:txBody>
          <a:bodyPr wrap="square" lIns="0" tIns="0" rIns="0" bIns="0" rtlCol="0" anchor="t"/>
          <a:lstStyle/>
          <a:p>
            <a:pPr algn="l" indent="0" marL="0">
              <a:lnSpc>
                <a:spcPts val="2092"/>
              </a:lnSpc>
              <a:buNone/>
            </a:pPr>
            <a:r>
              <a:rPr lang="en-US" sz="1350" dirty="0">
                <a:solidFill>
                  <a:srgbClr val="ECE4D2"/>
                </a:solidFill>
                <a:latin typeface="Noto Sans JP" pitchFamily="34" charset="0"/>
                <a:ea typeface="Noto Sans JP" pitchFamily="34" charset="-122"/>
                <a:cs typeface="Noto Sans JP" pitchFamily="34" charset="-120"/>
              </a:rPr>
              <a:t>自分の入力を他人には披露せず、</a:t>
            </a:r>
            <a:pPr algn="l" indent="0" marL="0">
              <a:lnSpc>
                <a:spcPts val="2092"/>
              </a:lnSpc>
              <a:buNone/>
            </a:pPr>
            <a:endParaRPr lang="en-US" sz="1350" dirty="0"/>
          </a:p>
          <a:p>
            <a:pPr algn="l" indent="0" marL="0">
              <a:lnSpc>
                <a:spcPts val="2092"/>
              </a:lnSpc>
              <a:buNone/>
            </a:pPr>
            <a:r>
              <a:rPr lang="en-US" sz="1350" dirty="0">
                <a:solidFill>
                  <a:srgbClr val="ECE4D2"/>
                </a:solidFill>
                <a:latin typeface="Noto Sans JP" pitchFamily="34" charset="0"/>
                <a:ea typeface="Noto Sans JP" pitchFamily="34" charset="-122"/>
                <a:cs typeface="Noto Sans JP" pitchFamily="34" charset="-120"/>
              </a:rPr>
              <a:t>自分の環境でのみ動かしてください。</a:t>
            </a:r>
            <a:endParaRPr lang="en-US" sz="1350" dirty="0"/>
          </a:p>
        </p:txBody>
      </p:sp>
      <p:pic>
        <p:nvPicPr>
          <p:cNvPr id="19" name="Image 3" descr="gen-dedup-ff3b843c62efd2578b331bdfc9bb7c8f.png">    </p:cNvPr>
          <p:cNvPicPr>
            <a:picLocks noChangeAspect="1"/>
          </p:cNvPicPr>
          <p:nvPr/>
        </p:nvPicPr>
        <p:blipFill>
          <a:blip r:embed="rId4"/>
          <a:srcRect l="-2083" r="-2083" t="0" b="0"/>
          <a:stretch/>
        </p:blipFill>
        <p:spPr>
          <a:xfrm>
            <a:off x="914400" y="9334195"/>
            <a:ext cx="16459200" cy="9144"/>
          </a:xfrm>
          <a:prstGeom prst="rect">
            <a:avLst/>
          </a:prstGeom>
        </p:spPr>
      </p:pic>
      <p:sp>
        <p:nvSpPr>
          <p:cNvPr id="20" name="Text 13"/>
          <p:cNvSpPr txBox="1"/>
          <p:nvPr/>
        </p:nvSpPr>
        <p:spPr>
          <a:xfrm>
            <a:off x="2667305" y="914400"/>
            <a:ext cx="14287500" cy="219456"/>
          </a:xfrm>
          <a:prstGeom prst="rect">
            <a:avLst/>
          </a:prstGeom>
          <a:noFill/>
          <a:ln/>
        </p:spPr>
        <p:txBody>
          <a:bodyPr wrap="none" lIns="0" tIns="0" rIns="0" bIns="0" rtlCol="0" anchor="ctr"/>
          <a:lstStyle/>
          <a:p>
            <a:pPr algn="l" indent="0" marL="0">
              <a:buNone/>
            </a:pPr>
            <a:r>
              <a:rPr lang="en-US" sz="1350" spc="324" kern="0" dirty="0">
                <a:solidFill>
                  <a:srgbClr val="B4791F"/>
                </a:solidFill>
                <a:latin typeface="JetBrains Mono" pitchFamily="34" charset="0"/>
                <a:ea typeface="JetBrains Mono" pitchFamily="34" charset="-122"/>
                <a:cs typeface="JetBrains Mono" pitchFamily="34" charset="-120"/>
              </a:rPr>
              <a:t>Hint · 3 of 3</a:t>
            </a:r>
            <a:endParaRPr lang="en-US" sz="1350" dirty="0"/>
          </a:p>
        </p:txBody>
      </p:sp>
      <p:sp>
        <p:nvSpPr>
          <p:cNvPr id="21" name="Text 14"/>
          <p:cNvSpPr txBox="1"/>
          <p:nvPr/>
        </p:nvSpPr>
        <p:spPr>
          <a:xfrm>
            <a:off x="2667305" y="1228954"/>
            <a:ext cx="14287500" cy="838505"/>
          </a:xfrm>
          <a:prstGeom prst="rect">
            <a:avLst/>
          </a:prstGeom>
          <a:noFill/>
          <a:ln/>
        </p:spPr>
        <p:txBody>
          <a:bodyPr wrap="none" lIns="0" tIns="0" rIns="0" bIns="0" rtlCol="0" anchor="ctr"/>
          <a:lstStyle/>
          <a:p>
            <a:pPr algn="l" indent="0" marL="0">
              <a:buNone/>
            </a:pPr>
            <a:r>
              <a:rPr lang="en-US" sz="6600" b="1" spc="-132" kern="0" dirty="0">
                <a:solidFill>
                  <a:srgbClr val="211C13"/>
                </a:solidFill>
                <a:latin typeface="Zen Kaku Gothic Antique" pitchFamily="34" charset="0"/>
                <a:ea typeface="Zen Kaku Gothic Antique" pitchFamily="34" charset="-122"/>
                <a:cs typeface="Zen Kaku Gothic Antique" pitchFamily="34" charset="-120"/>
              </a:rPr>
              <a:t>関数 celebrate() と、保存の経路。</a:t>
            </a:r>
            <a:endParaRPr lang="en-US" sz="6600" dirty="0"/>
          </a:p>
        </p:txBody>
      </p:sp>
      <p:sp>
        <p:nvSpPr>
          <p:cNvPr id="22" name="Text 15"/>
          <p:cNvSpPr txBox="1"/>
          <p:nvPr/>
        </p:nvSpPr>
        <p:spPr>
          <a:xfrm>
            <a:off x="2667305" y="9562795"/>
            <a:ext cx="9525305" cy="228600"/>
          </a:xfrm>
          <a:prstGeom prst="rect">
            <a:avLst/>
          </a:prstGeom>
          <a:noFill/>
          <a:ln/>
        </p:spPr>
        <p:txBody>
          <a:bodyPr wrap="none" lIns="0" tIns="0" rIns="0" bIns="0" rtlCol="0" anchor="ctr"/>
          <a:lstStyle/>
          <a:p>
            <a:pPr algn="l" indent="0" marL="0">
              <a:buNone/>
            </a:pPr>
            <a:r>
              <a:rPr lang="en-US" sz="1200" spc="72" kern="0" dirty="0">
                <a:solidFill>
                  <a:srgbClr val="5A4F3F"/>
                </a:solidFill>
                <a:latin typeface="JetBrains Mono" pitchFamily="34" charset="0"/>
                <a:ea typeface="JetBrains Mono" pitchFamily="34" charset="-122"/>
                <a:cs typeface="JetBrains Mono" pitchFamily="34" charset="-120"/>
              </a:rPr>
              <a:t>ここでは入力の断片は書きません — 20の解答スライドで見比べる前に、まず各自で観察してください</a:t>
            </a:r>
            <a:endParaRPr lang="en-US" sz="1200" dirty="0"/>
          </a:p>
        </p:txBody>
      </p:sp>
      <p:sp>
        <p:nvSpPr>
          <p:cNvPr id="23" name="Text 16"/>
          <p:cNvSpPr txBox="1"/>
          <p:nvPr/>
        </p:nvSpPr>
        <p:spPr>
          <a:xfrm>
            <a:off x="15468905" y="9562795"/>
            <a:ext cx="1905610" cy="200254"/>
          </a:xfrm>
          <a:prstGeom prst="rect">
            <a:avLst/>
          </a:prstGeom>
          <a:noFill/>
          <a:ln/>
        </p:spPr>
        <p:txBody>
          <a:bodyPr wrap="none" lIns="0" tIns="0" rIns="0" bIns="0" rtlCol="0" anchor="ctr"/>
          <a:lstStyle/>
          <a:p>
            <a:pPr algn="r" indent="0" marL="0">
              <a:buNone/>
            </a:pPr>
            <a:r>
              <a:rPr lang="en-US" sz="1200" spc="72" kern="0" dirty="0">
                <a:solidFill>
                  <a:srgbClr val="5A4F3F"/>
                </a:solidFill>
                <a:latin typeface="JetBrains Mono" pitchFamily="34" charset="0"/>
                <a:ea typeface="JetBrains Mono" pitchFamily="34" charset="-122"/>
                <a:cs typeface="JetBrains Mono" pitchFamily="34" charset="-120"/>
              </a:rPr>
              <a:t>19 / 32</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FE7D4"/>
        </a:solidFill>
      </p:bgPr>
    </p:bg>
    <p:spTree>
      <p:nvGrpSpPr>
        <p:cNvPr id="1" name=""/>
        <p:cNvGrpSpPr/>
        <p:nvPr/>
      </p:nvGrpSpPr>
      <p:grpSpPr>
        <a:xfrm>
          <a:off x="0" y="0"/>
          <a:ext cx="0" cy="0"/>
          <a:chOff x="0" y="0"/>
          <a:chExt cx="0" cy="0"/>
        </a:xfrm>
      </p:grpSpPr>
      <p:sp>
        <p:nvSpPr>
          <p:cNvPr id="3" name="Shape 0"/>
          <p:cNvSpPr/>
          <p:nvPr/>
        </p:nvSpPr>
        <p:spPr>
          <a:xfrm>
            <a:off x="0" y="0"/>
            <a:ext cx="1904695" cy="10287000"/>
          </a:xfrm>
          <a:prstGeom prst="rect">
            <a:avLst/>
          </a:prstGeom>
          <a:solidFill>
            <a:srgbClr val="B4791F"/>
          </a:solidFill>
          <a:ln w="12700">
            <a:solidFill>
              <a:srgbClr val="FFFFFF">
                <a:alpha val="0"/>
              </a:srgbClr>
            </a:solidFill>
            <a:prstDash val="solid"/>
          </a:ln>
        </p:spPr>
      </p:sp>
      <p:sp>
        <p:nvSpPr>
          <p:cNvPr id="4" name="Shape 1"/>
          <p:cNvSpPr/>
          <p:nvPr/>
        </p:nvSpPr>
        <p:spPr>
          <a:xfrm>
            <a:off x="2667305" y="2190902"/>
            <a:ext cx="14859000" cy="2286000"/>
          </a:xfrm>
          <a:prstGeom prst="roundRect">
            <a:avLst>
              <a:gd name="adj" fmla="val 1680"/>
            </a:avLst>
          </a:prstGeom>
          <a:solidFill>
            <a:srgbClr val="E5DBC4"/>
          </a:solidFill>
          <a:ln w="12700">
            <a:solidFill>
              <a:srgbClr val="FFFFFF">
                <a:alpha val="0"/>
              </a:srgbClr>
            </a:solidFill>
            <a:prstDash val="solid"/>
          </a:ln>
        </p:spPr>
      </p:sp>
      <p:sp>
        <p:nvSpPr>
          <p:cNvPr id="5" name="Shape 2"/>
          <p:cNvSpPr/>
          <p:nvPr/>
        </p:nvSpPr>
        <p:spPr>
          <a:xfrm>
            <a:off x="2667305" y="4762195"/>
            <a:ext cx="10477195" cy="4190695"/>
          </a:xfrm>
          <a:prstGeom prst="roundRect">
            <a:avLst>
              <a:gd name="adj" fmla="val 916"/>
            </a:avLst>
          </a:prstGeom>
          <a:solidFill>
            <a:srgbClr val="1B1F25"/>
          </a:solidFill>
          <a:ln w="12700">
            <a:solidFill>
              <a:srgbClr val="FFFFFF">
                <a:alpha val="0"/>
              </a:srgbClr>
            </a:solidFill>
            <a:prstDash val="solid"/>
          </a:ln>
        </p:spPr>
      </p:sp>
      <p:sp>
        <p:nvSpPr>
          <p:cNvPr id="6" name="Shape 3"/>
          <p:cNvSpPr/>
          <p:nvPr/>
        </p:nvSpPr>
        <p:spPr>
          <a:xfrm>
            <a:off x="13525805" y="4762195"/>
            <a:ext cx="4000500" cy="4190695"/>
          </a:xfrm>
          <a:prstGeom prst="roundRect">
            <a:avLst>
              <a:gd name="adj" fmla="val 960"/>
            </a:avLst>
          </a:prstGeom>
          <a:solidFill>
            <a:srgbClr val="E5DBC4"/>
          </a:solidFill>
          <a:ln w="12700">
            <a:solidFill>
              <a:srgbClr val="FFFFFF">
                <a:alpha val="0"/>
              </a:srgbClr>
            </a:solidFill>
            <a:prstDash val="solid"/>
          </a:ln>
        </p:spPr>
      </p:sp>
      <p:sp>
        <p:nvSpPr>
          <p:cNvPr id="7" name="Text 4"/>
          <p:cNvSpPr txBox="1"/>
          <p:nvPr/>
        </p:nvSpPr>
        <p:spPr>
          <a:xfrm>
            <a:off x="228600" y="914400"/>
            <a:ext cx="1524305" cy="171907"/>
          </a:xfrm>
          <a:prstGeom prst="rect">
            <a:avLst/>
          </a:prstGeom>
          <a:noFill/>
          <a:ln/>
        </p:spPr>
        <p:txBody>
          <a:bodyPr wrap="none" lIns="0" tIns="0" rIns="0" bIns="0" rtlCol="0" anchor="ctr"/>
          <a:lstStyle/>
          <a:p>
            <a:pPr algn="l" indent="0" marL="0">
              <a:buNone/>
            </a:pPr>
            <a:r>
              <a:rPr lang="en-US" sz="1050" spc="231" kern="0" dirty="0">
                <a:solidFill>
                  <a:srgbClr val="F5EFDD"/>
                </a:solidFill>
                <a:latin typeface="JetBrains Mono" pitchFamily="34" charset="0"/>
                <a:ea typeface="JetBrains Mono" pitchFamily="34" charset="-122"/>
                <a:cs typeface="JetBrains Mono" pitchFamily="34" charset="-120"/>
              </a:rPr>
              <a:t>SOLUTION</a:t>
            </a:r>
            <a:endParaRPr lang="en-US" sz="1050" dirty="0"/>
          </a:p>
        </p:txBody>
      </p:sp>
      <p:sp>
        <p:nvSpPr>
          <p:cNvPr id="8" name="Text 5"/>
          <p:cNvSpPr txBox="1"/>
          <p:nvPr/>
        </p:nvSpPr>
        <p:spPr>
          <a:xfrm>
            <a:off x="228600" y="1143000"/>
            <a:ext cx="1524305" cy="876910"/>
          </a:xfrm>
          <a:prstGeom prst="rect">
            <a:avLst/>
          </a:prstGeom>
          <a:noFill/>
          <a:ln/>
        </p:spPr>
        <p:txBody>
          <a:bodyPr wrap="none" lIns="0" tIns="0" rIns="0" bIns="0" rtlCol="0" anchor="ctr"/>
          <a:lstStyle/>
          <a:p>
            <a:pPr algn="l" indent="0" marL="0">
              <a:buNone/>
            </a:pPr>
            <a:r>
              <a:rPr lang="en-US" sz="7200" b="1" spc="-144" kern="0" dirty="0">
                <a:solidFill>
                  <a:srgbClr val="F5EFDD"/>
                </a:solidFill>
                <a:latin typeface="Zen Kaku Gothic Antique" pitchFamily="34" charset="0"/>
                <a:ea typeface="Zen Kaku Gothic Antique" pitchFamily="34" charset="-122"/>
                <a:cs typeface="Zen Kaku Gothic Antique" pitchFamily="34" charset="-120"/>
              </a:rPr>
              <a:t>02</a:t>
            </a:r>
            <a:endParaRPr lang="en-US" sz="7200" dirty="0"/>
          </a:p>
        </p:txBody>
      </p:sp>
      <p:pic>
        <p:nvPicPr>
          <p:cNvPr id="9" name="Image 0" descr="gen-dedup-2173e259c8f89e09f8a89067735d6b02.png">    </p:cNvPr>
          <p:cNvPicPr>
            <a:picLocks noChangeAspect="1"/>
          </p:cNvPicPr>
          <p:nvPr/>
        </p:nvPicPr>
        <p:blipFill>
          <a:blip r:embed="rId1"/>
          <a:srcRect l="-404" r="-404" t="0" b="0"/>
          <a:stretch/>
        </p:blipFill>
        <p:spPr>
          <a:xfrm>
            <a:off x="228600" y="2182673"/>
            <a:ext cx="571500" cy="28346"/>
          </a:xfrm>
          <a:prstGeom prst="rect">
            <a:avLst/>
          </a:prstGeom>
        </p:spPr>
      </p:pic>
      <p:sp>
        <p:nvSpPr>
          <p:cNvPr id="10" name="Text 6"/>
          <p:cNvSpPr txBox="1"/>
          <p:nvPr/>
        </p:nvSpPr>
        <p:spPr>
          <a:xfrm>
            <a:off x="2971800" y="2457907"/>
            <a:ext cx="14287500" cy="191110"/>
          </a:xfrm>
          <a:prstGeom prst="rect">
            <a:avLst/>
          </a:prstGeom>
          <a:noFill/>
          <a:ln/>
        </p:spPr>
        <p:txBody>
          <a:bodyPr wrap="none" lIns="0" tIns="0" rIns="0" bIns="0" rtlCol="0" anchor="ctr"/>
          <a:lstStyle/>
          <a:p>
            <a:pPr algn="l" indent="0" marL="0">
              <a:buNone/>
            </a:pPr>
            <a:r>
              <a:rPr lang="en-US" sz="1050" spc="189" kern="0" dirty="0">
                <a:solidFill>
                  <a:srgbClr val="B4791F"/>
                </a:solidFill>
                <a:latin typeface="JetBrains Mono" pitchFamily="34" charset="0"/>
                <a:ea typeface="JetBrains Mono" pitchFamily="34" charset="-122"/>
                <a:cs typeface="JetBrains Mono" pitchFamily="34" charset="-120"/>
              </a:rPr>
              <a:t>観察した経路（教材で確認した一例 — 環境差があれば読み替えてください）</a:t>
            </a:r>
            <a:endParaRPr lang="en-US" sz="1050" dirty="0"/>
          </a:p>
        </p:txBody>
      </p:sp>
      <p:sp>
        <p:nvSpPr>
          <p:cNvPr id="11" name="Text 7"/>
          <p:cNvSpPr txBox="1"/>
          <p:nvPr/>
        </p:nvSpPr>
        <p:spPr>
          <a:xfrm>
            <a:off x="2971800" y="2741371"/>
            <a:ext cx="14287500" cy="1107338"/>
          </a:xfrm>
          <a:prstGeom prst="rect">
            <a:avLst/>
          </a:prstGeom>
          <a:noFill/>
          <a:ln/>
        </p:spPr>
        <p:txBody>
          <a:bodyPr wrap="square" lIns="0" tIns="0" rIns="0" bIns="0" rtlCol="0" anchor="t"/>
          <a:lstStyle/>
          <a:p>
            <a:pPr algn="l" indent="0" marL="0">
              <a:lnSpc>
                <a:spcPts val="2790"/>
              </a:lnSpc>
              <a:buNone/>
            </a:pPr>
            <a:r>
              <a:rPr lang="en-US" sz="1800" dirty="0">
                <a:solidFill>
                  <a:srgbClr val="211C13"/>
                </a:solidFill>
                <a:latin typeface="Noto Sans JP" pitchFamily="34" charset="0"/>
                <a:ea typeface="Noto Sans JP" pitchFamily="34" charset="-122"/>
                <a:cs typeface="Noto Sans JP" pitchFamily="34" charset="-120"/>
              </a:rPr>
              <a:t>入力 → プレビュー枠は </a:t>
            </a:r>
            <a:pPr algn="l" indent="0" marL="0">
              <a:lnSpc>
                <a:spcPts val="2790"/>
              </a:lnSpc>
              <a:buNone/>
            </a:pPr>
            <a:r>
              <a:rPr lang="en-US" sz="1800" b="1" dirty="0">
                <a:solidFill>
                  <a:srgbClr val="211C13"/>
                </a:solidFill>
                <a:latin typeface="Noto Sans JP" pitchFamily="34" charset="0"/>
                <a:ea typeface="Noto Sans JP" pitchFamily="34" charset="-122"/>
                <a:cs typeface="Noto Sans JP" pitchFamily="34" charset="-120"/>
              </a:rPr>
              <a:t>テキストとして</a:t>
            </a:r>
            <a:pPr algn="l" indent="0" marL="0">
              <a:lnSpc>
                <a:spcPts val="2790"/>
              </a:lnSpc>
              <a:buNone/>
            </a:pPr>
            <a:r>
              <a:rPr lang="en-US" sz="1800" dirty="0">
                <a:solidFill>
                  <a:srgbClr val="211C13"/>
                </a:solidFill>
                <a:latin typeface="Noto Sans JP" pitchFamily="34" charset="0"/>
                <a:ea typeface="Noto Sans JP" pitchFamily="34" charset="-122"/>
                <a:cs typeface="Noto Sans JP" pitchFamily="34" charset="-120"/>
              </a:rPr>
              <a:t>扱われていた。</a:t>
            </a:r>
            <a:pPr algn="l" indent="0" marL="0">
              <a:lnSpc>
                <a:spcPts val="2790"/>
              </a:lnSpc>
              <a:buNone/>
            </a:pPr>
            <a:endParaRPr lang="en-US" sz="1800" dirty="0"/>
          </a:p>
          <a:p>
            <a:pPr algn="l" indent="0" marL="0">
              <a:lnSpc>
                <a:spcPts val="2790"/>
              </a:lnSpc>
              <a:buNone/>
            </a:pPr>
            <a:r>
              <a:rPr lang="en-US" sz="1800" dirty="0">
                <a:solidFill>
                  <a:srgbClr val="211C13"/>
                </a:solidFill>
                <a:latin typeface="Noto Sans JP" pitchFamily="34" charset="0"/>
                <a:ea typeface="Noto Sans JP" pitchFamily="34" charset="-122"/>
                <a:cs typeface="Noto Sans JP" pitchFamily="34" charset="-120"/>
              </a:rPr>
              <a:t>一方ランキングの再描画では、保存された表示名がレンダリングされるとき、</a:t>
            </a:r>
            <a:pPr algn="l" indent="0" marL="0">
              <a:lnSpc>
                <a:spcPts val="2790"/>
              </a:lnSpc>
              <a:buNone/>
            </a:pPr>
            <a:endParaRPr lang="en-US" sz="1800" dirty="0"/>
          </a:p>
          <a:p>
            <a:pPr algn="l" indent="0" marL="0">
              <a:lnSpc>
                <a:spcPts val="2790"/>
              </a:lnSpc>
              <a:buNone/>
            </a:pPr>
            <a:r>
              <a:rPr lang="en-US" sz="1800" dirty="0">
                <a:solidFill>
                  <a:srgbClr val="211C13"/>
                </a:solidFill>
                <a:latin typeface="Noto Sans JP" pitchFamily="34" charset="0"/>
                <a:ea typeface="Noto Sans JP" pitchFamily="34" charset="-122"/>
                <a:cs typeface="Noto Sans JP" pitchFamily="34" charset="-120"/>
              </a:rPr>
              <a:t>Elements パネルで見ると </a:t>
            </a:r>
            <a:pPr algn="l" indent="0" marL="0">
              <a:lnSpc>
                <a:spcPts val="2790"/>
              </a:lnSpc>
              <a:buNone/>
            </a:pPr>
            <a:r>
              <a:rPr lang="en-US" sz="1800" b="1" dirty="0">
                <a:solidFill>
                  <a:srgbClr val="211C13"/>
                </a:solidFill>
                <a:latin typeface="Noto Sans JP" pitchFamily="34" charset="0"/>
                <a:ea typeface="Noto Sans JP" pitchFamily="34" charset="-122"/>
                <a:cs typeface="Noto Sans JP" pitchFamily="34" charset="-120"/>
              </a:rPr>
              <a:t>HTMLとして解釈されている</a:t>
            </a:r>
            <a:pPr algn="l" indent="0" marL="0">
              <a:lnSpc>
                <a:spcPts val="2790"/>
              </a:lnSpc>
              <a:buNone/>
            </a:pPr>
            <a:r>
              <a:rPr lang="en-US" sz="1800" dirty="0">
                <a:solidFill>
                  <a:srgbClr val="211C13"/>
                </a:solidFill>
                <a:latin typeface="Noto Sans JP" pitchFamily="34" charset="0"/>
                <a:ea typeface="Noto Sans JP" pitchFamily="34" charset="-122"/>
                <a:cs typeface="Noto Sans JP" pitchFamily="34" charset="-120"/>
              </a:rPr>
              <a:t>ノードになっていた。</a:t>
            </a:r>
            <a:endParaRPr lang="en-US" sz="1800" dirty="0"/>
          </a:p>
        </p:txBody>
      </p:sp>
      <p:sp>
        <p:nvSpPr>
          <p:cNvPr id="12" name="Text 8"/>
          <p:cNvSpPr txBox="1"/>
          <p:nvPr/>
        </p:nvSpPr>
        <p:spPr>
          <a:xfrm>
            <a:off x="2971800" y="5009998"/>
            <a:ext cx="9906610" cy="191110"/>
          </a:xfrm>
          <a:prstGeom prst="rect">
            <a:avLst/>
          </a:prstGeom>
          <a:noFill/>
          <a:ln/>
        </p:spPr>
        <p:txBody>
          <a:bodyPr wrap="none" lIns="0" tIns="0" rIns="0" bIns="0" rtlCol="0" anchor="ctr"/>
          <a:lstStyle/>
          <a:p>
            <a:pPr algn="l" indent="0" marL="0">
              <a:buNone/>
            </a:pPr>
            <a:r>
              <a:rPr lang="en-US" sz="1050" spc="189" kern="0" dirty="0">
                <a:solidFill>
                  <a:srgbClr val="D4922A"/>
                </a:solidFill>
                <a:latin typeface="JetBrains Mono" pitchFamily="34" charset="0"/>
                <a:ea typeface="JetBrains Mono" pitchFamily="34" charset="-122"/>
                <a:cs typeface="JetBrains Mono" pitchFamily="34" charset="-120"/>
              </a:rPr>
              <a:t>保存する文字列・一例（実際の教材実装に合わせて適宜言い換えてください）</a:t>
            </a:r>
            <a:endParaRPr lang="en-US" sz="1050" dirty="0"/>
          </a:p>
        </p:txBody>
      </p:sp>
      <p:sp>
        <p:nvSpPr>
          <p:cNvPr id="13" name="Text 9"/>
          <p:cNvSpPr txBox="1"/>
          <p:nvPr/>
        </p:nvSpPr>
        <p:spPr>
          <a:xfrm>
            <a:off x="2971800" y="5429707"/>
            <a:ext cx="9906610" cy="695858"/>
          </a:xfrm>
          <a:prstGeom prst="rect">
            <a:avLst/>
          </a:prstGeom>
          <a:noFill/>
          <a:ln/>
        </p:spPr>
        <p:txBody>
          <a:bodyPr wrap="square" lIns="0" tIns="0" rIns="0" bIns="0" rtlCol="0" anchor="ctr"/>
          <a:lstStyle/>
          <a:p>
            <a:pPr algn="l" indent="0" marL="0">
              <a:lnSpc>
                <a:spcPts val="2723"/>
              </a:lnSpc>
              <a:buNone/>
            </a:pPr>
            <a:r>
              <a:rPr lang="en-US" sz="1650" dirty="0">
                <a:solidFill>
                  <a:srgbClr val="ECE4D2"/>
                </a:solidFill>
                <a:latin typeface="JetBrains Mono" pitchFamily="34" charset="0"/>
                <a:ea typeface="JetBrains Mono" pitchFamily="34" charset="-122"/>
                <a:cs typeface="JetBrains Mono" pitchFamily="34" charset="-120"/>
              </a:rPr>
              <a:t>// 入力欄に celebrate() を埋め込むように見える文字列を入れる // 例: 文字列だけ見えるようにスペース等で囲む &lt;img src=x onerror="celebrate()"&gt;</a:t>
            </a:r>
            <a:endParaRPr lang="en-US" sz="1650" dirty="0"/>
          </a:p>
        </p:txBody>
      </p:sp>
      <p:sp>
        <p:nvSpPr>
          <p:cNvPr id="14" name="Text 10"/>
          <p:cNvSpPr txBox="1"/>
          <p:nvPr/>
        </p:nvSpPr>
        <p:spPr>
          <a:xfrm>
            <a:off x="2971800" y="6349594"/>
            <a:ext cx="9906610" cy="590702"/>
          </a:xfrm>
          <a:prstGeom prst="rect">
            <a:avLst/>
          </a:prstGeom>
          <a:noFill/>
          <a:ln/>
        </p:spPr>
        <p:txBody>
          <a:bodyPr wrap="square" lIns="0" tIns="0" rIns="0" bIns="0" rtlCol="0" anchor="ctr"/>
          <a:lstStyle/>
          <a:p>
            <a:pPr algn="l" indent="0" marL="0">
              <a:lnSpc>
                <a:spcPts val="2325"/>
              </a:lnSpc>
              <a:buNone/>
            </a:pPr>
            <a:r>
              <a:rPr lang="en-US" sz="1500" dirty="0">
                <a:solidFill>
                  <a:srgbClr val="8A8170"/>
                </a:solidFill>
                <a:latin typeface="Noto Sans JP" pitchFamily="34" charset="0"/>
                <a:ea typeface="Noto Sans JP" pitchFamily="34" charset="-122"/>
                <a:cs typeface="Noto Sans JP" pitchFamily="34" charset="-120"/>
              </a:rPr>
              <a:t>これは教材実装で見えた一例。celebrate() は教材ブラウザのグローバルに用意されている前提。試す態度は1度きり。</a:t>
            </a:r>
            <a:endParaRPr lang="en-US" sz="1500" dirty="0"/>
          </a:p>
        </p:txBody>
      </p:sp>
      <p:sp>
        <p:nvSpPr>
          <p:cNvPr id="15" name="Text 11"/>
          <p:cNvSpPr txBox="1"/>
          <p:nvPr/>
        </p:nvSpPr>
        <p:spPr>
          <a:xfrm>
            <a:off x="13830300" y="5009998"/>
            <a:ext cx="3429000" cy="191110"/>
          </a:xfrm>
          <a:prstGeom prst="rect">
            <a:avLst/>
          </a:prstGeom>
          <a:noFill/>
          <a:ln/>
        </p:spPr>
        <p:txBody>
          <a:bodyPr wrap="none" lIns="0" tIns="0" rIns="0" bIns="0" rtlCol="0" anchor="ctr"/>
          <a:lstStyle/>
          <a:p>
            <a:pPr algn="l" indent="0" marL="0">
              <a:buNone/>
            </a:pPr>
            <a:r>
              <a:rPr lang="en-US" sz="1050" spc="189" kern="0" dirty="0">
                <a:solidFill>
                  <a:srgbClr val="5A4F3F"/>
                </a:solidFill>
                <a:latin typeface="JetBrains Mono" pitchFamily="34" charset="0"/>
                <a:ea typeface="JetBrains Mono" pitchFamily="34" charset="-122"/>
                <a:cs typeface="JetBrains Mono" pitchFamily="34" charset="-120"/>
              </a:rPr>
              <a:t>何が出たか</a:t>
            </a:r>
            <a:endParaRPr lang="en-US" sz="1050" dirty="0"/>
          </a:p>
        </p:txBody>
      </p:sp>
      <p:sp>
        <p:nvSpPr>
          <p:cNvPr id="16" name="Text 12"/>
          <p:cNvSpPr txBox="1"/>
          <p:nvPr/>
        </p:nvSpPr>
        <p:spPr>
          <a:xfrm>
            <a:off x="13830300" y="5300777"/>
            <a:ext cx="3429000" cy="2100377"/>
          </a:xfrm>
          <a:prstGeom prst="rect">
            <a:avLst/>
          </a:prstGeom>
          <a:noFill/>
          <a:ln/>
        </p:spPr>
        <p:txBody>
          <a:bodyPr wrap="square" lIns="0" tIns="0" rIns="0" bIns="0" rtlCol="0" anchor="t"/>
          <a:lstStyle/>
          <a:p>
            <a:pPr algn="l" indent="0" marL="0">
              <a:lnSpc>
                <a:spcPts val="2325"/>
              </a:lnSpc>
              <a:buNone/>
            </a:pPr>
            <a:r>
              <a:rPr lang="en-US" sz="1500" dirty="0">
                <a:solidFill>
                  <a:srgbClr val="211C13"/>
                </a:solidFill>
                <a:latin typeface="Noto Sans JP" pitchFamily="34" charset="0"/>
                <a:ea typeface="Noto Sans JP" pitchFamily="34" charset="-122"/>
                <a:cs typeface="Noto Sans JP" pitchFamily="34" charset="-120"/>
              </a:rPr>
              <a:t>ランキング画面で、自分の表示名があった枠に紙吹雪。</a:t>
            </a:r>
            <a:pPr algn="l" indent="0" marL="0">
              <a:lnSpc>
                <a:spcPts val="2325"/>
              </a:lnSpc>
              <a:buNone/>
            </a:pPr>
            <a:endParaRPr lang="en-US" sz="1500" dirty="0"/>
          </a:p>
          <a:p>
            <a:pPr algn="l" indent="0" marL="0">
              <a:lnSpc>
                <a:spcPts val="2325"/>
              </a:lnSpc>
              <a:buNone/>
            </a:pPr>
            <a:r>
              <a:rPr lang="en-US" sz="1500" dirty="0">
                <a:solidFill>
                  <a:srgbClr val="211C13"/>
                </a:solidFill>
                <a:latin typeface="Noto Sans JP" pitchFamily="34" charset="0"/>
                <a:ea typeface="Noto Sans JP" pitchFamily="34" charset="-122"/>
                <a:cs typeface="Noto Sans JP" pitchFamily="34" charset="-120"/>
              </a:rPr>
              <a:t>別タブで開き直しても再現。</a:t>
            </a:r>
            <a:pPr algn="l" indent="0" marL="0">
              <a:lnSpc>
                <a:spcPts val="2325"/>
              </a:lnSpc>
              <a:buNone/>
            </a:pPr>
            <a:endParaRPr lang="en-US" sz="1500" dirty="0"/>
          </a:p>
          <a:p>
            <a:pPr algn="l" indent="0" marL="0">
              <a:lnSpc>
                <a:spcPts val="2325"/>
              </a:lnSpc>
              <a:buNone/>
            </a:pPr>
            <a:endParaRPr lang="en-US" sz="1500" dirty="0"/>
          </a:p>
          <a:p>
            <a:pPr algn="l" indent="0" marL="0">
              <a:lnSpc>
                <a:spcPts val="2325"/>
              </a:lnSpc>
              <a:buNone/>
            </a:pPr>
            <a:r>
              <a:rPr lang="en-US" sz="1500" dirty="0">
                <a:solidFill>
                  <a:srgbClr val="211C13"/>
                </a:solidFill>
                <a:latin typeface="Noto Sans JP" pitchFamily="34" charset="0"/>
                <a:ea typeface="Noto Sans JP" pitchFamily="34" charset="-122"/>
                <a:cs typeface="Noto Sans JP" pitchFamily="34" charset="-120"/>
              </a:rPr>
              <a:t>1回出たら停止。</a:t>
            </a:r>
            <a:pPr algn="l" indent="0" marL="0">
              <a:lnSpc>
                <a:spcPts val="2325"/>
              </a:lnSpc>
              <a:buNone/>
            </a:pPr>
            <a:endParaRPr lang="en-US" sz="1500" dirty="0"/>
          </a:p>
          <a:p>
            <a:pPr algn="l" indent="0" marL="0">
              <a:lnSpc>
                <a:spcPts val="2325"/>
              </a:lnSpc>
              <a:buNone/>
            </a:pPr>
            <a:r>
              <a:rPr lang="en-US" sz="1500" dirty="0">
                <a:solidFill>
                  <a:srgbClr val="211C13"/>
                </a:solidFill>
                <a:latin typeface="Noto Sans JP" pitchFamily="34" charset="0"/>
                <a:ea typeface="Noto Sans JP" pitchFamily="34" charset="-122"/>
                <a:cs typeface="Noto Sans JP" pitchFamily="34" charset="-120"/>
              </a:rPr>
              <a:t>闇雲にタグを変えたり大量保存したりしない。</a:t>
            </a:r>
            <a:endParaRPr lang="en-US" sz="1500" dirty="0"/>
          </a:p>
        </p:txBody>
      </p:sp>
      <p:pic>
        <p:nvPicPr>
          <p:cNvPr id="17" name="Image 1" descr="gen-dedup-ff3b843c62efd2578b331bdfc9bb7c8f.png">    </p:cNvPr>
          <p:cNvPicPr>
            <a:picLocks noChangeAspect="1"/>
          </p:cNvPicPr>
          <p:nvPr/>
        </p:nvPicPr>
        <p:blipFill>
          <a:blip r:embed="rId2"/>
          <a:srcRect l="-2083" r="-2083" t="0" b="0"/>
          <a:stretch/>
        </p:blipFill>
        <p:spPr>
          <a:xfrm>
            <a:off x="914400" y="9334195"/>
            <a:ext cx="16459200" cy="9144"/>
          </a:xfrm>
          <a:prstGeom prst="rect">
            <a:avLst/>
          </a:prstGeom>
        </p:spPr>
      </p:pic>
      <p:sp>
        <p:nvSpPr>
          <p:cNvPr id="18" name="Shape 13"/>
          <p:cNvSpPr/>
          <p:nvPr/>
        </p:nvSpPr>
        <p:spPr>
          <a:xfrm>
            <a:off x="2667305" y="761695"/>
            <a:ext cx="1619402" cy="381305"/>
          </a:xfrm>
          <a:prstGeom prst="roundRect">
            <a:avLst>
              <a:gd name="adj" fmla="val 49880"/>
            </a:avLst>
          </a:prstGeom>
          <a:solidFill>
            <a:srgbClr val="211C13"/>
          </a:solidFill>
          <a:ln w="12700">
            <a:solidFill>
              <a:srgbClr val="FFFFFF">
                <a:alpha val="0"/>
              </a:srgbClr>
            </a:solidFill>
            <a:prstDash val="solid"/>
          </a:ln>
        </p:spPr>
      </p:sp>
      <p:sp>
        <p:nvSpPr>
          <p:cNvPr id="19" name="Text 14"/>
          <p:cNvSpPr txBox="1"/>
          <p:nvPr/>
        </p:nvSpPr>
        <p:spPr>
          <a:xfrm>
            <a:off x="4572000" y="705002"/>
            <a:ext cx="12382805" cy="219456"/>
          </a:xfrm>
          <a:prstGeom prst="rect">
            <a:avLst/>
          </a:prstGeom>
          <a:noFill/>
          <a:ln/>
        </p:spPr>
        <p:txBody>
          <a:bodyPr wrap="none" lIns="0" tIns="0" rIns="0" bIns="0" rtlCol="0" anchor="ctr"/>
          <a:lstStyle/>
          <a:p>
            <a:pPr algn="l" indent="0" marL="0">
              <a:buNone/>
            </a:pPr>
            <a:r>
              <a:rPr lang="en-US" sz="1350" spc="324" kern="0" dirty="0">
                <a:solidFill>
                  <a:srgbClr val="B4791F"/>
                </a:solidFill>
                <a:latin typeface="JetBrains Mono" pitchFamily="34" charset="0"/>
                <a:ea typeface="JetBrains Mono" pitchFamily="34" charset="-122"/>
                <a:cs typeface="JetBrains Mono" pitchFamily="34" charset="-120"/>
              </a:rPr>
              <a:t>20 · Challenge 02</a:t>
            </a:r>
            <a:endParaRPr lang="en-US" sz="1350" dirty="0"/>
          </a:p>
        </p:txBody>
      </p:sp>
      <p:sp>
        <p:nvSpPr>
          <p:cNvPr id="20" name="Text 15"/>
          <p:cNvSpPr txBox="1"/>
          <p:nvPr/>
        </p:nvSpPr>
        <p:spPr>
          <a:xfrm>
            <a:off x="4572000" y="1000354"/>
            <a:ext cx="12382805" cy="886054"/>
          </a:xfrm>
          <a:prstGeom prst="rect">
            <a:avLst/>
          </a:prstGeom>
          <a:noFill/>
          <a:ln/>
        </p:spPr>
        <p:txBody>
          <a:bodyPr wrap="none" lIns="0" tIns="0" rIns="0" bIns="0" rtlCol="0" anchor="ctr"/>
          <a:lstStyle/>
          <a:p>
            <a:pPr algn="l" indent="0" marL="0">
              <a:buNone/>
            </a:pPr>
            <a:r>
              <a:rPr lang="en-US" sz="6300" b="1" spc="-126" kern="0" dirty="0">
                <a:solidFill>
                  <a:srgbClr val="211C13"/>
                </a:solidFill>
                <a:latin typeface="Zen Kaku Gothic Antique" pitchFamily="34" charset="0"/>
                <a:ea typeface="Zen Kaku Gothic Antique" pitchFamily="34" charset="-122"/>
                <a:cs typeface="Zen Kaku Gothic Antique" pitchFamily="34" charset="-120"/>
              </a:rPr>
              <a:t>解答と再現手順</a:t>
            </a:r>
            <a:endParaRPr lang="en-US" sz="6300" dirty="0"/>
          </a:p>
        </p:txBody>
      </p:sp>
      <p:sp>
        <p:nvSpPr>
          <p:cNvPr id="21" name="Text 16"/>
          <p:cNvSpPr txBox="1"/>
          <p:nvPr/>
        </p:nvSpPr>
        <p:spPr>
          <a:xfrm>
            <a:off x="2667305" y="9562795"/>
            <a:ext cx="9525305" cy="228600"/>
          </a:xfrm>
          <a:prstGeom prst="rect">
            <a:avLst/>
          </a:prstGeom>
          <a:noFill/>
          <a:ln/>
        </p:spPr>
        <p:txBody>
          <a:bodyPr wrap="none" lIns="0" tIns="0" rIns="0" bIns="0" rtlCol="0" anchor="ctr"/>
          <a:lstStyle/>
          <a:p>
            <a:pPr algn="l" indent="0" marL="0">
              <a:buNone/>
            </a:pPr>
            <a:r>
              <a:rPr lang="en-US" sz="1200" spc="72" kern="0" dirty="0">
                <a:solidFill>
                  <a:srgbClr val="5A4F3F"/>
                </a:solidFill>
                <a:latin typeface="JetBrains Mono" pitchFamily="34" charset="0"/>
                <a:ea typeface="JetBrains Mono" pitchFamily="34" charset="-122"/>
                <a:cs typeface="JetBrains Mono" pitchFamily="34" charset="-120"/>
              </a:rPr>
              <a:t>注意 — 証拠コードの確認（画面に見える・Networkに残る）と、システム側の保存受理は別物です</a:t>
            </a:r>
            <a:endParaRPr lang="en-US" sz="1200" dirty="0"/>
          </a:p>
        </p:txBody>
      </p:sp>
      <p:sp>
        <p:nvSpPr>
          <p:cNvPr id="22" name="Text 17"/>
          <p:cNvSpPr txBox="1"/>
          <p:nvPr/>
        </p:nvSpPr>
        <p:spPr>
          <a:xfrm>
            <a:off x="15468905" y="9562795"/>
            <a:ext cx="1905610" cy="200254"/>
          </a:xfrm>
          <a:prstGeom prst="rect">
            <a:avLst/>
          </a:prstGeom>
          <a:noFill/>
          <a:ln/>
        </p:spPr>
        <p:txBody>
          <a:bodyPr wrap="none" lIns="0" tIns="0" rIns="0" bIns="0" rtlCol="0" anchor="ctr"/>
          <a:lstStyle/>
          <a:p>
            <a:pPr algn="r" indent="0" marL="0">
              <a:buNone/>
            </a:pPr>
            <a:r>
              <a:rPr lang="en-US" sz="1200" spc="72" kern="0" dirty="0">
                <a:solidFill>
                  <a:srgbClr val="5A4F3F"/>
                </a:solidFill>
                <a:latin typeface="JetBrains Mono" pitchFamily="34" charset="0"/>
                <a:ea typeface="JetBrains Mono" pitchFamily="34" charset="-122"/>
                <a:cs typeface="JetBrains Mono" pitchFamily="34" charset="-120"/>
              </a:rPr>
              <a:t>20 / 32</a:t>
            </a:r>
            <a:endParaRPr lang="en-US" sz="1200" dirty="0"/>
          </a:p>
        </p:txBody>
      </p:sp>
      <p:sp>
        <p:nvSpPr>
          <p:cNvPr id="23" name="Text 18"/>
          <p:cNvSpPr txBox="1"/>
          <p:nvPr/>
        </p:nvSpPr>
        <p:spPr>
          <a:xfrm>
            <a:off x="2667305" y="761695"/>
            <a:ext cx="1619402" cy="381305"/>
          </a:xfrm>
          <a:prstGeom prst="rect">
            <a:avLst/>
          </a:prstGeom>
          <a:noFill/>
          <a:ln/>
        </p:spPr>
        <p:txBody>
          <a:bodyPr wrap="none" lIns="0" tIns="0" rIns="0" bIns="0" rtlCol="0" anchor="ctr"/>
          <a:lstStyle/>
          <a:p>
            <a:pPr algn="ctr" indent="0" marL="0">
              <a:buNone/>
            </a:pPr>
            <a:r>
              <a:rPr lang="en-US" sz="1050" spc="231" kern="0" dirty="0">
                <a:solidFill>
                  <a:srgbClr val="F5EFDD"/>
                </a:solidFill>
                <a:latin typeface="JetBrains Mono" pitchFamily="34" charset="0"/>
                <a:ea typeface="JetBrains Mono" pitchFamily="34" charset="-122"/>
                <a:cs typeface="JetBrains Mono" pitchFamily="34" charset="-120"/>
              </a:rPr>
              <a:t>INSTRUCTOR</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FE7D4"/>
        </a:solidFill>
      </p:bgPr>
    </p:bg>
    <p:spTree>
      <p:nvGrpSpPr>
        <p:cNvPr id="1" name=""/>
        <p:cNvGrpSpPr/>
        <p:nvPr/>
      </p:nvGrpSpPr>
      <p:grpSpPr>
        <a:xfrm>
          <a:off x="0" y="0"/>
          <a:ext cx="0" cy="0"/>
          <a:chOff x="0" y="0"/>
          <a:chExt cx="0" cy="0"/>
        </a:xfrm>
      </p:grpSpPr>
      <p:sp>
        <p:nvSpPr>
          <p:cNvPr id="3" name="Shape 0"/>
          <p:cNvSpPr/>
          <p:nvPr/>
        </p:nvSpPr>
        <p:spPr>
          <a:xfrm>
            <a:off x="914400" y="3619195"/>
            <a:ext cx="8096098" cy="5333695"/>
          </a:xfrm>
          <a:prstGeom prst="roundRect">
            <a:avLst>
              <a:gd name="adj" fmla="val 720"/>
            </a:avLst>
          </a:prstGeom>
          <a:solidFill>
            <a:srgbClr val="1B1F25"/>
          </a:solidFill>
          <a:ln w="12700">
            <a:solidFill>
              <a:srgbClr val="FFFFFF">
                <a:alpha val="0"/>
              </a:srgbClr>
            </a:solidFill>
            <a:prstDash val="solid"/>
          </a:ln>
        </p:spPr>
      </p:sp>
      <p:sp>
        <p:nvSpPr>
          <p:cNvPr id="4" name="Shape 1"/>
          <p:cNvSpPr/>
          <p:nvPr/>
        </p:nvSpPr>
        <p:spPr>
          <a:xfrm>
            <a:off x="9277502" y="3619195"/>
            <a:ext cx="8096098" cy="5333695"/>
          </a:xfrm>
          <a:prstGeom prst="roundRect">
            <a:avLst>
              <a:gd name="adj" fmla="val 720"/>
            </a:avLst>
          </a:prstGeom>
          <a:solidFill>
            <a:srgbClr val="1B1F25"/>
          </a:solidFill>
          <a:ln w="12700">
            <a:solidFill>
              <a:srgbClr val="FFFFFF">
                <a:alpha val="0"/>
              </a:srgbClr>
            </a:solidFill>
            <a:prstDash val="solid"/>
          </a:ln>
        </p:spPr>
      </p:sp>
      <p:pic>
        <p:nvPicPr>
          <p:cNvPr id="5" name="Image 0" descr="gen-dedup-e79f1b2628d7b72f899c930aeec3b5f9.png">    </p:cNvPr>
          <p:cNvPicPr>
            <a:picLocks noChangeAspect="1"/>
          </p:cNvPicPr>
          <p:nvPr/>
        </p:nvPicPr>
        <p:blipFill>
          <a:blip r:embed="rId1"/>
          <a:srcRect l="0" r="0" t="-401" b="-401"/>
          <a:stretch/>
        </p:blipFill>
        <p:spPr>
          <a:xfrm>
            <a:off x="914400" y="3619195"/>
            <a:ext cx="8096098" cy="57607"/>
          </a:xfrm>
          <a:prstGeom prst="rect">
            <a:avLst/>
          </a:prstGeom>
        </p:spPr>
      </p:pic>
      <p:pic>
        <p:nvPicPr>
          <p:cNvPr id="6" name="Image 1" descr="gen-dedup-8d0165431c89af9412ad4e21cbcb0d70.png">    </p:cNvPr>
          <p:cNvPicPr>
            <a:picLocks noChangeAspect="1"/>
          </p:cNvPicPr>
          <p:nvPr/>
        </p:nvPicPr>
        <p:blipFill>
          <a:blip r:embed="rId2"/>
          <a:srcRect l="0" r="0" t="-401" b="-401"/>
          <a:stretch/>
        </p:blipFill>
        <p:spPr>
          <a:xfrm>
            <a:off x="9277502" y="3619195"/>
            <a:ext cx="8096098" cy="57607"/>
          </a:xfrm>
          <a:prstGeom prst="rect">
            <a:avLst/>
          </a:prstGeom>
        </p:spPr>
      </p:pic>
      <p:sp>
        <p:nvSpPr>
          <p:cNvPr id="7" name="Text 2"/>
          <p:cNvSpPr txBox="1"/>
          <p:nvPr/>
        </p:nvSpPr>
        <p:spPr>
          <a:xfrm>
            <a:off x="1218895" y="3924605"/>
            <a:ext cx="7525512" cy="191110"/>
          </a:xfrm>
          <a:prstGeom prst="rect">
            <a:avLst/>
          </a:prstGeom>
          <a:noFill/>
          <a:ln/>
        </p:spPr>
        <p:txBody>
          <a:bodyPr wrap="none" lIns="0" tIns="0" rIns="0" bIns="0" rtlCol="0" anchor="ctr"/>
          <a:lstStyle/>
          <a:p>
            <a:pPr algn="l" indent="0" marL="0">
              <a:buNone/>
            </a:pPr>
            <a:r>
              <a:rPr lang="en-US" sz="1050" spc="189" kern="0" dirty="0">
                <a:solidFill>
                  <a:srgbClr val="B4791F"/>
                </a:solidFill>
                <a:latin typeface="JetBrains Mono" pitchFamily="34" charset="0"/>
                <a:ea typeface="JetBrains Mono" pitchFamily="34" charset="-122"/>
                <a:cs typeface="JetBrains Mono" pitchFamily="34" charset="-120"/>
              </a:rPr>
              <a:t>VULNERABLE · 文字列を HTML として流し込む</a:t>
            </a:r>
            <a:endParaRPr lang="en-US" sz="1050" dirty="0"/>
          </a:p>
        </p:txBody>
      </p:sp>
      <p:sp>
        <p:nvSpPr>
          <p:cNvPr id="8" name="Text 3"/>
          <p:cNvSpPr txBox="1"/>
          <p:nvPr/>
        </p:nvSpPr>
        <p:spPr>
          <a:xfrm>
            <a:off x="1218895" y="4343400"/>
            <a:ext cx="7525512" cy="1077163"/>
          </a:xfrm>
          <a:prstGeom prst="rect">
            <a:avLst/>
          </a:prstGeom>
          <a:noFill/>
          <a:ln/>
        </p:spPr>
        <p:txBody>
          <a:bodyPr wrap="square" lIns="0" tIns="0" rIns="0" bIns="0" rtlCol="0" anchor="ctr"/>
          <a:lstStyle/>
          <a:p>
            <a:pPr algn="l" indent="0" marL="0">
              <a:lnSpc>
                <a:spcPts val="2805"/>
              </a:lnSpc>
              <a:buNone/>
            </a:pPr>
            <a:r>
              <a:rPr lang="en-US" sz="1650" dirty="0">
                <a:solidFill>
                  <a:srgbClr val="ECE4D2"/>
                </a:solidFill>
                <a:latin typeface="JetBrains Mono" pitchFamily="34" charset="0"/>
                <a:ea typeface="JetBrains Mono" pitchFamily="34" charset="-122"/>
                <a:cs typeface="JetBrains Mono" pitchFamily="34" charset="-120"/>
              </a:rPr>
              <a:t>rankList.forEach(row =&gt; { const el = rowTemplate .querySelector(".name"); el.innerHTML = row.display_name; fragment.appendChild(rowTemplate); });</a:t>
            </a:r>
            <a:endParaRPr lang="en-US" sz="1650" dirty="0"/>
          </a:p>
        </p:txBody>
      </p:sp>
      <p:sp>
        <p:nvSpPr>
          <p:cNvPr id="9" name="Text 4"/>
          <p:cNvSpPr txBox="1"/>
          <p:nvPr/>
        </p:nvSpPr>
        <p:spPr>
          <a:xfrm>
            <a:off x="1218895" y="5601614"/>
            <a:ext cx="7525512" cy="962863"/>
          </a:xfrm>
          <a:prstGeom prst="rect">
            <a:avLst/>
          </a:prstGeom>
          <a:noFill/>
          <a:ln/>
        </p:spPr>
        <p:txBody>
          <a:bodyPr wrap="square" lIns="0" tIns="0" rIns="0" bIns="0" rtlCol="0" anchor="t"/>
          <a:lstStyle/>
          <a:p>
            <a:pPr algn="l" indent="0" marL="0">
              <a:lnSpc>
                <a:spcPts val="2400"/>
              </a:lnSpc>
              <a:buNone/>
            </a:pPr>
            <a:r>
              <a:rPr lang="en-US" sz="1500" dirty="0">
                <a:solidFill>
                  <a:srgbClr val="8A8170"/>
                </a:solidFill>
                <a:latin typeface="Noto Sans JP" pitchFamily="34" charset="0"/>
                <a:ea typeface="Noto Sans JP" pitchFamily="34" charset="-122"/>
                <a:cs typeface="Noto Sans JP" pitchFamily="34" charset="-120"/>
              </a:rPr>
              <a:t>ユーザー由来の文字列を HTML として解釈 — タグ・属性・ハンドラがそのまま評価される。</a:t>
            </a:r>
            <a:pPr algn="l" indent="0" marL="0">
              <a:lnSpc>
                <a:spcPts val="2400"/>
              </a:lnSpc>
              <a:buNone/>
            </a:pPr>
            <a:endParaRPr lang="en-US" sz="1500" dirty="0"/>
          </a:p>
          <a:p>
            <a:pPr algn="l" indent="0" marL="0">
              <a:lnSpc>
                <a:spcPts val="2400"/>
              </a:lnSpc>
              <a:buNone/>
            </a:pPr>
            <a:r>
              <a:rPr lang="en-US" sz="1500" dirty="0">
                <a:solidFill>
                  <a:srgbClr val="8A8170"/>
                </a:solidFill>
                <a:latin typeface="Noto Sans JP" pitchFamily="34" charset="0"/>
                <a:ea typeface="Noto Sans JP" pitchFamily="34" charset="-122"/>
                <a:cs typeface="Noto Sans JP" pitchFamily="34" charset="-120"/>
              </a:rPr>
              <a:t>Vue の </a:t>
            </a:r>
            <a:pPr algn="l" indent="0" marL="0">
              <a:lnSpc>
                <a:spcPts val="2400"/>
              </a:lnSpc>
              <a:buNone/>
            </a:pPr>
            <a:r>
              <a:rPr lang="en-US" sz="1500" dirty="0">
                <a:solidFill>
                  <a:srgbClr val="8A8170"/>
                </a:solidFill>
                <a:latin typeface="JetBrains Mono" pitchFamily="34" charset="0"/>
                <a:ea typeface="JetBrains Mono" pitchFamily="34" charset="-122"/>
                <a:cs typeface="JetBrains Mono" pitchFamily="34" charset="-120"/>
              </a:rPr>
              <a:t>v-html</a:t>
            </a:r>
            <a:pPr algn="l" indent="0" marL="0">
              <a:lnSpc>
                <a:spcPts val="2400"/>
              </a:lnSpc>
              <a:buNone/>
            </a:pPr>
            <a:r>
              <a:rPr lang="en-US" sz="1500" dirty="0">
                <a:solidFill>
                  <a:srgbClr val="8A8170"/>
                </a:solidFill>
                <a:latin typeface="Noto Sans JP" pitchFamily="34" charset="0"/>
                <a:ea typeface="Noto Sans JP" pitchFamily="34" charset="-122"/>
                <a:cs typeface="Noto Sans JP" pitchFamily="34" charset="-120"/>
              </a:rPr>
              <a:t>、React の </a:t>
            </a:r>
            <a:pPr algn="l" indent="0" marL="0">
              <a:lnSpc>
                <a:spcPts val="2400"/>
              </a:lnSpc>
              <a:buNone/>
            </a:pPr>
            <a:r>
              <a:rPr lang="en-US" sz="1500" dirty="0">
                <a:solidFill>
                  <a:srgbClr val="8A8170"/>
                </a:solidFill>
                <a:latin typeface="JetBrains Mono" pitchFamily="34" charset="0"/>
                <a:ea typeface="JetBrains Mono" pitchFamily="34" charset="-122"/>
                <a:cs typeface="JetBrains Mono" pitchFamily="34" charset="-120"/>
              </a:rPr>
              <a:t>dangerouslySetInnerHTML</a:t>
            </a:r>
            <a:pPr algn="l" indent="0" marL="0">
              <a:lnSpc>
                <a:spcPts val="2400"/>
              </a:lnSpc>
              <a:buNone/>
            </a:pPr>
            <a:r>
              <a:rPr lang="en-US" sz="1500" dirty="0">
                <a:solidFill>
                  <a:srgbClr val="8A8170"/>
                </a:solidFill>
                <a:latin typeface="Noto Sans JP" pitchFamily="34" charset="0"/>
                <a:ea typeface="Noto Sans JP" pitchFamily="34" charset="-122"/>
                <a:cs typeface="Noto Sans JP" pitchFamily="34" charset="-120"/>
              </a:rPr>
              <a:t> も同じ位置に該当します。</a:t>
            </a:r>
            <a:endParaRPr lang="en-US" sz="1500" dirty="0"/>
          </a:p>
        </p:txBody>
      </p:sp>
      <p:sp>
        <p:nvSpPr>
          <p:cNvPr id="10" name="Text 5"/>
          <p:cNvSpPr txBox="1"/>
          <p:nvPr/>
        </p:nvSpPr>
        <p:spPr>
          <a:xfrm>
            <a:off x="9581998" y="3924605"/>
            <a:ext cx="7525512" cy="191110"/>
          </a:xfrm>
          <a:prstGeom prst="rect">
            <a:avLst/>
          </a:prstGeom>
          <a:noFill/>
          <a:ln/>
        </p:spPr>
        <p:txBody>
          <a:bodyPr wrap="none" lIns="0" tIns="0" rIns="0" bIns="0" rtlCol="0" anchor="ctr"/>
          <a:lstStyle/>
          <a:p>
            <a:pPr algn="l" indent="0" marL="0">
              <a:buNone/>
            </a:pPr>
            <a:r>
              <a:rPr lang="en-US" sz="1050" spc="189" kern="0" dirty="0">
                <a:solidFill>
                  <a:srgbClr val="5BAA85"/>
                </a:solidFill>
                <a:latin typeface="JetBrains Mono" pitchFamily="34" charset="0"/>
                <a:ea typeface="JetBrains Mono" pitchFamily="34" charset="-122"/>
                <a:cs typeface="JetBrains Mono" pitchFamily="34" charset="-120"/>
              </a:rPr>
              <a:t>FIXED · 文字列をテキストとして扱う</a:t>
            </a:r>
            <a:endParaRPr lang="en-US" sz="1050" dirty="0"/>
          </a:p>
        </p:txBody>
      </p:sp>
      <p:sp>
        <p:nvSpPr>
          <p:cNvPr id="11" name="Text 6"/>
          <p:cNvSpPr txBox="1"/>
          <p:nvPr/>
        </p:nvSpPr>
        <p:spPr>
          <a:xfrm>
            <a:off x="9581998" y="4343400"/>
            <a:ext cx="7525512" cy="1077163"/>
          </a:xfrm>
          <a:prstGeom prst="rect">
            <a:avLst/>
          </a:prstGeom>
          <a:noFill/>
          <a:ln/>
        </p:spPr>
        <p:txBody>
          <a:bodyPr wrap="square" lIns="0" tIns="0" rIns="0" bIns="0" rtlCol="0" anchor="ctr"/>
          <a:lstStyle/>
          <a:p>
            <a:pPr algn="l" indent="0" marL="0">
              <a:lnSpc>
                <a:spcPts val="2805"/>
              </a:lnSpc>
              <a:buNone/>
            </a:pPr>
            <a:r>
              <a:rPr lang="en-US" sz="1650" dirty="0">
                <a:solidFill>
                  <a:srgbClr val="ECE4D2"/>
                </a:solidFill>
                <a:latin typeface="JetBrains Mono" pitchFamily="34" charset="0"/>
                <a:ea typeface="JetBrains Mono" pitchFamily="34" charset="-122"/>
                <a:cs typeface="JetBrains Mono" pitchFamily="34" charset="-120"/>
              </a:rPr>
              <a:t>rankList.forEach(row =&gt; { const el = rowTemplate .querySelector(".name"); el.textContent = row.display_name; fragment.appendChild(rowTemplate); });</a:t>
            </a:r>
            <a:endParaRPr lang="en-US" sz="1650" dirty="0"/>
          </a:p>
        </p:txBody>
      </p:sp>
      <p:sp>
        <p:nvSpPr>
          <p:cNvPr id="12" name="Text 7"/>
          <p:cNvSpPr txBox="1"/>
          <p:nvPr/>
        </p:nvSpPr>
        <p:spPr>
          <a:xfrm>
            <a:off x="9581998" y="5601614"/>
            <a:ext cx="7525512" cy="952805"/>
          </a:xfrm>
          <a:prstGeom prst="rect">
            <a:avLst/>
          </a:prstGeom>
          <a:noFill/>
          <a:ln/>
        </p:spPr>
        <p:txBody>
          <a:bodyPr wrap="square" lIns="0" tIns="0" rIns="0" bIns="0" rtlCol="0" anchor="t"/>
          <a:lstStyle/>
          <a:p>
            <a:pPr algn="l" indent="0" marL="0">
              <a:lnSpc>
                <a:spcPts val="2400"/>
              </a:lnSpc>
              <a:buNone/>
            </a:pPr>
            <a:r>
              <a:rPr lang="en-US" sz="1500" dirty="0">
                <a:solidFill>
                  <a:srgbClr val="8A8170"/>
                </a:solidFill>
                <a:latin typeface="Noto Sans JP" pitchFamily="34" charset="0"/>
                <a:ea typeface="Noto Sans JP" pitchFamily="34" charset="-122"/>
                <a:cs typeface="Noto Sans JP" pitchFamily="34" charset="-120"/>
              </a:rPr>
              <a:t>一行差。</a:t>
            </a:r>
            <a:pPr algn="l" indent="0" marL="0">
              <a:lnSpc>
                <a:spcPts val="2400"/>
              </a:lnSpc>
              <a:buNone/>
            </a:pPr>
            <a:endParaRPr lang="en-US" sz="1500" dirty="0"/>
          </a:p>
          <a:p>
            <a:pPr algn="l" indent="0" marL="0">
              <a:lnSpc>
                <a:spcPts val="2400"/>
              </a:lnSpc>
              <a:buNone/>
            </a:pPr>
            <a:r>
              <a:rPr lang="en-US" sz="1500" dirty="0">
                <a:solidFill>
                  <a:srgbClr val="8A8170"/>
                </a:solidFill>
                <a:latin typeface="Noto Sans JP" pitchFamily="34" charset="0"/>
                <a:ea typeface="Noto Sans JP" pitchFamily="34" charset="-122"/>
                <a:cs typeface="Noto Sans JP" pitchFamily="34" charset="-120"/>
              </a:rPr>
              <a:t>「文字列をそのまま入れたいだけ」ならまず textContent、</a:t>
            </a:r>
            <a:pPr algn="l" indent="0" marL="0">
              <a:lnSpc>
                <a:spcPts val="2400"/>
              </a:lnSpc>
              <a:buNone/>
            </a:pPr>
            <a:endParaRPr lang="en-US" sz="1500" dirty="0"/>
          </a:p>
          <a:p>
            <a:pPr algn="l" indent="0" marL="0">
              <a:lnSpc>
                <a:spcPts val="2400"/>
              </a:lnSpc>
              <a:buNone/>
            </a:pPr>
            <a:r>
              <a:rPr lang="en-US" sz="1500" dirty="0">
                <a:solidFill>
                  <a:srgbClr val="8A8170"/>
                </a:solidFill>
                <a:latin typeface="Noto Sans JP" pitchFamily="34" charset="0"/>
                <a:ea typeface="Noto Sans JP" pitchFamily="34" charset="-122"/>
                <a:cs typeface="Noto Sans JP" pitchFamily="34" charset="-120"/>
              </a:rPr>
              <a:t>HTML として許可するなら DOMPurify 等で明示的に。</a:t>
            </a:r>
            <a:endParaRPr lang="en-US" sz="1500" dirty="0"/>
          </a:p>
        </p:txBody>
      </p:sp>
      <p:pic>
        <p:nvPicPr>
          <p:cNvPr id="13" name="Image 2" descr="gen-dedup-ff3b843c62efd2578b331bdfc9bb7c8f.png">    </p:cNvPr>
          <p:cNvPicPr>
            <a:picLocks noChangeAspect="1"/>
          </p:cNvPicPr>
          <p:nvPr/>
        </p:nvPicPr>
        <p:blipFill>
          <a:blip r:embed="rId3"/>
          <a:srcRect l="-2083" r="-2083" t="0" b="0"/>
          <a:stretch/>
        </p:blipFill>
        <p:spPr>
          <a:xfrm>
            <a:off x="914400" y="9334195"/>
            <a:ext cx="16459200" cy="9144"/>
          </a:xfrm>
          <a:prstGeom prst="rect">
            <a:avLst/>
          </a:prstGeom>
        </p:spPr>
      </p:pic>
      <p:sp>
        <p:nvSpPr>
          <p:cNvPr id="14" name="Shape 8"/>
          <p:cNvSpPr/>
          <p:nvPr/>
        </p:nvSpPr>
        <p:spPr>
          <a:xfrm>
            <a:off x="914400" y="609905"/>
            <a:ext cx="1619402" cy="381305"/>
          </a:xfrm>
          <a:prstGeom prst="roundRect">
            <a:avLst>
              <a:gd name="adj" fmla="val 49880"/>
            </a:avLst>
          </a:prstGeom>
          <a:solidFill>
            <a:srgbClr val="211C13"/>
          </a:solidFill>
          <a:ln w="12700">
            <a:solidFill>
              <a:srgbClr val="FFFFFF">
                <a:alpha val="0"/>
              </a:srgbClr>
            </a:solidFill>
            <a:prstDash val="solid"/>
          </a:ln>
        </p:spPr>
      </p:sp>
      <p:sp>
        <p:nvSpPr>
          <p:cNvPr id="15" name="Text 9"/>
          <p:cNvSpPr txBox="1"/>
          <p:nvPr/>
        </p:nvSpPr>
        <p:spPr>
          <a:xfrm>
            <a:off x="914400" y="1238098"/>
            <a:ext cx="16459200" cy="219456"/>
          </a:xfrm>
          <a:prstGeom prst="rect">
            <a:avLst/>
          </a:prstGeom>
          <a:noFill/>
          <a:ln/>
        </p:spPr>
        <p:txBody>
          <a:bodyPr wrap="none" lIns="0" tIns="0" rIns="0" bIns="0" rtlCol="0" anchor="ctr"/>
          <a:lstStyle/>
          <a:p>
            <a:pPr algn="l" indent="0" marL="0">
              <a:buNone/>
            </a:pPr>
            <a:r>
              <a:rPr lang="en-US" sz="1350" spc="324" kern="0" dirty="0">
                <a:solidFill>
                  <a:srgbClr val="B4791F"/>
                </a:solidFill>
                <a:latin typeface="JetBrains Mono" pitchFamily="34" charset="0"/>
                <a:ea typeface="JetBrains Mono" pitchFamily="34" charset="-122"/>
                <a:cs typeface="JetBrains Mono" pitchFamily="34" charset="-120"/>
              </a:rPr>
              <a:t>21 · Vulnerable vs Fixed</a:t>
            </a:r>
            <a:endParaRPr lang="en-US" sz="1350" dirty="0"/>
          </a:p>
        </p:txBody>
      </p:sp>
      <p:sp>
        <p:nvSpPr>
          <p:cNvPr id="16" name="Text 10"/>
          <p:cNvSpPr txBox="1"/>
          <p:nvPr/>
        </p:nvSpPr>
        <p:spPr>
          <a:xfrm>
            <a:off x="914400" y="1533449"/>
            <a:ext cx="16459200" cy="800100"/>
          </a:xfrm>
          <a:prstGeom prst="rect">
            <a:avLst/>
          </a:prstGeom>
          <a:noFill/>
          <a:ln/>
        </p:spPr>
        <p:txBody>
          <a:bodyPr wrap="none" lIns="0" tIns="0" rIns="0" bIns="0" rtlCol="0" anchor="ctr"/>
          <a:lstStyle/>
          <a:p>
            <a:pPr algn="l" indent="0" marL="0">
              <a:buNone/>
            </a:pPr>
            <a:r>
              <a:rPr lang="en-US" sz="6000" b="1" spc="-120" kern="0" dirty="0">
                <a:solidFill>
                  <a:srgbClr val="211C13"/>
                </a:solidFill>
                <a:latin typeface="Zen Kaku Gothic Antique" pitchFamily="34" charset="0"/>
                <a:ea typeface="Zen Kaku Gothic Antique" pitchFamily="34" charset="-122"/>
                <a:cs typeface="Zen Kaku Gothic Antique" pitchFamily="34" charset="-120"/>
              </a:rPr>
              <a:t>innerHTML vs textContent</a:t>
            </a:r>
            <a:endParaRPr lang="en-US" sz="6000" dirty="0"/>
          </a:p>
        </p:txBody>
      </p:sp>
      <p:sp>
        <p:nvSpPr>
          <p:cNvPr id="17" name="Text 11"/>
          <p:cNvSpPr txBox="1"/>
          <p:nvPr/>
        </p:nvSpPr>
        <p:spPr>
          <a:xfrm>
            <a:off x="914400" y="2467051"/>
            <a:ext cx="16459200" cy="314554"/>
          </a:xfrm>
          <a:prstGeom prst="rect">
            <a:avLst/>
          </a:prstGeom>
          <a:noFill/>
          <a:ln/>
        </p:spPr>
        <p:txBody>
          <a:bodyPr wrap="none" lIns="0" tIns="0" rIns="0" bIns="0" rtlCol="0" anchor="ctr"/>
          <a:lstStyle/>
          <a:p>
            <a:pPr algn="l" indent="0" marL="0">
              <a:buNone/>
            </a:pPr>
            <a:r>
              <a:rPr lang="en-US" sz="1650" dirty="0">
                <a:solidFill>
                  <a:srgbClr val="5A4F3F"/>
                </a:solidFill>
                <a:latin typeface="Noto Sans JP" pitchFamily="34" charset="0"/>
                <a:ea typeface="Noto Sans JP" pitchFamily="34" charset="-122"/>
                <a:cs typeface="Noto Sans JP" pitchFamily="34" charset="-120"/>
              </a:rPr>
              <a:t>教材で確認できた一例ですが、利用中のフレームワーク／テンプレートエンジンに置き換えても同じ観点で捉えてください。</a:t>
            </a:r>
            <a:endParaRPr lang="en-US" sz="1650" dirty="0"/>
          </a:p>
        </p:txBody>
      </p:sp>
      <p:sp>
        <p:nvSpPr>
          <p:cNvPr id="18" name="Text 12"/>
          <p:cNvSpPr txBox="1"/>
          <p:nvPr/>
        </p:nvSpPr>
        <p:spPr>
          <a:xfrm>
            <a:off x="914400" y="9562795"/>
            <a:ext cx="12382805" cy="228600"/>
          </a:xfrm>
          <a:prstGeom prst="rect">
            <a:avLst/>
          </a:prstGeom>
          <a:noFill/>
          <a:ln/>
        </p:spPr>
        <p:txBody>
          <a:bodyPr wrap="none" lIns="0" tIns="0" rIns="0" bIns="0" rtlCol="0" anchor="ctr"/>
          <a:lstStyle/>
          <a:p>
            <a:pPr algn="l" indent="0" marL="0">
              <a:buNone/>
            </a:pPr>
            <a:r>
              <a:rPr lang="en-US" sz="1200" spc="72" kern="0" dirty="0">
                <a:solidFill>
                  <a:srgbClr val="5A4F3F"/>
                </a:solidFill>
                <a:latin typeface="JetBrains Mono" pitchFamily="34" charset="0"/>
                <a:ea typeface="JetBrains Mono" pitchFamily="34" charset="-122"/>
                <a:cs typeface="JetBrains Mono" pitchFamily="34" charset="-120"/>
              </a:rPr>
              <a:t>持ち帰りポイント — 「文字列を入れるならまず textContent」、HTMLとして許すなら理由を言語化する</a:t>
            </a:r>
            <a:endParaRPr lang="en-US" sz="1200" dirty="0"/>
          </a:p>
        </p:txBody>
      </p:sp>
      <p:sp>
        <p:nvSpPr>
          <p:cNvPr id="19" name="Text 13"/>
          <p:cNvSpPr txBox="1"/>
          <p:nvPr/>
        </p:nvSpPr>
        <p:spPr>
          <a:xfrm>
            <a:off x="15468905" y="9562795"/>
            <a:ext cx="1905610" cy="200254"/>
          </a:xfrm>
          <a:prstGeom prst="rect">
            <a:avLst/>
          </a:prstGeom>
          <a:noFill/>
          <a:ln/>
        </p:spPr>
        <p:txBody>
          <a:bodyPr wrap="none" lIns="0" tIns="0" rIns="0" bIns="0" rtlCol="0" anchor="ctr"/>
          <a:lstStyle/>
          <a:p>
            <a:pPr algn="r" indent="0" marL="0">
              <a:buNone/>
            </a:pPr>
            <a:r>
              <a:rPr lang="en-US" sz="1200" spc="72" kern="0" dirty="0">
                <a:solidFill>
                  <a:srgbClr val="5A4F3F"/>
                </a:solidFill>
                <a:latin typeface="JetBrains Mono" pitchFamily="34" charset="0"/>
                <a:ea typeface="JetBrains Mono" pitchFamily="34" charset="-122"/>
                <a:cs typeface="JetBrains Mono" pitchFamily="34" charset="-120"/>
              </a:rPr>
              <a:t>21 / 32</a:t>
            </a:r>
            <a:endParaRPr lang="en-US" sz="1200" dirty="0"/>
          </a:p>
        </p:txBody>
      </p:sp>
      <p:sp>
        <p:nvSpPr>
          <p:cNvPr id="20" name="Text 14"/>
          <p:cNvSpPr txBox="1"/>
          <p:nvPr/>
        </p:nvSpPr>
        <p:spPr>
          <a:xfrm>
            <a:off x="914400" y="609905"/>
            <a:ext cx="1619402" cy="381305"/>
          </a:xfrm>
          <a:prstGeom prst="rect">
            <a:avLst/>
          </a:prstGeom>
          <a:noFill/>
          <a:ln/>
        </p:spPr>
        <p:txBody>
          <a:bodyPr wrap="none" lIns="0" tIns="0" rIns="0" bIns="0" rtlCol="0" anchor="ctr"/>
          <a:lstStyle/>
          <a:p>
            <a:pPr algn="ctr" indent="0" marL="0">
              <a:buNone/>
            </a:pPr>
            <a:r>
              <a:rPr lang="en-US" sz="1050" spc="231" kern="0" dirty="0">
                <a:solidFill>
                  <a:srgbClr val="F5EFDD"/>
                </a:solidFill>
                <a:latin typeface="JetBrains Mono" pitchFamily="34" charset="0"/>
                <a:ea typeface="JetBrains Mono" pitchFamily="34" charset="-122"/>
                <a:cs typeface="JetBrains Mono" pitchFamily="34" charset="-120"/>
              </a:rPr>
              <a:t>INSTRUCTOR</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FE7D4"/>
        </a:solidFill>
      </p:bgPr>
    </p:bg>
    <p:spTree>
      <p:nvGrpSpPr>
        <p:cNvPr id="1" name=""/>
        <p:cNvGrpSpPr/>
        <p:nvPr/>
      </p:nvGrpSpPr>
      <p:grpSpPr>
        <a:xfrm>
          <a:off x="0" y="0"/>
          <a:ext cx="0" cy="0"/>
          <a:chOff x="0" y="0"/>
          <a:chExt cx="0" cy="0"/>
        </a:xfrm>
      </p:grpSpPr>
      <p:sp>
        <p:nvSpPr>
          <p:cNvPr id="3" name="Shape 0"/>
          <p:cNvSpPr/>
          <p:nvPr/>
        </p:nvSpPr>
        <p:spPr>
          <a:xfrm>
            <a:off x="914400" y="2857500"/>
            <a:ext cx="5143500" cy="5524805"/>
          </a:xfrm>
          <a:prstGeom prst="roundRect">
            <a:avLst>
              <a:gd name="adj" fmla="val 747"/>
            </a:avLst>
          </a:prstGeom>
          <a:solidFill>
            <a:srgbClr val="E5DBC4"/>
          </a:solidFill>
          <a:ln w="12700">
            <a:solidFill>
              <a:srgbClr val="FFFFFF">
                <a:alpha val="0"/>
              </a:srgbClr>
            </a:solidFill>
            <a:prstDash val="solid"/>
          </a:ln>
        </p:spPr>
      </p:sp>
      <p:sp>
        <p:nvSpPr>
          <p:cNvPr id="4" name="Shape 1"/>
          <p:cNvSpPr/>
          <p:nvPr/>
        </p:nvSpPr>
        <p:spPr>
          <a:xfrm>
            <a:off x="6324905" y="2857500"/>
            <a:ext cx="11048695" cy="5524805"/>
          </a:xfrm>
          <a:prstGeom prst="roundRect">
            <a:avLst>
              <a:gd name="adj" fmla="val 695"/>
            </a:avLst>
          </a:prstGeom>
          <a:solidFill>
            <a:srgbClr val="1B1F25"/>
          </a:solidFill>
          <a:ln w="12700">
            <a:solidFill>
              <a:srgbClr val="FFFFFF">
                <a:alpha val="0"/>
              </a:srgbClr>
            </a:solidFill>
            <a:prstDash val="solid"/>
          </a:ln>
        </p:spPr>
      </p:sp>
      <p:sp>
        <p:nvSpPr>
          <p:cNvPr id="5" name="Text 2"/>
          <p:cNvSpPr txBox="1"/>
          <p:nvPr/>
        </p:nvSpPr>
        <p:spPr>
          <a:xfrm>
            <a:off x="1218895" y="3143707"/>
            <a:ext cx="4572000" cy="191110"/>
          </a:xfrm>
          <a:prstGeom prst="rect">
            <a:avLst/>
          </a:prstGeom>
          <a:noFill/>
          <a:ln/>
        </p:spPr>
        <p:txBody>
          <a:bodyPr wrap="none" lIns="0" tIns="0" rIns="0" bIns="0" rtlCol="0" anchor="ctr"/>
          <a:lstStyle/>
          <a:p>
            <a:pPr algn="l" indent="0" marL="0">
              <a:buNone/>
            </a:pPr>
            <a:r>
              <a:rPr lang="en-US" sz="1050" spc="189" kern="0" dirty="0">
                <a:solidFill>
                  <a:srgbClr val="5A4F3F"/>
                </a:solidFill>
                <a:latin typeface="JetBrains Mono" pitchFamily="34" charset="0"/>
                <a:ea typeface="JetBrains Mono" pitchFamily="34" charset="-122"/>
                <a:cs typeface="JetBrains Mono" pitchFamily="34" charset="-120"/>
              </a:rPr>
              <a:t>20 と同じ入力</a:t>
            </a:r>
            <a:endParaRPr lang="en-US" sz="1050" dirty="0"/>
          </a:p>
        </p:txBody>
      </p:sp>
      <p:sp>
        <p:nvSpPr>
          <p:cNvPr id="6" name="Shape 3"/>
          <p:cNvSpPr/>
          <p:nvPr/>
        </p:nvSpPr>
        <p:spPr>
          <a:xfrm>
            <a:off x="1218895" y="3504895"/>
            <a:ext cx="4572000" cy="1076249"/>
          </a:xfrm>
          <a:prstGeom prst="roundRect">
            <a:avLst>
              <a:gd name="adj" fmla="val 3568"/>
            </a:avLst>
          </a:prstGeom>
          <a:solidFill>
            <a:srgbClr val="1B1F25"/>
          </a:solidFill>
          <a:ln w="12700">
            <a:solidFill>
              <a:srgbClr val="FFFFFF">
                <a:alpha val="0"/>
              </a:srgbClr>
            </a:solidFill>
            <a:prstDash val="solid"/>
          </a:ln>
        </p:spPr>
      </p:sp>
      <p:sp>
        <p:nvSpPr>
          <p:cNvPr id="7" name="Text 4"/>
          <p:cNvSpPr txBox="1"/>
          <p:nvPr/>
        </p:nvSpPr>
        <p:spPr>
          <a:xfrm>
            <a:off x="1218895" y="3504895"/>
            <a:ext cx="4572000" cy="1077163"/>
          </a:xfrm>
          <a:prstGeom prst="rect">
            <a:avLst/>
          </a:prstGeom>
          <a:solidFill>
            <a:srgbClr val="FFFFFF">
              <a:alpha val="0"/>
            </a:srgbClr>
          </a:solidFill>
          <a:ln>
            <a:solidFill>
              <a:srgbClr val="FFFFFF">
                <a:alpha val="0"/>
              </a:srgbClr>
            </a:solidFill>
          </a:ln>
        </p:spPr>
        <p:txBody>
          <a:bodyPr wrap="square" lIns="177800" tIns="177800" rIns="177800" bIns="177800" rtlCol="0" anchor="ctr"/>
          <a:lstStyle/>
          <a:p>
            <a:pPr algn="l" indent="0" marL="0">
              <a:lnSpc>
                <a:spcPts val="2880"/>
              </a:lnSpc>
              <a:buNone/>
            </a:pPr>
            <a:r>
              <a:rPr lang="en-US" sz="1800" dirty="0">
                <a:solidFill>
                  <a:srgbClr val="ECE4D2"/>
                </a:solidFill>
                <a:latin typeface="JetBrains Mono" pitchFamily="34" charset="0"/>
                <a:ea typeface="JetBrains Mono" pitchFamily="34" charset="-122"/>
                <a:cs typeface="JetBrains Mono" pitchFamily="34" charset="-120"/>
              </a:rPr>
              <a:t>&lt;img src=x onerror="celebrate()"&gt;</a:t>
            </a:r>
            <a:endParaRPr lang="en-US" sz="1800" dirty="0"/>
          </a:p>
        </p:txBody>
      </p:sp>
      <p:sp>
        <p:nvSpPr>
          <p:cNvPr id="8" name="Text 5"/>
          <p:cNvSpPr txBox="1"/>
          <p:nvPr/>
        </p:nvSpPr>
        <p:spPr>
          <a:xfrm>
            <a:off x="1218895" y="4807915"/>
            <a:ext cx="4572000" cy="333756"/>
          </a:xfrm>
          <a:prstGeom prst="rect">
            <a:avLst/>
          </a:prstGeom>
          <a:noFill/>
          <a:ln/>
        </p:spPr>
        <p:txBody>
          <a:bodyPr wrap="none" lIns="0" tIns="0" rIns="0" bIns="0" rtlCol="0" anchor="ctr"/>
          <a:lstStyle/>
          <a:p>
            <a:pPr algn="l" indent="0" marL="0">
              <a:buNone/>
            </a:pPr>
            <a:r>
              <a:rPr lang="en-US" sz="1650" dirty="0">
                <a:solidFill>
                  <a:srgbClr val="211C13"/>
                </a:solidFill>
                <a:latin typeface="Noto Sans JP" pitchFamily="34" charset="0"/>
                <a:ea typeface="Noto Sans JP" pitchFamily="34" charset="-122"/>
                <a:cs typeface="Noto Sans JP" pitchFamily="34" charset="-120"/>
              </a:rPr>
              <a:t>保存し、画面を再読み込みして観察します。</a:t>
            </a:r>
            <a:endParaRPr lang="en-US" sz="1650" dirty="0"/>
          </a:p>
        </p:txBody>
      </p:sp>
      <p:sp>
        <p:nvSpPr>
          <p:cNvPr id="9" name="Text 6"/>
          <p:cNvSpPr txBox="1"/>
          <p:nvPr/>
        </p:nvSpPr>
        <p:spPr>
          <a:xfrm>
            <a:off x="6629400" y="3143707"/>
            <a:ext cx="10478110" cy="191110"/>
          </a:xfrm>
          <a:prstGeom prst="rect">
            <a:avLst/>
          </a:prstGeom>
          <a:noFill/>
          <a:ln/>
        </p:spPr>
        <p:txBody>
          <a:bodyPr wrap="none" lIns="0" tIns="0" rIns="0" bIns="0" rtlCol="0" anchor="ctr"/>
          <a:lstStyle/>
          <a:p>
            <a:pPr algn="l" indent="0" marL="0">
              <a:buNone/>
            </a:pPr>
            <a:r>
              <a:rPr lang="en-US" sz="1050" spc="189" kern="0" dirty="0">
                <a:solidFill>
                  <a:srgbClr val="5BAA85"/>
                </a:solidFill>
                <a:latin typeface="JetBrains Mono" pitchFamily="34" charset="0"/>
                <a:ea typeface="JetBrains Mono" pitchFamily="34" charset="-122"/>
                <a:cs typeface="JetBrains Mono" pitchFamily="34" charset="-120"/>
              </a:rPr>
              <a:t>修正版での挙動（教材で確認した一例）</a:t>
            </a:r>
            <a:endParaRPr lang="en-US" sz="1050" dirty="0"/>
          </a:p>
        </p:txBody>
      </p:sp>
      <p:sp>
        <p:nvSpPr>
          <p:cNvPr id="10" name="Text 7"/>
          <p:cNvSpPr txBox="1"/>
          <p:nvPr/>
        </p:nvSpPr>
        <p:spPr>
          <a:xfrm>
            <a:off x="6629400" y="3619195"/>
            <a:ext cx="4953305" cy="333756"/>
          </a:xfrm>
          <a:prstGeom prst="rect">
            <a:avLst/>
          </a:prstGeom>
          <a:noFill/>
          <a:ln/>
        </p:spPr>
        <p:txBody>
          <a:bodyPr wrap="none" lIns="0" tIns="0" rIns="0" bIns="0" rtlCol="0" anchor="ctr"/>
          <a:lstStyle/>
          <a:p>
            <a:pPr algn="l" indent="0" marL="0">
              <a:buNone/>
            </a:pPr>
            <a:r>
              <a:rPr lang="en-US" sz="1800" b="1" dirty="0">
                <a:solidFill>
                  <a:srgbClr val="F5EFDD"/>
                </a:solidFill>
                <a:latin typeface="Noto Sans JP" pitchFamily="34" charset="0"/>
                <a:ea typeface="Noto Sans JP" pitchFamily="34" charset="-122"/>
                <a:cs typeface="Noto Sans JP" pitchFamily="34" charset="-120"/>
              </a:rPr>
              <a:t>紙吹雪は出ない</a:t>
            </a:r>
            <a:endParaRPr lang="en-US" sz="1800" dirty="0"/>
          </a:p>
        </p:txBody>
      </p:sp>
      <p:sp>
        <p:nvSpPr>
          <p:cNvPr id="11" name="Text 8"/>
          <p:cNvSpPr txBox="1"/>
          <p:nvPr/>
        </p:nvSpPr>
        <p:spPr>
          <a:xfrm>
            <a:off x="6629400" y="4034333"/>
            <a:ext cx="4953305" cy="623621"/>
          </a:xfrm>
          <a:prstGeom prst="rect">
            <a:avLst/>
          </a:prstGeom>
          <a:noFill/>
          <a:ln/>
        </p:spPr>
        <p:txBody>
          <a:bodyPr wrap="square" lIns="0" tIns="0" rIns="0" bIns="0" rtlCol="0" anchor="t"/>
          <a:lstStyle/>
          <a:p>
            <a:pPr algn="l" indent="0" marL="0">
              <a:lnSpc>
                <a:spcPts val="2325"/>
              </a:lnSpc>
              <a:buNone/>
            </a:pPr>
            <a:r>
              <a:rPr lang="en-US" sz="1500" dirty="0">
                <a:solidFill>
                  <a:srgbClr val="ECE4D2"/>
                </a:solidFill>
                <a:latin typeface="Noto Sans JP" pitchFamily="34" charset="0"/>
                <a:ea typeface="Noto Sans JP" pitchFamily="34" charset="-122"/>
                <a:cs typeface="Noto Sans JP" pitchFamily="34" charset="-120"/>
              </a:rPr>
              <a:t>onerror は発火せず、</a:t>
            </a:r>
            <a:pPr algn="l" indent="0" marL="0">
              <a:lnSpc>
                <a:spcPts val="2325"/>
              </a:lnSpc>
              <a:buNone/>
            </a:pPr>
            <a:endParaRPr lang="en-US" sz="1500" dirty="0"/>
          </a:p>
          <a:p>
            <a:pPr algn="l" indent="0" marL="0">
              <a:lnSpc>
                <a:spcPts val="2325"/>
              </a:lnSpc>
              <a:buNone/>
            </a:pPr>
            <a:r>
              <a:rPr lang="en-US" sz="1500" dirty="0">
                <a:solidFill>
                  <a:srgbClr val="ECE4D2"/>
                </a:solidFill>
                <a:latin typeface="Noto Sans JP" pitchFamily="34" charset="0"/>
                <a:ea typeface="Noto Sans JP" pitchFamily="34" charset="-122"/>
                <a:cs typeface="Noto Sans JP" pitchFamily="34" charset="-120"/>
              </a:rPr>
              <a:t>紙吹雪バナーも表示されない。</a:t>
            </a:r>
            <a:endParaRPr lang="en-US" sz="1500" dirty="0"/>
          </a:p>
        </p:txBody>
      </p:sp>
      <p:sp>
        <p:nvSpPr>
          <p:cNvPr id="12" name="Text 9"/>
          <p:cNvSpPr txBox="1"/>
          <p:nvPr/>
        </p:nvSpPr>
        <p:spPr>
          <a:xfrm>
            <a:off x="11925605" y="3619195"/>
            <a:ext cx="4953305" cy="333756"/>
          </a:xfrm>
          <a:prstGeom prst="rect">
            <a:avLst/>
          </a:prstGeom>
          <a:noFill/>
          <a:ln/>
        </p:spPr>
        <p:txBody>
          <a:bodyPr wrap="none" lIns="0" tIns="0" rIns="0" bIns="0" rtlCol="0" anchor="ctr"/>
          <a:lstStyle/>
          <a:p>
            <a:pPr algn="l" indent="0" marL="0">
              <a:buNone/>
            </a:pPr>
            <a:r>
              <a:rPr lang="en-US" sz="1800" b="1" dirty="0">
                <a:solidFill>
                  <a:srgbClr val="F5EFDD"/>
                </a:solidFill>
                <a:latin typeface="Noto Sans JP" pitchFamily="34" charset="0"/>
                <a:ea typeface="Noto Sans JP" pitchFamily="34" charset="-122"/>
                <a:cs typeface="Noto Sans JP" pitchFamily="34" charset="-120"/>
              </a:rPr>
              <a:t>文字列は「文字」として見える</a:t>
            </a:r>
            <a:endParaRPr lang="en-US" sz="1800" dirty="0"/>
          </a:p>
        </p:txBody>
      </p:sp>
      <p:sp>
        <p:nvSpPr>
          <p:cNvPr id="13" name="Text 10"/>
          <p:cNvSpPr txBox="1"/>
          <p:nvPr/>
        </p:nvSpPr>
        <p:spPr>
          <a:xfrm>
            <a:off x="11925605" y="4034333"/>
            <a:ext cx="4953305" cy="623621"/>
          </a:xfrm>
          <a:prstGeom prst="rect">
            <a:avLst/>
          </a:prstGeom>
          <a:noFill/>
          <a:ln/>
        </p:spPr>
        <p:txBody>
          <a:bodyPr wrap="square" lIns="0" tIns="0" rIns="0" bIns="0" rtlCol="0" anchor="t"/>
          <a:lstStyle/>
          <a:p>
            <a:pPr algn="l" indent="0" marL="0">
              <a:lnSpc>
                <a:spcPts val="2325"/>
              </a:lnSpc>
              <a:buNone/>
            </a:pPr>
            <a:r>
              <a:rPr lang="en-US" sz="1500" dirty="0">
                <a:solidFill>
                  <a:srgbClr val="ECE4D2"/>
                </a:solidFill>
                <a:latin typeface="Noto Sans JP" pitchFamily="34" charset="0"/>
                <a:ea typeface="Noto Sans JP" pitchFamily="34" charset="-122"/>
                <a:cs typeface="Noto Sans JP" pitchFamily="34" charset="-120"/>
              </a:rPr>
              <a:t>自分のランキング該当行に、</a:t>
            </a:r>
            <a:pPr algn="l" indent="0" marL="0">
              <a:lnSpc>
                <a:spcPts val="2325"/>
              </a:lnSpc>
              <a:buNone/>
            </a:pPr>
            <a:endParaRPr lang="en-US" sz="1500" dirty="0"/>
          </a:p>
          <a:p>
            <a:pPr algn="l" indent="0" marL="0">
              <a:lnSpc>
                <a:spcPts val="2325"/>
              </a:lnSpc>
              <a:buNone/>
            </a:pPr>
            <a:r>
              <a:rPr lang="en-US" sz="1500" dirty="0">
                <a:solidFill>
                  <a:srgbClr val="ECE4D2"/>
                </a:solidFill>
                <a:latin typeface="Noto Sans JP" pitchFamily="34" charset="0"/>
                <a:ea typeface="Noto Sans JP" pitchFamily="34" charset="-122"/>
                <a:cs typeface="Noto Sans JP" pitchFamily="34" charset="-120"/>
              </a:rPr>
              <a:t>入力した文字列がそのまま読める文字として並ぶ。</a:t>
            </a:r>
            <a:endParaRPr lang="en-US" sz="1500" dirty="0"/>
          </a:p>
        </p:txBody>
      </p:sp>
      <p:pic>
        <p:nvPicPr>
          <p:cNvPr id="14" name="Image 0" descr="gen-dedup-ab21372051da8e272d8af20430ed7995.png">    </p:cNvPr>
          <p:cNvPicPr>
            <a:picLocks noChangeAspect="1"/>
          </p:cNvPicPr>
          <p:nvPr/>
        </p:nvPicPr>
        <p:blipFill>
          <a:blip r:embed="rId1"/>
          <a:srcRect l="-2083" r="-2083" t="0" b="0"/>
          <a:stretch/>
        </p:blipFill>
        <p:spPr>
          <a:xfrm>
            <a:off x="6629400" y="5000854"/>
            <a:ext cx="10477195" cy="9144"/>
          </a:xfrm>
          <a:prstGeom prst="rect">
            <a:avLst/>
          </a:prstGeom>
        </p:spPr>
      </p:pic>
      <p:sp>
        <p:nvSpPr>
          <p:cNvPr id="15" name="Text 11"/>
          <p:cNvSpPr txBox="1"/>
          <p:nvPr/>
        </p:nvSpPr>
        <p:spPr>
          <a:xfrm>
            <a:off x="6629400" y="5219395"/>
            <a:ext cx="10478110" cy="171907"/>
          </a:xfrm>
          <a:prstGeom prst="rect">
            <a:avLst/>
          </a:prstGeom>
          <a:noFill/>
          <a:ln/>
        </p:spPr>
        <p:txBody>
          <a:bodyPr wrap="none" lIns="0" tIns="0" rIns="0" bIns="0" rtlCol="0" anchor="ctr"/>
          <a:lstStyle/>
          <a:p>
            <a:pPr algn="l" indent="0" marL="0">
              <a:buNone/>
            </a:pPr>
            <a:r>
              <a:rPr lang="en-US" sz="1050" spc="189" kern="0" dirty="0">
                <a:solidFill>
                  <a:srgbClr val="D4922A"/>
                </a:solidFill>
                <a:latin typeface="JetBrains Mono" pitchFamily="34" charset="0"/>
                <a:ea typeface="JetBrains Mono" pitchFamily="34" charset="-122"/>
                <a:cs typeface="JetBrains Mono" pitchFamily="34" charset="-120"/>
              </a:rPr>
              <a:t>KEY POINT</a:t>
            </a:r>
            <a:endParaRPr lang="en-US" sz="1050" dirty="0"/>
          </a:p>
        </p:txBody>
      </p:sp>
      <p:sp>
        <p:nvSpPr>
          <p:cNvPr id="16" name="Text 12"/>
          <p:cNvSpPr txBox="1"/>
          <p:nvPr/>
        </p:nvSpPr>
        <p:spPr>
          <a:xfrm>
            <a:off x="6629400" y="5465369"/>
            <a:ext cx="10478110" cy="755294"/>
          </a:xfrm>
          <a:prstGeom prst="rect">
            <a:avLst/>
          </a:prstGeom>
          <a:noFill/>
          <a:ln/>
        </p:spPr>
        <p:txBody>
          <a:bodyPr wrap="square" lIns="0" tIns="0" rIns="0" bIns="0" rtlCol="0" anchor="t"/>
          <a:lstStyle/>
          <a:p>
            <a:pPr algn="l" indent="0" marL="0">
              <a:lnSpc>
                <a:spcPts val="2790"/>
              </a:lnSpc>
              <a:buNone/>
            </a:pPr>
            <a:r>
              <a:rPr lang="en-US" sz="1800" dirty="0">
                <a:solidFill>
                  <a:srgbClr val="F5EFDD"/>
                </a:solidFill>
                <a:latin typeface="Noto Sans JP" pitchFamily="34" charset="0"/>
                <a:ea typeface="Noto Sans JP" pitchFamily="34" charset="-122"/>
                <a:cs typeface="Noto Sans JP" pitchFamily="34" charset="-120"/>
              </a:rPr>
              <a:t>保存は受理されても、表示時に「文字列として扱う」だけで十分。</a:t>
            </a:r>
            <a:pPr algn="l" indent="0" marL="0">
              <a:lnSpc>
                <a:spcPts val="2790"/>
              </a:lnSpc>
              <a:buNone/>
            </a:pPr>
            <a:endParaRPr lang="en-US" sz="1800" dirty="0"/>
          </a:p>
          <a:p>
            <a:pPr algn="l" indent="0" marL="0">
              <a:lnSpc>
                <a:spcPts val="2790"/>
              </a:lnSpc>
              <a:buNone/>
            </a:pPr>
            <a:r>
              <a:rPr lang="en-US" sz="1800" dirty="0">
                <a:solidFill>
                  <a:srgbClr val="F5EFDD"/>
                </a:solidFill>
                <a:latin typeface="Noto Sans JP" pitchFamily="34" charset="0"/>
                <a:ea typeface="Noto Sans JP" pitchFamily="34" charset="-122"/>
                <a:cs typeface="Noto Sans JP" pitchFamily="34" charset="-120"/>
              </a:rPr>
              <a:t>同じデータが同じ場所を通っても、レンダリング側の選択で意味が変わる。</a:t>
            </a:r>
            <a:endParaRPr lang="en-US" sz="1800" dirty="0"/>
          </a:p>
        </p:txBody>
      </p:sp>
      <p:pic>
        <p:nvPicPr>
          <p:cNvPr id="17" name="Image 1" descr="gen-dedup-ff3b843c62efd2578b331bdfc9bb7c8f.png">    </p:cNvPr>
          <p:cNvPicPr>
            <a:picLocks noChangeAspect="1"/>
          </p:cNvPicPr>
          <p:nvPr/>
        </p:nvPicPr>
        <p:blipFill>
          <a:blip r:embed="rId2"/>
          <a:srcRect l="-2083" r="-2083" t="0" b="0"/>
          <a:stretch/>
        </p:blipFill>
        <p:spPr>
          <a:xfrm>
            <a:off x="914400" y="9334195"/>
            <a:ext cx="16459200" cy="9144"/>
          </a:xfrm>
          <a:prstGeom prst="rect">
            <a:avLst/>
          </a:prstGeom>
        </p:spPr>
      </p:pic>
      <p:sp>
        <p:nvSpPr>
          <p:cNvPr id="18" name="Shape 13"/>
          <p:cNvSpPr/>
          <p:nvPr/>
        </p:nvSpPr>
        <p:spPr>
          <a:xfrm>
            <a:off x="914400" y="609905"/>
            <a:ext cx="1619402" cy="381305"/>
          </a:xfrm>
          <a:prstGeom prst="roundRect">
            <a:avLst>
              <a:gd name="adj" fmla="val 49880"/>
            </a:avLst>
          </a:prstGeom>
          <a:solidFill>
            <a:srgbClr val="211C13"/>
          </a:solidFill>
          <a:ln w="12700">
            <a:solidFill>
              <a:srgbClr val="FFFFFF">
                <a:alpha val="0"/>
              </a:srgbClr>
            </a:solidFill>
            <a:prstDash val="solid"/>
          </a:ln>
        </p:spPr>
      </p:sp>
      <p:sp>
        <p:nvSpPr>
          <p:cNvPr id="19" name="Text 14"/>
          <p:cNvSpPr txBox="1"/>
          <p:nvPr/>
        </p:nvSpPr>
        <p:spPr>
          <a:xfrm>
            <a:off x="914400" y="1238098"/>
            <a:ext cx="16459200" cy="219456"/>
          </a:xfrm>
          <a:prstGeom prst="rect">
            <a:avLst/>
          </a:prstGeom>
          <a:noFill/>
          <a:ln/>
        </p:spPr>
        <p:txBody>
          <a:bodyPr wrap="none" lIns="0" tIns="0" rIns="0" bIns="0" rtlCol="0" anchor="ctr"/>
          <a:lstStyle/>
          <a:p>
            <a:pPr algn="l" indent="0" marL="0">
              <a:buNone/>
            </a:pPr>
            <a:r>
              <a:rPr lang="en-US" sz="1350" spc="324" kern="0" dirty="0">
                <a:solidFill>
                  <a:srgbClr val="2F6F4F"/>
                </a:solidFill>
                <a:latin typeface="JetBrains Mono" pitchFamily="34" charset="0"/>
                <a:ea typeface="JetBrains Mono" pitchFamily="34" charset="-122"/>
                <a:cs typeface="JetBrains Mono" pitchFamily="34" charset="-120"/>
              </a:rPr>
              <a:t>22 · Fixed build, same payload</a:t>
            </a:r>
            <a:endParaRPr lang="en-US" sz="1350" dirty="0"/>
          </a:p>
        </p:txBody>
      </p:sp>
      <p:sp>
        <p:nvSpPr>
          <p:cNvPr id="20" name="Text 15"/>
          <p:cNvSpPr txBox="1"/>
          <p:nvPr/>
        </p:nvSpPr>
        <p:spPr>
          <a:xfrm>
            <a:off x="914400" y="1533449"/>
            <a:ext cx="16459200" cy="838505"/>
          </a:xfrm>
          <a:prstGeom prst="rect">
            <a:avLst/>
          </a:prstGeom>
          <a:noFill/>
          <a:ln/>
        </p:spPr>
        <p:txBody>
          <a:bodyPr wrap="none" lIns="0" tIns="0" rIns="0" bIns="0" rtlCol="0" anchor="ctr"/>
          <a:lstStyle/>
          <a:p>
            <a:pPr algn="l" indent="0" marL="0">
              <a:buNone/>
            </a:pPr>
            <a:r>
              <a:rPr lang="en-US" sz="6000" b="1" spc="-120" kern="0" dirty="0">
                <a:solidFill>
                  <a:srgbClr val="211C13"/>
                </a:solidFill>
                <a:latin typeface="Zen Kaku Gothic Antique" pitchFamily="34" charset="0"/>
                <a:ea typeface="Zen Kaku Gothic Antique" pitchFamily="34" charset="-122"/>
                <a:cs typeface="Zen Kaku Gothic Antique" pitchFamily="34" charset="-120"/>
              </a:rPr>
              <a:t>同じ文字列を入れたら</a:t>
            </a:r>
            <a:endParaRPr lang="en-US" sz="6000" dirty="0"/>
          </a:p>
        </p:txBody>
      </p:sp>
      <p:sp>
        <p:nvSpPr>
          <p:cNvPr id="21" name="Text 16"/>
          <p:cNvSpPr txBox="1"/>
          <p:nvPr/>
        </p:nvSpPr>
        <p:spPr>
          <a:xfrm>
            <a:off x="914400" y="8667598"/>
            <a:ext cx="16459200" cy="228600"/>
          </a:xfrm>
          <a:prstGeom prst="rect">
            <a:avLst/>
          </a:prstGeom>
          <a:noFill/>
          <a:ln/>
        </p:spPr>
        <p:txBody>
          <a:bodyPr wrap="none" lIns="0" tIns="0" rIns="0" bIns="0" rtlCol="0" anchor="ctr"/>
          <a:lstStyle/>
          <a:p>
            <a:pPr algn="l" indent="0" marL="0">
              <a:buNone/>
            </a:pPr>
            <a:r>
              <a:rPr lang="en-US" sz="1200" spc="72" kern="0" dirty="0">
                <a:solidFill>
                  <a:srgbClr val="5A4F3F"/>
                </a:solidFill>
                <a:latin typeface="JetBrains Mono" pitchFamily="34" charset="0"/>
                <a:ea typeface="JetBrains Mono" pitchFamily="34" charset="-122"/>
                <a:cs typeface="JetBrains Mono" pitchFamily="34" charset="-120"/>
              </a:rPr>
              <a:t>※ 表示の細部は実装依存です — 文字が見えても別フィールドに意図せず漏れていないか、Elements で見比べるのが要点</a:t>
            </a:r>
            <a:endParaRPr lang="en-US" sz="1200" dirty="0"/>
          </a:p>
        </p:txBody>
      </p:sp>
      <p:sp>
        <p:nvSpPr>
          <p:cNvPr id="22" name="Text 17"/>
          <p:cNvSpPr txBox="1"/>
          <p:nvPr/>
        </p:nvSpPr>
        <p:spPr>
          <a:xfrm>
            <a:off x="914400" y="9562795"/>
            <a:ext cx="9525305" cy="228600"/>
          </a:xfrm>
          <a:prstGeom prst="rect">
            <a:avLst/>
          </a:prstGeom>
          <a:noFill/>
          <a:ln/>
        </p:spPr>
        <p:txBody>
          <a:bodyPr wrap="none" lIns="0" tIns="0" rIns="0" bIns="0" rtlCol="0" anchor="ctr"/>
          <a:lstStyle/>
          <a:p>
            <a:pPr algn="l" indent="0" marL="0">
              <a:buNone/>
            </a:pPr>
            <a:r>
              <a:rPr lang="en-US" sz="1200" spc="72" kern="0" dirty="0">
                <a:solidFill>
                  <a:srgbClr val="5A4F3F"/>
                </a:solidFill>
                <a:latin typeface="JetBrains Mono" pitchFamily="34" charset="0"/>
                <a:ea typeface="JetBrains Mono" pitchFamily="34" charset="-122"/>
                <a:cs typeface="JetBrains Mono" pitchFamily="34" charset="-120"/>
              </a:rPr>
              <a:t>ここで言う「同じデータが同じ場所を通っても」とは「入力→保存→再取得→表示」の各段階の挙動のこと</a:t>
            </a:r>
            <a:endParaRPr lang="en-US" sz="1200" dirty="0"/>
          </a:p>
        </p:txBody>
      </p:sp>
      <p:sp>
        <p:nvSpPr>
          <p:cNvPr id="23" name="Text 18"/>
          <p:cNvSpPr txBox="1"/>
          <p:nvPr/>
        </p:nvSpPr>
        <p:spPr>
          <a:xfrm>
            <a:off x="15468905" y="9562795"/>
            <a:ext cx="1905610" cy="200254"/>
          </a:xfrm>
          <a:prstGeom prst="rect">
            <a:avLst/>
          </a:prstGeom>
          <a:noFill/>
          <a:ln/>
        </p:spPr>
        <p:txBody>
          <a:bodyPr wrap="none" lIns="0" tIns="0" rIns="0" bIns="0" rtlCol="0" anchor="ctr"/>
          <a:lstStyle/>
          <a:p>
            <a:pPr algn="r" indent="0" marL="0">
              <a:buNone/>
            </a:pPr>
            <a:r>
              <a:rPr lang="en-US" sz="1200" spc="72" kern="0" dirty="0">
                <a:solidFill>
                  <a:srgbClr val="5A4F3F"/>
                </a:solidFill>
                <a:latin typeface="JetBrains Mono" pitchFamily="34" charset="0"/>
                <a:ea typeface="JetBrains Mono" pitchFamily="34" charset="-122"/>
                <a:cs typeface="JetBrains Mono" pitchFamily="34" charset="-120"/>
              </a:rPr>
              <a:t>22 / 32</a:t>
            </a:r>
            <a:endParaRPr lang="en-US" sz="1200" dirty="0"/>
          </a:p>
        </p:txBody>
      </p:sp>
      <p:sp>
        <p:nvSpPr>
          <p:cNvPr id="24" name="Text 19"/>
          <p:cNvSpPr txBox="1"/>
          <p:nvPr/>
        </p:nvSpPr>
        <p:spPr>
          <a:xfrm>
            <a:off x="914400" y="609905"/>
            <a:ext cx="1619402" cy="381305"/>
          </a:xfrm>
          <a:prstGeom prst="rect">
            <a:avLst/>
          </a:prstGeom>
          <a:noFill/>
          <a:ln/>
        </p:spPr>
        <p:txBody>
          <a:bodyPr wrap="none" lIns="0" tIns="0" rIns="0" bIns="0" rtlCol="0" anchor="ctr"/>
          <a:lstStyle/>
          <a:p>
            <a:pPr algn="ctr" indent="0" marL="0">
              <a:buNone/>
            </a:pPr>
            <a:r>
              <a:rPr lang="en-US" sz="1050" spc="231" kern="0" dirty="0">
                <a:solidFill>
                  <a:srgbClr val="F5EFDD"/>
                </a:solidFill>
                <a:latin typeface="JetBrains Mono" pitchFamily="34" charset="0"/>
                <a:ea typeface="JetBrains Mono" pitchFamily="34" charset="-122"/>
                <a:cs typeface="JetBrains Mono" pitchFamily="34" charset="-120"/>
              </a:rPr>
              <a:t>INSTRUCTOR</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FE7D4"/>
        </a:solidFill>
      </p:bgPr>
    </p:bg>
    <p:spTree>
      <p:nvGrpSpPr>
        <p:cNvPr id="1" name=""/>
        <p:cNvGrpSpPr/>
        <p:nvPr/>
      </p:nvGrpSpPr>
      <p:grpSpPr>
        <a:xfrm>
          <a:off x="0" y="0"/>
          <a:ext cx="0" cy="0"/>
          <a:chOff x="0" y="0"/>
          <a:chExt cx="0" cy="0"/>
        </a:xfrm>
      </p:grpSpPr>
      <p:sp>
        <p:nvSpPr>
          <p:cNvPr id="3" name="Shape 0"/>
          <p:cNvSpPr/>
          <p:nvPr/>
        </p:nvSpPr>
        <p:spPr>
          <a:xfrm>
            <a:off x="914400" y="2857500"/>
            <a:ext cx="8096098" cy="5715000"/>
          </a:xfrm>
          <a:prstGeom prst="roundRect">
            <a:avLst>
              <a:gd name="adj" fmla="val 672"/>
            </a:avLst>
          </a:prstGeom>
          <a:solidFill>
            <a:srgbClr val="E5DBC4"/>
          </a:solidFill>
          <a:ln w="12700">
            <a:solidFill>
              <a:srgbClr val="FFFFFF">
                <a:alpha val="0"/>
              </a:srgbClr>
            </a:solidFill>
            <a:prstDash val="solid"/>
          </a:ln>
        </p:spPr>
      </p:sp>
      <p:sp>
        <p:nvSpPr>
          <p:cNvPr id="4" name="Shape 1"/>
          <p:cNvSpPr/>
          <p:nvPr/>
        </p:nvSpPr>
        <p:spPr>
          <a:xfrm>
            <a:off x="9277502" y="2857500"/>
            <a:ext cx="8096098" cy="5715000"/>
          </a:xfrm>
          <a:prstGeom prst="roundRect">
            <a:avLst>
              <a:gd name="adj" fmla="val 672"/>
            </a:avLst>
          </a:prstGeom>
          <a:solidFill>
            <a:srgbClr val="1B1F25"/>
          </a:solidFill>
          <a:ln w="12700">
            <a:solidFill>
              <a:srgbClr val="FFFFFF">
                <a:alpha val="0"/>
              </a:srgbClr>
            </a:solidFill>
            <a:prstDash val="solid"/>
          </a:ln>
        </p:spPr>
      </p:sp>
      <p:sp>
        <p:nvSpPr>
          <p:cNvPr id="5" name="Text 2"/>
          <p:cNvSpPr txBox="1"/>
          <p:nvPr/>
        </p:nvSpPr>
        <p:spPr>
          <a:xfrm>
            <a:off x="1218895" y="3143707"/>
            <a:ext cx="7525512" cy="191110"/>
          </a:xfrm>
          <a:prstGeom prst="rect">
            <a:avLst/>
          </a:prstGeom>
          <a:noFill/>
          <a:ln/>
        </p:spPr>
        <p:txBody>
          <a:bodyPr wrap="none" lIns="0" tIns="0" rIns="0" bIns="0" rtlCol="0" anchor="ctr"/>
          <a:lstStyle/>
          <a:p>
            <a:pPr algn="l" indent="0" marL="0">
              <a:buNone/>
            </a:pPr>
            <a:r>
              <a:rPr lang="en-US" sz="1050" spc="189" kern="0" dirty="0">
                <a:solidFill>
                  <a:srgbClr val="B4791F"/>
                </a:solidFill>
                <a:latin typeface="JetBrains Mono" pitchFamily="34" charset="0"/>
                <a:ea typeface="JetBrains Mono" pitchFamily="34" charset="-122"/>
                <a:cs typeface="JetBrains Mono" pitchFamily="34" charset="-120"/>
              </a:rPr>
              <a:t>レビュー時の観点</a:t>
            </a:r>
            <a:endParaRPr lang="en-US" sz="1050" dirty="0"/>
          </a:p>
        </p:txBody>
      </p:sp>
      <p:sp>
        <p:nvSpPr>
          <p:cNvPr id="6" name="Text 3"/>
          <p:cNvSpPr txBox="1"/>
          <p:nvPr/>
        </p:nvSpPr>
        <p:spPr>
          <a:xfrm>
            <a:off x="1245718" y="3457346"/>
            <a:ext cx="7506005" cy="3668573"/>
          </a:xfrm>
          <a:prstGeom prst="rect">
            <a:avLst/>
          </a:prstGeom>
          <a:noFill/>
          <a:ln/>
        </p:spPr>
        <p:txBody>
          <a:bodyPr wrap="square" lIns="0" tIns="0" rIns="0" bIns="0" rtlCol="0" anchor="t"/>
          <a:lstStyle/>
          <a:p>
            <a:pPr algn="l" marL="266700" indent="-266700">
              <a:lnSpc>
                <a:spcPts val="2723"/>
              </a:lnSpc>
              <a:spcAft>
                <a:spcPts val="750"/>
              </a:spcAft>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723"/>
              </a:lnSpc>
              <a:spcAft>
                <a:spcPts val="750"/>
              </a:spcAft>
              <a:buSzPct val="100000"/>
              <a:buChar char="•"/>
            </a:pPr>
            <a:r>
              <a:rPr lang="en-US" sz="1650" dirty="0">
                <a:solidFill>
                  <a:srgbClr val="211C13"/>
                </a:solidFill>
                <a:latin typeface="Noto Sans JP" pitchFamily="34" charset="0"/>
                <a:ea typeface="Noto Sans JP" pitchFamily="34" charset="-122"/>
                <a:cs typeface="Noto Sans JP" pitchFamily="34" charset="-120"/>
              </a:rPr>
              <a:t>ユーザー由来文字列を</a:t>
            </a:r>
            <a:pPr algn="l" marL="266700" indent="-266700">
              <a:lnSpc>
                <a:spcPts val="2723"/>
              </a:lnSpc>
              <a:spcAft>
                <a:spcPts val="750"/>
              </a:spcAft>
              <a:buSzPct val="100000"/>
              <a:buChar char="•"/>
            </a:pPr>
            <a:r>
              <a:rPr lang="en-US" sz="1650" b="1" dirty="0">
                <a:solidFill>
                  <a:srgbClr val="211C13"/>
                </a:solidFill>
                <a:latin typeface="Noto Sans JP" pitchFamily="34" charset="0"/>
                <a:ea typeface="Noto Sans JP" pitchFamily="34" charset="-122"/>
                <a:cs typeface="Noto Sans JP" pitchFamily="34" charset="-120"/>
              </a:rPr>
              <a:t>HTMLとして</a:t>
            </a:r>
            <a:pPr algn="l" marL="266700" indent="-266700">
              <a:lnSpc>
                <a:spcPts val="2723"/>
              </a:lnSpc>
              <a:spcAft>
                <a:spcPts val="750"/>
              </a:spcAft>
              <a:buSzPct val="100000"/>
              <a:buChar char="•"/>
            </a:pPr>
            <a:r>
              <a:rPr lang="en-US" sz="1650" dirty="0">
                <a:solidFill>
                  <a:srgbClr val="211C13"/>
                </a:solidFill>
                <a:latin typeface="Noto Sans JP" pitchFamily="34" charset="0"/>
                <a:ea typeface="Noto Sans JP" pitchFamily="34" charset="-122"/>
                <a:cs typeface="Noto Sans JP" pitchFamily="34" charset="-120"/>
              </a:rPr>
              <a:t>流し込む口がないか</a:t>
            </a:r>
            <a:pPr algn="l" marL="266700" indent="-266700">
              <a:lnSpc>
                <a:spcPts val="2723"/>
              </a:lnSpc>
              <a:spcAft>
                <a:spcPts val="750"/>
              </a:spcAft>
              <a:buSzPct val="100000"/>
              <a:buChar char="•"/>
            </a:pPr>
            <a:endParaRPr lang="en-US" sz="1650" dirty="0"/>
          </a:p>
          <a:p>
            <a:pPr algn="l" marL="266700" indent="-266700">
              <a:lnSpc>
                <a:spcPts val="2723"/>
              </a:lnSpc>
              <a:spcAft>
                <a:spcPts val="750"/>
              </a:spcAft>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723"/>
              </a:lnSpc>
              <a:spcAft>
                <a:spcPts val="750"/>
              </a:spcAft>
              <a:buSzPct val="100000"/>
              <a:buChar char="•"/>
            </a:pPr>
            <a:r>
              <a:rPr lang="en-US" sz="1650" dirty="0">
                <a:solidFill>
                  <a:srgbClr val="211C13"/>
                </a:solidFill>
                <a:latin typeface="JetBrains Mono" pitchFamily="34" charset="0"/>
                <a:ea typeface="JetBrains Mono" pitchFamily="34" charset="-122"/>
                <a:cs typeface="JetBrains Mono" pitchFamily="34" charset="-120"/>
              </a:rPr>
              <a:t>innerHTML</a:t>
            </a:r>
            <a:pPr algn="l" marL="266700" indent="-266700">
              <a:lnSpc>
                <a:spcPts val="2723"/>
              </a:lnSpc>
              <a:spcAft>
                <a:spcPts val="750"/>
              </a:spcAft>
              <a:buSzPct val="100000"/>
              <a:buChar char="•"/>
            </a:pPr>
            <a:r>
              <a:rPr lang="en-US" sz="1650" dirty="0">
                <a:solidFill>
                  <a:srgbClr val="211C13"/>
                </a:solidFill>
                <a:latin typeface="Noto Sans JP" pitchFamily="34" charset="0"/>
                <a:ea typeface="Noto Sans JP" pitchFamily="34" charset="-122"/>
                <a:cs typeface="Noto Sans JP" pitchFamily="34" charset="-120"/>
              </a:rPr>
              <a:t> / </a:t>
            </a:r>
            <a:pPr algn="l" marL="266700" indent="-266700">
              <a:lnSpc>
                <a:spcPts val="2723"/>
              </a:lnSpc>
              <a:spcAft>
                <a:spcPts val="750"/>
              </a:spcAft>
              <a:buSzPct val="100000"/>
              <a:buChar char="•"/>
            </a:pPr>
            <a:r>
              <a:rPr lang="en-US" sz="1650" dirty="0">
                <a:solidFill>
                  <a:srgbClr val="211C13"/>
                </a:solidFill>
                <a:latin typeface="JetBrains Mono" pitchFamily="34" charset="0"/>
                <a:ea typeface="JetBrains Mono" pitchFamily="34" charset="-122"/>
                <a:cs typeface="JetBrains Mono" pitchFamily="34" charset="-120"/>
              </a:rPr>
              <a:t>v-html</a:t>
            </a:r>
            <a:pPr algn="l" marL="266700" indent="-266700">
              <a:lnSpc>
                <a:spcPts val="2723"/>
              </a:lnSpc>
              <a:spcAft>
                <a:spcPts val="750"/>
              </a:spcAft>
              <a:buSzPct val="100000"/>
              <a:buChar char="•"/>
            </a:pPr>
            <a:r>
              <a:rPr lang="en-US" sz="1650" dirty="0">
                <a:solidFill>
                  <a:srgbClr val="211C13"/>
                </a:solidFill>
                <a:latin typeface="Noto Sans JP" pitchFamily="34" charset="0"/>
                <a:ea typeface="Noto Sans JP" pitchFamily="34" charset="-122"/>
                <a:cs typeface="Noto Sans JP" pitchFamily="34" charset="-120"/>
              </a:rPr>
              <a:t> / </a:t>
            </a:r>
            <a:pPr algn="l" marL="266700" indent="-266700">
              <a:lnSpc>
                <a:spcPts val="2723"/>
              </a:lnSpc>
              <a:spcAft>
                <a:spcPts val="750"/>
              </a:spcAft>
              <a:buSzPct val="100000"/>
              <a:buChar char="•"/>
            </a:pPr>
            <a:r>
              <a:rPr lang="en-US" sz="1650" dirty="0">
                <a:solidFill>
                  <a:srgbClr val="211C13"/>
                </a:solidFill>
                <a:latin typeface="JetBrains Mono" pitchFamily="34" charset="0"/>
                <a:ea typeface="JetBrains Mono" pitchFamily="34" charset="-122"/>
                <a:cs typeface="JetBrains Mono" pitchFamily="34" charset="-120"/>
              </a:rPr>
              <a:t>dangerouslySetInnerHTML</a:t>
            </a:r>
            <a:pPr algn="l" marL="266700" indent="-266700">
              <a:lnSpc>
                <a:spcPts val="2723"/>
              </a:lnSpc>
              <a:spcAft>
                <a:spcPts val="750"/>
              </a:spcAft>
              <a:buSzPct val="100000"/>
              <a:buChar char="•"/>
            </a:pPr>
            <a:r>
              <a:rPr lang="en-US" sz="1650" dirty="0">
                <a:solidFill>
                  <a:srgbClr val="211C13"/>
                </a:solidFill>
                <a:latin typeface="Noto Sans JP" pitchFamily="34" charset="0"/>
                <a:ea typeface="Noto Sans JP" pitchFamily="34" charset="-122"/>
                <a:cs typeface="Noto Sans JP" pitchFamily="34" charset="-120"/>
              </a:rPr>
              <a:t> の利用箇所を全列挙</a:t>
            </a:r>
            <a:pPr algn="l" marL="266700" indent="-266700">
              <a:lnSpc>
                <a:spcPts val="2723"/>
              </a:lnSpc>
              <a:spcAft>
                <a:spcPts val="750"/>
              </a:spcAft>
              <a:buSzPct val="100000"/>
              <a:buChar char="•"/>
            </a:pPr>
            <a:endParaRPr lang="en-US" sz="1650" dirty="0"/>
          </a:p>
          <a:p>
            <a:pPr algn="l" marL="266700" indent="-266700">
              <a:lnSpc>
                <a:spcPts val="2723"/>
              </a:lnSpc>
              <a:spcAft>
                <a:spcPts val="750"/>
              </a:spcAft>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723"/>
              </a:lnSpc>
              <a:spcAft>
                <a:spcPts val="750"/>
              </a:spcAft>
              <a:buSzPct val="100000"/>
              <a:buChar char="•"/>
            </a:pPr>
            <a:r>
              <a:rPr lang="en-US" sz="1650" dirty="0">
                <a:solidFill>
                  <a:srgbClr val="211C13"/>
                </a:solidFill>
                <a:latin typeface="Noto Sans JP" pitchFamily="34" charset="0"/>
                <a:ea typeface="Noto Sans JP" pitchFamily="34" charset="-122"/>
                <a:cs typeface="Noto Sans JP" pitchFamily="34" charset="-120"/>
              </a:rPr>
              <a:t>テンプレート／ライブラリが</a:t>
            </a:r>
            <a:pPr algn="l" indent="0" marL="0">
              <a:lnSpc>
                <a:spcPts val="2723"/>
              </a:lnSpc>
              <a:spcAft>
                <a:spcPts val="750"/>
              </a:spcAft>
              <a:buNone/>
            </a:pPr>
            <a:endParaRPr lang="en-US" sz="1650" dirty="0"/>
          </a:p>
          <a:p>
            <a:pPr algn="l" marL="266700" indent="-266700">
              <a:lnSpc>
                <a:spcPts val="2723"/>
              </a:lnSpc>
              <a:spcAft>
                <a:spcPts val="750"/>
              </a:spcAft>
              <a:buSzPct val="100000"/>
              <a:buChar char="•"/>
            </a:pPr>
            <a:r>
              <a:rPr lang="en-US" sz="1650" dirty="0">
                <a:solidFill>
                  <a:srgbClr val="211C13"/>
                </a:solidFill>
                <a:latin typeface="Noto Sans JP" pitchFamily="34" charset="0"/>
                <a:ea typeface="Noto Sans JP" pitchFamily="34" charset="-122"/>
                <a:cs typeface="Noto Sans JP" pitchFamily="34" charset="-120"/>
              </a:rPr>
              <a:t>「自動で escape してくれる」という前提を見直しているか</a:t>
            </a:r>
            <a:pPr algn="l" marL="266700" indent="-266700">
              <a:lnSpc>
                <a:spcPts val="2723"/>
              </a:lnSpc>
              <a:spcAft>
                <a:spcPts val="750"/>
              </a:spcAft>
              <a:buSzPct val="100000"/>
              <a:buChar char="•"/>
            </a:pPr>
            <a:endParaRPr lang="en-US" sz="1650" dirty="0"/>
          </a:p>
          <a:p>
            <a:pPr algn="l" marL="266700" indent="-266700">
              <a:lnSpc>
                <a:spcPts val="2723"/>
              </a:lnSpc>
              <a:spcAft>
                <a:spcPts val="750"/>
              </a:spcAft>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723"/>
              </a:lnSpc>
              <a:spcAft>
                <a:spcPts val="750"/>
              </a:spcAft>
              <a:buSzPct val="100000"/>
              <a:buChar char="•"/>
            </a:pPr>
            <a:r>
              <a:rPr lang="en-US" sz="1650" dirty="0">
                <a:solidFill>
                  <a:srgbClr val="211C13"/>
                </a:solidFill>
                <a:latin typeface="Noto Sans JP" pitchFamily="34" charset="0"/>
                <a:ea typeface="Noto Sans JP" pitchFamily="34" charset="-122"/>
                <a:cs typeface="Noto Sans JP" pitchFamily="34" charset="-120"/>
              </a:rPr>
              <a:t>保存経路と</a:t>
            </a:r>
            <a:pPr algn="l" marL="266700" indent="-266700">
              <a:lnSpc>
                <a:spcPts val="2723"/>
              </a:lnSpc>
              <a:spcAft>
                <a:spcPts val="750"/>
              </a:spcAft>
              <a:buSzPct val="100000"/>
              <a:buChar char="•"/>
            </a:pPr>
            <a:r>
              <a:rPr lang="en-US" sz="1650" b="1" dirty="0">
                <a:solidFill>
                  <a:srgbClr val="211C13"/>
                </a:solidFill>
                <a:latin typeface="Noto Sans JP" pitchFamily="34" charset="0"/>
                <a:ea typeface="Noto Sans JP" pitchFamily="34" charset="-122"/>
                <a:cs typeface="Noto Sans JP" pitchFamily="34" charset="-120"/>
              </a:rPr>
              <a:t>表示経路</a:t>
            </a:r>
            <a:pPr algn="l" marL="266700" indent="-266700">
              <a:lnSpc>
                <a:spcPts val="2723"/>
              </a:lnSpc>
              <a:spcAft>
                <a:spcPts val="750"/>
              </a:spcAft>
              <a:buSzPct val="100000"/>
              <a:buChar char="•"/>
            </a:pPr>
            <a:r>
              <a:rPr lang="en-US" sz="1650" dirty="0">
                <a:solidFill>
                  <a:srgbClr val="211C13"/>
                </a:solidFill>
                <a:latin typeface="Noto Sans JP" pitchFamily="34" charset="0"/>
                <a:ea typeface="Noto Sans JP" pitchFamily="34" charset="-122"/>
                <a:cs typeface="Noto Sans JP" pitchFamily="34" charset="-120"/>
              </a:rPr>
              <a:t>が違うなら、それぞれ別に確認しているか</a:t>
            </a:r>
            <a:pPr algn="l" marL="266700" indent="-266700">
              <a:lnSpc>
                <a:spcPts val="2723"/>
              </a:lnSpc>
              <a:spcAft>
                <a:spcPts val="750"/>
              </a:spcAft>
              <a:buSzPct val="100000"/>
              <a:buChar char="•"/>
            </a:pPr>
            <a:endParaRPr lang="en-US" sz="1650" dirty="0"/>
          </a:p>
          <a:p>
            <a:pPr algn="l" marL="266700" indent="-266700">
              <a:lnSpc>
                <a:spcPts val="2723"/>
              </a:lnSpc>
              <a:spcAft>
                <a:spcPts val="750"/>
              </a:spcAft>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723"/>
              </a:lnSpc>
              <a:spcAft>
                <a:spcPts val="750"/>
              </a:spcAft>
              <a:buSzPct val="100000"/>
              <a:buChar char="•"/>
            </a:pPr>
            <a:r>
              <a:rPr lang="en-US" sz="1650" dirty="0">
                <a:solidFill>
                  <a:srgbClr val="211C13"/>
                </a:solidFill>
                <a:latin typeface="Noto Sans JP" pitchFamily="34" charset="0"/>
                <a:ea typeface="Noto Sans JP" pitchFamily="34" charset="-122"/>
                <a:cs typeface="Noto Sans JP" pitchFamily="34" charset="-120"/>
              </a:rPr>
              <a:t>「管理者だけ」のつもりが</a:t>
            </a:r>
            <a:pPr algn="l" indent="0" marL="0">
              <a:lnSpc>
                <a:spcPts val="2723"/>
              </a:lnSpc>
              <a:spcAft>
                <a:spcPts val="750"/>
              </a:spcAft>
              <a:buNone/>
            </a:pPr>
            <a:endParaRPr lang="en-US" sz="1650" dirty="0"/>
          </a:p>
          <a:p>
            <a:pPr algn="l" marL="266700" indent="-266700">
              <a:lnSpc>
                <a:spcPts val="2723"/>
              </a:lnSpc>
              <a:spcAft>
                <a:spcPts val="750"/>
              </a:spcAft>
              <a:buSzPct val="100000"/>
              <a:buChar char="•"/>
            </a:pPr>
            <a:r>
              <a:rPr lang="en-US" sz="1650" dirty="0">
                <a:solidFill>
                  <a:srgbClr val="211C13"/>
                </a:solidFill>
                <a:latin typeface="Noto Sans JP" pitchFamily="34" charset="0"/>
                <a:ea typeface="Noto Sans JP" pitchFamily="34" charset="-122"/>
                <a:cs typeface="Noto Sans JP" pitchFamily="34" charset="-120"/>
              </a:rPr>
              <a:t>一般ユーザーに開放されていないか</a:t>
            </a:r>
            <a:pPr algn="l" marL="266700" indent="-266700">
              <a:lnSpc>
                <a:spcPts val="2723"/>
              </a:lnSpc>
              <a:spcAft>
                <a:spcPts val="750"/>
              </a:spcAft>
              <a:buSzPct val="100000"/>
              <a:buChar char="•"/>
            </a:pPr>
            <a:endParaRPr lang="en-US" sz="1650" dirty="0"/>
          </a:p>
          <a:p>
            <a:pPr algn="l" marL="266700" indent="-266700">
              <a:lnSpc>
                <a:spcPts val="2723"/>
              </a:lnSpc>
              <a:spcAft>
                <a:spcPts val="750"/>
              </a:spcAft>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723"/>
              </a:lnSpc>
              <a:spcAft>
                <a:spcPts val="750"/>
              </a:spcAft>
              <a:buSzPct val="100000"/>
              <a:buChar char="•"/>
            </a:pPr>
            <a:r>
              <a:rPr lang="en-US" sz="1650" dirty="0">
                <a:solidFill>
                  <a:srgbClr val="211C13"/>
                </a:solidFill>
                <a:latin typeface="Noto Sans JP" pitchFamily="34" charset="0"/>
                <a:ea typeface="Noto Sans JP" pitchFamily="34" charset="-122"/>
                <a:cs typeface="Noto Sans JP" pitchFamily="34" charset="-120"/>
              </a:rPr>
              <a:t>エラー画面や throw new Error 経由の</a:t>
            </a:r>
            <a:pPr algn="l" indent="0" marL="0">
              <a:lnSpc>
                <a:spcPts val="2723"/>
              </a:lnSpc>
              <a:spcAft>
                <a:spcPts val="750"/>
              </a:spcAft>
              <a:buNone/>
            </a:pPr>
            <a:endParaRPr lang="en-US" sz="1650" dirty="0"/>
          </a:p>
          <a:p>
            <a:pPr algn="l" marL="266700" indent="-266700">
              <a:lnSpc>
                <a:spcPts val="2723"/>
              </a:lnSpc>
              <a:spcAft>
                <a:spcPts val="750"/>
              </a:spcAft>
              <a:buSzPct val="100000"/>
              <a:buChar char="•"/>
            </a:pPr>
            <a:r>
              <a:rPr lang="en-US" sz="1650" dirty="0">
                <a:solidFill>
                  <a:srgbClr val="211C13"/>
                </a:solidFill>
                <a:latin typeface="Noto Sans JP" pitchFamily="34" charset="0"/>
                <a:ea typeface="Noto Sans JP" pitchFamily="34" charset="-122"/>
                <a:cs typeface="Noto Sans JP" pitchFamily="34" charset="-120"/>
              </a:rPr>
              <a:t>表示でもユーザー文字列が混じらないか</a:t>
            </a:r>
            <a:endParaRPr lang="en-US" sz="1650" dirty="0"/>
          </a:p>
        </p:txBody>
      </p:sp>
      <p:sp>
        <p:nvSpPr>
          <p:cNvPr id="7" name="Text 4"/>
          <p:cNvSpPr txBox="1"/>
          <p:nvPr/>
        </p:nvSpPr>
        <p:spPr>
          <a:xfrm>
            <a:off x="9581998" y="3143707"/>
            <a:ext cx="7525512" cy="191110"/>
          </a:xfrm>
          <a:prstGeom prst="rect">
            <a:avLst/>
          </a:prstGeom>
          <a:noFill/>
          <a:ln/>
        </p:spPr>
        <p:txBody>
          <a:bodyPr wrap="none" lIns="0" tIns="0" rIns="0" bIns="0" rtlCol="0" anchor="ctr"/>
          <a:lstStyle/>
          <a:p>
            <a:pPr algn="l" indent="0" marL="0">
              <a:buNone/>
            </a:pPr>
            <a:r>
              <a:rPr lang="en-US" sz="1050" spc="189" kern="0" dirty="0">
                <a:solidFill>
                  <a:srgbClr val="5BAA85"/>
                </a:solidFill>
                <a:latin typeface="JetBrains Mono" pitchFamily="34" charset="0"/>
                <a:ea typeface="JetBrains Mono" pitchFamily="34" charset="-122"/>
                <a:cs typeface="JetBrains Mono" pitchFamily="34" charset="-120"/>
              </a:rPr>
              <a:t>回帰に加えたい例</a:t>
            </a:r>
            <a:endParaRPr lang="en-US" sz="1050" dirty="0"/>
          </a:p>
        </p:txBody>
      </p:sp>
      <p:sp>
        <p:nvSpPr>
          <p:cNvPr id="8" name="Text 5"/>
          <p:cNvSpPr txBox="1"/>
          <p:nvPr/>
        </p:nvSpPr>
        <p:spPr>
          <a:xfrm>
            <a:off x="9581998" y="3562502"/>
            <a:ext cx="7525512" cy="876910"/>
          </a:xfrm>
          <a:prstGeom prst="rect">
            <a:avLst/>
          </a:prstGeom>
          <a:noFill/>
          <a:ln/>
        </p:spPr>
        <p:txBody>
          <a:bodyPr wrap="square" lIns="0" tIns="0" rIns="0" bIns="0" rtlCol="0" anchor="ctr"/>
          <a:lstStyle/>
          <a:p>
            <a:pPr algn="l" indent="0" marL="0">
              <a:lnSpc>
                <a:spcPts val="2295"/>
              </a:lnSpc>
              <a:buNone/>
            </a:pPr>
            <a:r>
              <a:rPr lang="en-US" sz="1350" dirty="0">
                <a:solidFill>
                  <a:srgbClr val="ECE4D2"/>
                </a:solidFill>
                <a:latin typeface="JetBrains Mono" pitchFamily="34" charset="0"/>
                <a:ea typeface="JetBrains Mono" pitchFamily="34" charset="-122"/>
                <a:cs typeface="JetBrains Mono" pitchFamily="34" charset="-120"/>
              </a:rPr>
              <a:t>// 表示名・コメントなどユーザー由来の文字列 &lt;img src=x onerror="..."&gt; &lt;svg onload="..."&gt; javascript:alert(1) &lt;script&gt;...&lt;/script&gt; &lt;a href="javascript:..."&gt;x&lt;/a&gt;</a:t>
            </a:r>
            <a:endParaRPr lang="en-US" sz="1350" dirty="0"/>
          </a:p>
        </p:txBody>
      </p:sp>
      <p:sp>
        <p:nvSpPr>
          <p:cNvPr id="9" name="Text 6"/>
          <p:cNvSpPr txBox="1"/>
          <p:nvPr/>
        </p:nvSpPr>
        <p:spPr>
          <a:xfrm>
            <a:off x="9581998" y="4628693"/>
            <a:ext cx="7525512" cy="1017727"/>
          </a:xfrm>
          <a:prstGeom prst="rect">
            <a:avLst/>
          </a:prstGeom>
          <a:noFill/>
          <a:ln/>
        </p:spPr>
        <p:txBody>
          <a:bodyPr wrap="square" lIns="0" tIns="0" rIns="0" bIns="0" rtlCol="0" anchor="t"/>
          <a:lstStyle/>
          <a:p>
            <a:pPr algn="l" indent="0" marL="0">
              <a:lnSpc>
                <a:spcPts val="2558"/>
              </a:lnSpc>
              <a:buNone/>
            </a:pPr>
            <a:r>
              <a:rPr lang="en-US" sz="1650" dirty="0">
                <a:solidFill>
                  <a:srgbClr val="F5EFDD"/>
                </a:solidFill>
                <a:latin typeface="Noto Sans JP" pitchFamily="34" charset="0"/>
                <a:ea typeface="Noto Sans JP" pitchFamily="34" charset="-122"/>
                <a:cs typeface="Noto Sans JP" pitchFamily="34" charset="-120"/>
              </a:rPr>
              <a:t>観測値として見るのは</a:t>
            </a:r>
            <a:pPr algn="l" indent="0" marL="0">
              <a:lnSpc>
                <a:spcPts val="2558"/>
              </a:lnSpc>
              <a:buNone/>
            </a:pPr>
            <a:r>
              <a:rPr lang="en-US" sz="1650" b="1" dirty="0">
                <a:solidFill>
                  <a:srgbClr val="D4922A"/>
                </a:solidFill>
                <a:latin typeface="Noto Sans JP" pitchFamily="34" charset="0"/>
                <a:ea typeface="Noto Sans JP" pitchFamily="34" charset="-122"/>
                <a:cs typeface="Noto Sans JP" pitchFamily="34" charset="-120"/>
              </a:rPr>
              <a:t>画面に出た文字がコードとして評価されるか</a:t>
            </a:r>
            <a:pPr algn="l" indent="0" marL="0">
              <a:lnSpc>
                <a:spcPts val="2558"/>
              </a:lnSpc>
              <a:buNone/>
            </a:pPr>
            <a:r>
              <a:rPr lang="en-US" sz="1650" dirty="0">
                <a:solidFill>
                  <a:srgbClr val="F5EFDD"/>
                </a:solidFill>
                <a:latin typeface="Noto Sans JP" pitchFamily="34" charset="0"/>
                <a:ea typeface="Noto Sans JP" pitchFamily="34" charset="-122"/>
                <a:cs typeface="Noto Sans JP" pitchFamily="34" charset="-120"/>
              </a:rPr>
              <a:t>。</a:t>
            </a:r>
            <a:pPr algn="l" indent="0" marL="0">
              <a:lnSpc>
                <a:spcPts val="2558"/>
              </a:lnSpc>
              <a:buNone/>
            </a:pPr>
            <a:endParaRPr lang="en-US" sz="1650" dirty="0"/>
          </a:p>
          <a:p>
            <a:pPr algn="l" indent="0" marL="0">
              <a:lnSpc>
                <a:spcPts val="2558"/>
              </a:lnSpc>
              <a:buNone/>
            </a:pPr>
            <a:r>
              <a:rPr lang="en-US" sz="1650" dirty="0">
                <a:solidFill>
                  <a:srgbClr val="F5EFDD"/>
                </a:solidFill>
                <a:latin typeface="Noto Sans JP" pitchFamily="34" charset="0"/>
                <a:ea typeface="Noto Sans JP" pitchFamily="34" charset="-122"/>
                <a:cs typeface="Noto Sans JP" pitchFamily="34" charset="-120"/>
              </a:rPr>
              <a:t>DOMPurify や信頼できるテンプレートを使う。</a:t>
            </a:r>
            <a:pPr algn="l" indent="0" marL="0">
              <a:lnSpc>
                <a:spcPts val="2558"/>
              </a:lnSpc>
              <a:buNone/>
            </a:pPr>
            <a:endParaRPr lang="en-US" sz="1650" dirty="0"/>
          </a:p>
          <a:p>
            <a:pPr algn="l" indent="0" marL="0">
              <a:lnSpc>
                <a:spcPts val="2558"/>
              </a:lnSpc>
              <a:buNone/>
            </a:pPr>
            <a:r>
              <a:rPr lang="en-US" sz="1650" dirty="0">
                <a:solidFill>
                  <a:srgbClr val="F5EFDD"/>
                </a:solidFill>
                <a:latin typeface="Noto Sans JP" pitchFamily="34" charset="0"/>
                <a:ea typeface="Noto Sans JP" pitchFamily="34" charset="-122"/>
                <a:cs typeface="Noto Sans JP" pitchFamily="34" charset="-120"/>
              </a:rPr>
              <a:t>何か所も挿入口があるなら、それら全部を一覧化するのが落とし所。</a:t>
            </a:r>
            <a:endParaRPr lang="en-US" sz="1650" dirty="0"/>
          </a:p>
        </p:txBody>
      </p:sp>
      <p:pic>
        <p:nvPicPr>
          <p:cNvPr id="10" name="Image 0" descr="gen-dedup-ff3b843c62efd2578b331bdfc9bb7c8f.png">    </p:cNvPr>
          <p:cNvPicPr>
            <a:picLocks noChangeAspect="1"/>
          </p:cNvPicPr>
          <p:nvPr/>
        </p:nvPicPr>
        <p:blipFill>
          <a:blip r:embed="rId1"/>
          <a:srcRect l="-2083" r="-2083" t="0" b="0"/>
          <a:stretch/>
        </p:blipFill>
        <p:spPr>
          <a:xfrm>
            <a:off x="914400" y="9334195"/>
            <a:ext cx="16459200" cy="9144"/>
          </a:xfrm>
          <a:prstGeom prst="rect">
            <a:avLst/>
          </a:prstGeom>
        </p:spPr>
      </p:pic>
      <p:sp>
        <p:nvSpPr>
          <p:cNvPr id="11" name="Shape 7"/>
          <p:cNvSpPr/>
          <p:nvPr/>
        </p:nvSpPr>
        <p:spPr>
          <a:xfrm>
            <a:off x="914400" y="609905"/>
            <a:ext cx="1619402" cy="381305"/>
          </a:xfrm>
          <a:prstGeom prst="roundRect">
            <a:avLst>
              <a:gd name="adj" fmla="val 49880"/>
            </a:avLst>
          </a:prstGeom>
          <a:solidFill>
            <a:srgbClr val="211C13"/>
          </a:solidFill>
          <a:ln w="12700">
            <a:solidFill>
              <a:srgbClr val="FFFFFF">
                <a:alpha val="0"/>
              </a:srgbClr>
            </a:solidFill>
            <a:prstDash val="solid"/>
          </a:ln>
        </p:spPr>
      </p:sp>
      <p:sp>
        <p:nvSpPr>
          <p:cNvPr id="12" name="Text 8"/>
          <p:cNvSpPr txBox="1"/>
          <p:nvPr/>
        </p:nvSpPr>
        <p:spPr>
          <a:xfrm>
            <a:off x="914400" y="1238098"/>
            <a:ext cx="16459200" cy="219456"/>
          </a:xfrm>
          <a:prstGeom prst="rect">
            <a:avLst/>
          </a:prstGeom>
          <a:noFill/>
          <a:ln/>
        </p:spPr>
        <p:txBody>
          <a:bodyPr wrap="none" lIns="0" tIns="0" rIns="0" bIns="0" rtlCol="0" anchor="ctr"/>
          <a:lstStyle/>
          <a:p>
            <a:pPr algn="l" indent="0" marL="0">
              <a:buNone/>
            </a:pPr>
            <a:r>
              <a:rPr lang="en-US" sz="1350" spc="324" kern="0" dirty="0">
                <a:solidFill>
                  <a:srgbClr val="B4791F"/>
                </a:solidFill>
                <a:latin typeface="JetBrains Mono" pitchFamily="34" charset="0"/>
                <a:ea typeface="JetBrains Mono" pitchFamily="34" charset="-122"/>
                <a:cs typeface="JetBrains Mono" pitchFamily="34" charset="-120"/>
              </a:rPr>
              <a:t>23 · Carry back to work</a:t>
            </a:r>
            <a:endParaRPr lang="en-US" sz="1350" dirty="0"/>
          </a:p>
        </p:txBody>
      </p:sp>
      <p:sp>
        <p:nvSpPr>
          <p:cNvPr id="13" name="Text 9"/>
          <p:cNvSpPr txBox="1"/>
          <p:nvPr/>
        </p:nvSpPr>
        <p:spPr>
          <a:xfrm>
            <a:off x="914400" y="1533449"/>
            <a:ext cx="16459200" cy="838505"/>
          </a:xfrm>
          <a:prstGeom prst="rect">
            <a:avLst/>
          </a:prstGeom>
          <a:noFill/>
          <a:ln/>
        </p:spPr>
        <p:txBody>
          <a:bodyPr wrap="none" lIns="0" tIns="0" rIns="0" bIns="0" rtlCol="0" anchor="ctr"/>
          <a:lstStyle/>
          <a:p>
            <a:pPr algn="l" indent="0" marL="0">
              <a:buNone/>
            </a:pPr>
            <a:r>
              <a:rPr lang="en-US" sz="6000" b="1" spc="-120" kern="0" dirty="0">
                <a:solidFill>
                  <a:srgbClr val="211C13"/>
                </a:solidFill>
                <a:latin typeface="Zen Kaku Gothic Antique" pitchFamily="34" charset="0"/>
                <a:ea typeface="Zen Kaku Gothic Antique" pitchFamily="34" charset="-122"/>
                <a:cs typeface="Zen Kaku Gothic Antique" pitchFamily="34" charset="-120"/>
              </a:rPr>
              <a:t>レビュー観点と回帰テスト例</a:t>
            </a:r>
            <a:endParaRPr lang="en-US" sz="6000" dirty="0"/>
          </a:p>
        </p:txBody>
      </p:sp>
      <p:sp>
        <p:nvSpPr>
          <p:cNvPr id="14" name="Text 10"/>
          <p:cNvSpPr txBox="1"/>
          <p:nvPr/>
        </p:nvSpPr>
        <p:spPr>
          <a:xfrm>
            <a:off x="914400" y="9562795"/>
            <a:ext cx="12382805" cy="228600"/>
          </a:xfrm>
          <a:prstGeom prst="rect">
            <a:avLst/>
          </a:prstGeom>
          <a:noFill/>
          <a:ln/>
        </p:spPr>
        <p:txBody>
          <a:bodyPr wrap="none" lIns="0" tIns="0" rIns="0" bIns="0" rtlCol="0" anchor="ctr"/>
          <a:lstStyle/>
          <a:p>
            <a:pPr algn="l" indent="0" marL="0">
              <a:buNone/>
            </a:pPr>
            <a:r>
              <a:rPr lang="en-US" sz="1200" spc="72" kern="0" dirty="0">
                <a:solidFill>
                  <a:srgbClr val="5A4F3F"/>
                </a:solidFill>
                <a:latin typeface="JetBrains Mono" pitchFamily="34" charset="0"/>
                <a:ea typeface="JetBrains Mono" pitchFamily="34" charset="-122"/>
                <a:cs typeface="JetBrains Mono" pitchFamily="34" charset="-120"/>
              </a:rPr>
              <a:t>持ち帰り — 挿入口を全列挙、守り方を選ぶ、画面ではなく観測値で確認</a:t>
            </a:r>
            <a:endParaRPr lang="en-US" sz="1200" dirty="0"/>
          </a:p>
        </p:txBody>
      </p:sp>
      <p:sp>
        <p:nvSpPr>
          <p:cNvPr id="15" name="Text 11"/>
          <p:cNvSpPr txBox="1"/>
          <p:nvPr/>
        </p:nvSpPr>
        <p:spPr>
          <a:xfrm>
            <a:off x="15468905" y="9562795"/>
            <a:ext cx="1905610" cy="200254"/>
          </a:xfrm>
          <a:prstGeom prst="rect">
            <a:avLst/>
          </a:prstGeom>
          <a:noFill/>
          <a:ln/>
        </p:spPr>
        <p:txBody>
          <a:bodyPr wrap="none" lIns="0" tIns="0" rIns="0" bIns="0" rtlCol="0" anchor="ctr"/>
          <a:lstStyle/>
          <a:p>
            <a:pPr algn="r" indent="0" marL="0">
              <a:buNone/>
            </a:pPr>
            <a:r>
              <a:rPr lang="en-US" sz="1200" spc="72" kern="0" dirty="0">
                <a:solidFill>
                  <a:srgbClr val="5A4F3F"/>
                </a:solidFill>
                <a:latin typeface="JetBrains Mono" pitchFamily="34" charset="0"/>
                <a:ea typeface="JetBrains Mono" pitchFamily="34" charset="-122"/>
                <a:cs typeface="JetBrains Mono" pitchFamily="34" charset="-120"/>
              </a:rPr>
              <a:t>23 / 32</a:t>
            </a:r>
            <a:endParaRPr lang="en-US" sz="1200" dirty="0"/>
          </a:p>
        </p:txBody>
      </p:sp>
      <p:sp>
        <p:nvSpPr>
          <p:cNvPr id="16" name="Text 12"/>
          <p:cNvSpPr txBox="1"/>
          <p:nvPr/>
        </p:nvSpPr>
        <p:spPr>
          <a:xfrm>
            <a:off x="914400" y="609905"/>
            <a:ext cx="1619402" cy="381305"/>
          </a:xfrm>
          <a:prstGeom prst="rect">
            <a:avLst/>
          </a:prstGeom>
          <a:noFill/>
          <a:ln/>
        </p:spPr>
        <p:txBody>
          <a:bodyPr wrap="none" lIns="0" tIns="0" rIns="0" bIns="0" rtlCol="0" anchor="ctr"/>
          <a:lstStyle/>
          <a:p>
            <a:pPr algn="ctr" indent="0" marL="0">
              <a:buNone/>
            </a:pPr>
            <a:r>
              <a:rPr lang="en-US" sz="1050" spc="231" kern="0" dirty="0">
                <a:solidFill>
                  <a:srgbClr val="F5EFDD"/>
                </a:solidFill>
                <a:latin typeface="JetBrains Mono" pitchFamily="34" charset="0"/>
                <a:ea typeface="JetBrains Mono" pitchFamily="34" charset="-122"/>
                <a:cs typeface="JetBrains Mono" pitchFamily="34" charset="-120"/>
              </a:rPr>
              <a:t>INSTRUCTOR</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FE7D4"/>
        </a:solidFill>
      </p:bgPr>
    </p:bg>
    <p:spTree>
      <p:nvGrpSpPr>
        <p:cNvPr id="1" name=""/>
        <p:cNvGrpSpPr/>
        <p:nvPr/>
      </p:nvGrpSpPr>
      <p:grpSpPr>
        <a:xfrm>
          <a:off x="0" y="0"/>
          <a:ext cx="0" cy="0"/>
          <a:chOff x="0" y="0"/>
          <a:chExt cx="0" cy="0"/>
        </a:xfrm>
      </p:grpSpPr>
      <p:sp>
        <p:nvSpPr>
          <p:cNvPr id="3" name="Shape 0"/>
          <p:cNvSpPr/>
          <p:nvPr/>
        </p:nvSpPr>
        <p:spPr>
          <a:xfrm>
            <a:off x="0" y="0"/>
            <a:ext cx="1904695" cy="10287000"/>
          </a:xfrm>
          <a:prstGeom prst="rect">
            <a:avLst/>
          </a:prstGeom>
          <a:solidFill>
            <a:srgbClr val="2D5D5A"/>
          </a:solidFill>
          <a:ln w="12700">
            <a:solidFill>
              <a:srgbClr val="FFFFFF">
                <a:alpha val="0"/>
              </a:srgbClr>
            </a:solidFill>
            <a:prstDash val="solid"/>
          </a:ln>
        </p:spPr>
      </p:sp>
      <p:sp>
        <p:nvSpPr>
          <p:cNvPr id="4" name="Shape 1"/>
          <p:cNvSpPr/>
          <p:nvPr/>
        </p:nvSpPr>
        <p:spPr>
          <a:xfrm>
            <a:off x="2667305" y="4000500"/>
            <a:ext cx="14859000" cy="800100"/>
          </a:xfrm>
          <a:prstGeom prst="roundRect">
            <a:avLst>
              <a:gd name="adj" fmla="val 4800"/>
            </a:avLst>
          </a:prstGeom>
          <a:solidFill>
            <a:srgbClr val="1B1F25"/>
          </a:solidFill>
          <a:ln w="12700">
            <a:solidFill>
              <a:srgbClr val="FFFFFF">
                <a:alpha val="0"/>
              </a:srgbClr>
            </a:solidFill>
            <a:prstDash val="solid"/>
          </a:ln>
        </p:spPr>
      </p:sp>
      <p:sp>
        <p:nvSpPr>
          <p:cNvPr id="5" name="Shape 2"/>
          <p:cNvSpPr/>
          <p:nvPr/>
        </p:nvSpPr>
        <p:spPr>
          <a:xfrm>
            <a:off x="2667305" y="5143500"/>
            <a:ext cx="4762195" cy="3619195"/>
          </a:xfrm>
          <a:prstGeom prst="roundRect">
            <a:avLst>
              <a:gd name="adj" fmla="val 1061"/>
            </a:avLst>
          </a:prstGeom>
          <a:solidFill>
            <a:srgbClr val="E5DBC4"/>
          </a:solidFill>
          <a:ln w="12700">
            <a:solidFill>
              <a:srgbClr val="FFFFFF">
                <a:alpha val="0"/>
              </a:srgbClr>
            </a:solidFill>
            <a:prstDash val="solid"/>
          </a:ln>
        </p:spPr>
      </p:sp>
      <p:sp>
        <p:nvSpPr>
          <p:cNvPr id="6" name="Shape 3"/>
          <p:cNvSpPr/>
          <p:nvPr/>
        </p:nvSpPr>
        <p:spPr>
          <a:xfrm>
            <a:off x="7715707" y="5143500"/>
            <a:ext cx="4762195" cy="3619195"/>
          </a:xfrm>
          <a:prstGeom prst="roundRect">
            <a:avLst>
              <a:gd name="adj" fmla="val 1061"/>
            </a:avLst>
          </a:prstGeom>
          <a:solidFill>
            <a:srgbClr val="E5DBC4"/>
          </a:solidFill>
          <a:ln w="12700">
            <a:solidFill>
              <a:srgbClr val="FFFFFF">
                <a:alpha val="0"/>
              </a:srgbClr>
            </a:solidFill>
            <a:prstDash val="solid"/>
          </a:ln>
        </p:spPr>
      </p:sp>
      <p:sp>
        <p:nvSpPr>
          <p:cNvPr id="7" name="Shape 4"/>
          <p:cNvSpPr/>
          <p:nvPr/>
        </p:nvSpPr>
        <p:spPr>
          <a:xfrm>
            <a:off x="12763195" y="5143500"/>
            <a:ext cx="4762195" cy="3619195"/>
          </a:xfrm>
          <a:prstGeom prst="roundRect">
            <a:avLst>
              <a:gd name="adj" fmla="val 1061"/>
            </a:avLst>
          </a:prstGeom>
          <a:solidFill>
            <a:srgbClr val="1B1F25"/>
          </a:solidFill>
          <a:ln w="12700">
            <a:solidFill>
              <a:srgbClr val="FFFFFF">
                <a:alpha val="0"/>
              </a:srgbClr>
            </a:solidFill>
            <a:prstDash val="solid"/>
          </a:ln>
        </p:spPr>
      </p:sp>
      <p:sp>
        <p:nvSpPr>
          <p:cNvPr id="8" name="Text 5"/>
          <p:cNvSpPr txBox="1"/>
          <p:nvPr/>
        </p:nvSpPr>
        <p:spPr>
          <a:xfrm>
            <a:off x="228600" y="914400"/>
            <a:ext cx="1524305" cy="171907"/>
          </a:xfrm>
          <a:prstGeom prst="rect">
            <a:avLst/>
          </a:prstGeom>
          <a:noFill/>
          <a:ln/>
        </p:spPr>
        <p:txBody>
          <a:bodyPr wrap="none" lIns="0" tIns="0" rIns="0" bIns="0" rtlCol="0" anchor="ctr"/>
          <a:lstStyle/>
          <a:p>
            <a:pPr algn="l" indent="0" marL="0">
              <a:buNone/>
            </a:pPr>
            <a:r>
              <a:rPr lang="en-US" sz="1050" spc="231" kern="0" dirty="0">
                <a:solidFill>
                  <a:srgbClr val="F5EFDD"/>
                </a:solidFill>
                <a:latin typeface="JetBrains Mono" pitchFamily="34" charset="0"/>
                <a:ea typeface="JetBrains Mono" pitchFamily="34" charset="-122"/>
                <a:cs typeface="JetBrains Mono" pitchFamily="34" charset="-120"/>
              </a:rPr>
              <a:t>CHAPTER</a:t>
            </a:r>
            <a:endParaRPr lang="en-US" sz="1050" dirty="0"/>
          </a:p>
        </p:txBody>
      </p:sp>
      <p:sp>
        <p:nvSpPr>
          <p:cNvPr id="9" name="Text 6"/>
          <p:cNvSpPr txBox="1"/>
          <p:nvPr/>
        </p:nvSpPr>
        <p:spPr>
          <a:xfrm>
            <a:off x="228600" y="1143000"/>
            <a:ext cx="1524305" cy="876910"/>
          </a:xfrm>
          <a:prstGeom prst="rect">
            <a:avLst/>
          </a:prstGeom>
          <a:noFill/>
          <a:ln/>
        </p:spPr>
        <p:txBody>
          <a:bodyPr wrap="none" lIns="0" tIns="0" rIns="0" bIns="0" rtlCol="0" anchor="ctr"/>
          <a:lstStyle/>
          <a:p>
            <a:pPr algn="l" indent="0" marL="0">
              <a:buNone/>
            </a:pPr>
            <a:r>
              <a:rPr lang="en-US" sz="7200" b="1" spc="-144" kern="0" dirty="0">
                <a:solidFill>
                  <a:srgbClr val="F5EFDD"/>
                </a:solidFill>
                <a:latin typeface="Zen Kaku Gothic Antique" pitchFamily="34" charset="0"/>
                <a:ea typeface="Zen Kaku Gothic Antique" pitchFamily="34" charset="-122"/>
                <a:cs typeface="Zen Kaku Gothic Antique" pitchFamily="34" charset="-120"/>
              </a:rPr>
              <a:t>03</a:t>
            </a:r>
            <a:endParaRPr lang="en-US" sz="7200" dirty="0"/>
          </a:p>
        </p:txBody>
      </p:sp>
      <p:pic>
        <p:nvPicPr>
          <p:cNvPr id="10" name="Image 0" descr="gen-dedup-2173e259c8f89e09f8a89067735d6b02.png">    </p:cNvPr>
          <p:cNvPicPr>
            <a:picLocks noChangeAspect="1"/>
          </p:cNvPicPr>
          <p:nvPr/>
        </p:nvPicPr>
        <p:blipFill>
          <a:blip r:embed="rId1"/>
          <a:srcRect l="-404" r="-404" t="0" b="0"/>
          <a:stretch/>
        </p:blipFill>
        <p:spPr>
          <a:xfrm>
            <a:off x="228600" y="2182673"/>
            <a:ext cx="571500" cy="28346"/>
          </a:xfrm>
          <a:prstGeom prst="rect">
            <a:avLst/>
          </a:prstGeom>
        </p:spPr>
      </p:pic>
      <p:sp>
        <p:nvSpPr>
          <p:cNvPr id="11" name="Text 7"/>
          <p:cNvSpPr txBox="1"/>
          <p:nvPr/>
        </p:nvSpPr>
        <p:spPr>
          <a:xfrm>
            <a:off x="228600" y="2344522"/>
            <a:ext cx="1524305" cy="171907"/>
          </a:xfrm>
          <a:prstGeom prst="rect">
            <a:avLst/>
          </a:prstGeom>
          <a:noFill/>
          <a:ln/>
        </p:spPr>
        <p:txBody>
          <a:bodyPr wrap="none" lIns="0" tIns="0" rIns="0" bIns="0" rtlCol="0" anchor="ctr"/>
          <a:lstStyle/>
          <a:p>
            <a:pPr algn="l" indent="0" marL="0">
              <a:buNone/>
            </a:pPr>
            <a:r>
              <a:rPr lang="en-US" sz="1050" spc="189" kern="0" dirty="0">
                <a:solidFill>
                  <a:srgbClr val="F5EFDD">
                    <a:alpha val="85000"/>
                  </a:srgbClr>
                </a:solidFill>
                <a:latin typeface="JetBrains Mono" pitchFamily="34" charset="0"/>
                <a:ea typeface="JetBrains Mono" pitchFamily="34" charset="-122"/>
                <a:cs typeface="JetBrains Mono" pitchFamily="34" charset="-120"/>
              </a:rPr>
              <a:t>BONUS</a:t>
            </a:r>
            <a:endParaRPr lang="en-US" sz="1050" dirty="0"/>
          </a:p>
        </p:txBody>
      </p:sp>
      <p:sp>
        <p:nvSpPr>
          <p:cNvPr id="12" name="Text 8"/>
          <p:cNvSpPr txBox="1"/>
          <p:nvPr/>
        </p:nvSpPr>
        <p:spPr>
          <a:xfrm>
            <a:off x="228600" y="8762695"/>
            <a:ext cx="1524305" cy="171907"/>
          </a:xfrm>
          <a:prstGeom prst="rect">
            <a:avLst/>
          </a:prstGeom>
          <a:noFill/>
          <a:ln/>
        </p:spPr>
        <p:txBody>
          <a:bodyPr wrap="none" lIns="0" tIns="0" rIns="0" bIns="0" rtlCol="0" anchor="ctr"/>
          <a:lstStyle/>
          <a:p>
            <a:pPr algn="l" indent="0" marL="0">
              <a:buNone/>
            </a:pPr>
            <a:r>
              <a:rPr lang="en-US" sz="1050" spc="231" kern="0" dirty="0">
                <a:solidFill>
                  <a:srgbClr val="F5EFDD">
                    <a:alpha val="80000"/>
                  </a:srgbClr>
                </a:solidFill>
                <a:latin typeface="JetBrains Mono" pitchFamily="34" charset="0"/>
                <a:ea typeface="JetBrains Mono" pitchFamily="34" charset="-122"/>
                <a:cs typeface="JetBrains Mono" pitchFamily="34" charset="-120"/>
              </a:rPr>
              <a:t>33–37</a:t>
            </a:r>
            <a:endParaRPr lang="en-US" sz="1050" dirty="0"/>
          </a:p>
        </p:txBody>
      </p:sp>
      <p:sp>
        <p:nvSpPr>
          <p:cNvPr id="13" name="Text 9"/>
          <p:cNvSpPr txBox="1"/>
          <p:nvPr/>
        </p:nvSpPr>
        <p:spPr>
          <a:xfrm>
            <a:off x="228600" y="8973007"/>
            <a:ext cx="1524305" cy="228600"/>
          </a:xfrm>
          <a:prstGeom prst="rect">
            <a:avLst/>
          </a:prstGeom>
          <a:noFill/>
          <a:ln/>
        </p:spPr>
        <p:txBody>
          <a:bodyPr wrap="none" lIns="0" tIns="0" rIns="0" bIns="0" rtlCol="0" anchor="ctr"/>
          <a:lstStyle/>
          <a:p>
            <a:pPr algn="l" indent="0" marL="0">
              <a:buNone/>
            </a:pPr>
            <a:r>
              <a:rPr lang="en-US" sz="1200" dirty="0">
                <a:solidFill>
                  <a:srgbClr val="F5EFDD">
                    <a:alpha val="90000"/>
                  </a:srgbClr>
                </a:solidFill>
                <a:latin typeface="Noto Sans JP" pitchFamily="34" charset="0"/>
                <a:ea typeface="Noto Sans JP" pitchFamily="34" charset="-122"/>
                <a:cs typeface="Noto Sans JP" pitchFamily="34" charset="-120"/>
              </a:rPr>
              <a:t>講師デモ中心</a:t>
            </a:r>
            <a:endParaRPr lang="en-US" sz="1200" dirty="0"/>
          </a:p>
        </p:txBody>
      </p:sp>
      <p:sp>
        <p:nvSpPr>
          <p:cNvPr id="14" name="Text 10"/>
          <p:cNvSpPr txBox="1"/>
          <p:nvPr/>
        </p:nvSpPr>
        <p:spPr>
          <a:xfrm>
            <a:off x="2971800" y="4267505"/>
            <a:ext cx="1267358" cy="152705"/>
          </a:xfrm>
          <a:prstGeom prst="rect">
            <a:avLst/>
          </a:prstGeom>
          <a:noFill/>
          <a:ln/>
        </p:spPr>
        <p:txBody>
          <a:bodyPr wrap="none" lIns="0" tIns="0" rIns="0" bIns="0" rtlCol="0" anchor="ctr"/>
          <a:lstStyle/>
          <a:p>
            <a:pPr algn="l" indent="0" marL="0">
              <a:buNone/>
            </a:pPr>
            <a:r>
              <a:rPr lang="en-US" sz="900" spc="162" kern="0" dirty="0">
                <a:solidFill>
                  <a:srgbClr val="D4922A"/>
                </a:solidFill>
                <a:latin typeface="JetBrains Mono" pitchFamily="34" charset="0"/>
                <a:ea typeface="JetBrains Mono" pitchFamily="34" charset="-122"/>
                <a:cs typeface="JetBrains Mono" pitchFamily="34" charset="-120"/>
              </a:rPr>
              <a:t>MODE</a:t>
            </a:r>
            <a:endParaRPr lang="en-US" sz="900" dirty="0"/>
          </a:p>
        </p:txBody>
      </p:sp>
      <p:sp>
        <p:nvSpPr>
          <p:cNvPr id="15" name="Text 11"/>
          <p:cNvSpPr txBox="1"/>
          <p:nvPr/>
        </p:nvSpPr>
        <p:spPr>
          <a:xfrm>
            <a:off x="2971800" y="4438498"/>
            <a:ext cx="1267358" cy="305410"/>
          </a:xfrm>
          <a:prstGeom prst="rect">
            <a:avLst/>
          </a:prstGeom>
          <a:noFill/>
          <a:ln/>
        </p:spPr>
        <p:txBody>
          <a:bodyPr wrap="none" lIns="0" tIns="0" rIns="0" bIns="0" rtlCol="0" anchor="ctr"/>
          <a:lstStyle/>
          <a:p>
            <a:pPr algn="l" indent="0" marL="0">
              <a:buNone/>
            </a:pPr>
            <a:r>
              <a:rPr lang="en-US" sz="1650" dirty="0">
                <a:solidFill>
                  <a:srgbClr val="F5EFDD"/>
                </a:solidFill>
                <a:latin typeface="Noto Sans JP" pitchFamily="34" charset="0"/>
                <a:ea typeface="Noto Sans JP" pitchFamily="34" charset="-122"/>
                <a:cs typeface="Noto Sans JP" pitchFamily="34" charset="-120"/>
              </a:rPr>
              <a:t>講師デモ中心</a:t>
            </a:r>
            <a:endParaRPr lang="en-US" sz="1650" dirty="0"/>
          </a:p>
        </p:txBody>
      </p:sp>
      <p:pic>
        <p:nvPicPr>
          <p:cNvPr id="16" name="Image 1" descr="gen-dedup-b74fd157634ca0a4023461c65ab037eb.png">    </p:cNvPr>
          <p:cNvPicPr>
            <a:picLocks noChangeAspect="1"/>
          </p:cNvPicPr>
          <p:nvPr/>
        </p:nvPicPr>
        <p:blipFill>
          <a:blip r:embed="rId2"/>
          <a:srcRect l="0" r="0" t="-2083" b="-2083"/>
          <a:stretch/>
        </p:blipFill>
        <p:spPr>
          <a:xfrm>
            <a:off x="4686300" y="4276649"/>
            <a:ext cx="9144" cy="457200"/>
          </a:xfrm>
          <a:prstGeom prst="rect">
            <a:avLst/>
          </a:prstGeom>
        </p:spPr>
      </p:pic>
      <p:sp>
        <p:nvSpPr>
          <p:cNvPr id="17" name="Text 12"/>
          <p:cNvSpPr txBox="1"/>
          <p:nvPr/>
        </p:nvSpPr>
        <p:spPr>
          <a:xfrm>
            <a:off x="5153558" y="4267505"/>
            <a:ext cx="2029054" cy="152705"/>
          </a:xfrm>
          <a:prstGeom prst="rect">
            <a:avLst/>
          </a:prstGeom>
          <a:noFill/>
          <a:ln/>
        </p:spPr>
        <p:txBody>
          <a:bodyPr wrap="none" lIns="0" tIns="0" rIns="0" bIns="0" rtlCol="0" anchor="ctr"/>
          <a:lstStyle/>
          <a:p>
            <a:pPr algn="l" indent="0" marL="0">
              <a:buNone/>
            </a:pPr>
            <a:r>
              <a:rPr lang="en-US" sz="900" spc="162" kern="0" dirty="0">
                <a:solidFill>
                  <a:srgbClr val="D4922A"/>
                </a:solidFill>
                <a:latin typeface="JetBrains Mono" pitchFamily="34" charset="0"/>
                <a:ea typeface="JetBrains Mono" pitchFamily="34" charset="-122"/>
                <a:cs typeface="JetBrains Mono" pitchFamily="34" charset="-120"/>
              </a:rPr>
              <a:t>PARTICIPANTS</a:t>
            </a:r>
            <a:endParaRPr lang="en-US" sz="900" dirty="0"/>
          </a:p>
        </p:txBody>
      </p:sp>
      <p:sp>
        <p:nvSpPr>
          <p:cNvPr id="18" name="Text 13"/>
          <p:cNvSpPr txBox="1"/>
          <p:nvPr/>
        </p:nvSpPr>
        <p:spPr>
          <a:xfrm>
            <a:off x="5153558" y="4438498"/>
            <a:ext cx="2029054" cy="305410"/>
          </a:xfrm>
          <a:prstGeom prst="rect">
            <a:avLst/>
          </a:prstGeom>
          <a:noFill/>
          <a:ln/>
        </p:spPr>
        <p:txBody>
          <a:bodyPr wrap="none" lIns="0" tIns="0" rIns="0" bIns="0" rtlCol="0" anchor="ctr"/>
          <a:lstStyle/>
          <a:p>
            <a:pPr algn="l" indent="0" marL="0">
              <a:buNone/>
            </a:pPr>
            <a:r>
              <a:rPr lang="en-US" sz="1650" dirty="0">
                <a:solidFill>
                  <a:srgbClr val="F5EFDD"/>
                </a:solidFill>
                <a:latin typeface="Noto Sans JP" pitchFamily="34" charset="0"/>
                <a:ea typeface="Noto Sans JP" pitchFamily="34" charset="-122"/>
                <a:cs typeface="Noto Sans JP" pitchFamily="34" charset="-120"/>
              </a:rPr>
              <a:t>観察・声出し補助 OK</a:t>
            </a:r>
            <a:endParaRPr lang="en-US" sz="1650" dirty="0"/>
          </a:p>
        </p:txBody>
      </p:sp>
      <p:pic>
        <p:nvPicPr>
          <p:cNvPr id="19" name="Image 2" descr="gen-dedup-b74fd157634ca0a4023461c65ab037eb.png">    </p:cNvPr>
          <p:cNvPicPr>
            <a:picLocks noChangeAspect="1"/>
          </p:cNvPicPr>
          <p:nvPr/>
        </p:nvPicPr>
        <p:blipFill>
          <a:blip r:embed="rId3"/>
          <a:srcRect l="0" r="0" t="-2083" b="-2083"/>
          <a:stretch/>
        </p:blipFill>
        <p:spPr>
          <a:xfrm>
            <a:off x="7631582" y="4276649"/>
            <a:ext cx="9144" cy="457200"/>
          </a:xfrm>
          <a:prstGeom prst="rect">
            <a:avLst/>
          </a:prstGeom>
        </p:spPr>
      </p:pic>
      <p:sp>
        <p:nvSpPr>
          <p:cNvPr id="20" name="Text 14"/>
          <p:cNvSpPr txBox="1"/>
          <p:nvPr/>
        </p:nvSpPr>
        <p:spPr>
          <a:xfrm>
            <a:off x="8097926" y="4267505"/>
            <a:ext cx="3363163" cy="152705"/>
          </a:xfrm>
          <a:prstGeom prst="rect">
            <a:avLst/>
          </a:prstGeom>
          <a:noFill/>
          <a:ln/>
        </p:spPr>
        <p:txBody>
          <a:bodyPr wrap="none" lIns="0" tIns="0" rIns="0" bIns="0" rtlCol="0" anchor="ctr"/>
          <a:lstStyle/>
          <a:p>
            <a:pPr algn="l" indent="0" marL="0">
              <a:buNone/>
            </a:pPr>
            <a:r>
              <a:rPr lang="en-US" sz="900" spc="162" kern="0" dirty="0">
                <a:solidFill>
                  <a:srgbClr val="D4922A"/>
                </a:solidFill>
                <a:latin typeface="JetBrains Mono" pitchFamily="34" charset="0"/>
                <a:ea typeface="JetBrains Mono" pitchFamily="34" charset="-122"/>
                <a:cs typeface="JetBrains Mono" pitchFamily="34" charset="-120"/>
              </a:rPr>
              <a:t>CONTRIBUTION</a:t>
            </a:r>
            <a:endParaRPr lang="en-US" sz="900" dirty="0"/>
          </a:p>
        </p:txBody>
      </p:sp>
      <p:sp>
        <p:nvSpPr>
          <p:cNvPr id="21" name="Text 15"/>
          <p:cNvSpPr txBox="1"/>
          <p:nvPr/>
        </p:nvSpPr>
        <p:spPr>
          <a:xfrm>
            <a:off x="8097926" y="4438498"/>
            <a:ext cx="3363163" cy="305410"/>
          </a:xfrm>
          <a:prstGeom prst="rect">
            <a:avLst/>
          </a:prstGeom>
          <a:noFill/>
          <a:ln/>
        </p:spPr>
        <p:txBody>
          <a:bodyPr wrap="none" lIns="0" tIns="0" rIns="0" bIns="0" rtlCol="0" anchor="ctr"/>
          <a:lstStyle/>
          <a:p>
            <a:pPr algn="l" indent="0" marL="0">
              <a:buNone/>
            </a:pPr>
            <a:r>
              <a:rPr lang="en-US" sz="1650" dirty="0">
                <a:solidFill>
                  <a:srgbClr val="F5EFDD"/>
                </a:solidFill>
                <a:latin typeface="Noto Sans JP" pitchFamily="34" charset="0"/>
                <a:ea typeface="Noto Sans JP" pitchFamily="34" charset="-122"/>
                <a:cs typeface="Noto Sans JP" pitchFamily="34" charset="-120"/>
              </a:rPr>
              <a:t>他の参加者アカウントには触らない</a:t>
            </a:r>
            <a:endParaRPr lang="en-US" sz="1650" dirty="0"/>
          </a:p>
        </p:txBody>
      </p:sp>
      <p:pic>
        <p:nvPicPr>
          <p:cNvPr id="22" name="Image 3" descr="gen-dedup-b74fd157634ca0a4023461c65ab037eb.png">    </p:cNvPr>
          <p:cNvPicPr>
            <a:picLocks noChangeAspect="1"/>
          </p:cNvPicPr>
          <p:nvPr/>
        </p:nvPicPr>
        <p:blipFill>
          <a:blip r:embed="rId4"/>
          <a:srcRect l="0" r="0" t="-2083" b="-2083"/>
          <a:stretch/>
        </p:blipFill>
        <p:spPr>
          <a:xfrm>
            <a:off x="11908231" y="4276649"/>
            <a:ext cx="9144" cy="457200"/>
          </a:xfrm>
          <a:prstGeom prst="rect">
            <a:avLst/>
          </a:prstGeom>
        </p:spPr>
      </p:pic>
      <p:sp>
        <p:nvSpPr>
          <p:cNvPr id="23" name="Text 16"/>
          <p:cNvSpPr txBox="1"/>
          <p:nvPr/>
        </p:nvSpPr>
        <p:spPr>
          <a:xfrm>
            <a:off x="12374575" y="4267505"/>
            <a:ext cx="1057961" cy="152705"/>
          </a:xfrm>
          <a:prstGeom prst="rect">
            <a:avLst/>
          </a:prstGeom>
          <a:noFill/>
          <a:ln/>
        </p:spPr>
        <p:txBody>
          <a:bodyPr wrap="none" lIns="0" tIns="0" rIns="0" bIns="0" rtlCol="0" anchor="ctr"/>
          <a:lstStyle/>
          <a:p>
            <a:pPr algn="l" indent="0" marL="0">
              <a:buNone/>
            </a:pPr>
            <a:r>
              <a:rPr lang="en-US" sz="900" spc="162" kern="0" dirty="0">
                <a:solidFill>
                  <a:srgbClr val="D4922A"/>
                </a:solidFill>
                <a:latin typeface="JetBrains Mono" pitchFamily="34" charset="0"/>
                <a:ea typeface="JetBrains Mono" pitchFamily="34" charset="-122"/>
                <a:cs typeface="JetBrains Mono" pitchFamily="34" charset="-120"/>
              </a:rPr>
              <a:t>SUBMIT</a:t>
            </a:r>
            <a:endParaRPr lang="en-US" sz="900" dirty="0"/>
          </a:p>
        </p:txBody>
      </p:sp>
      <p:sp>
        <p:nvSpPr>
          <p:cNvPr id="24" name="Text 17"/>
          <p:cNvSpPr txBox="1"/>
          <p:nvPr/>
        </p:nvSpPr>
        <p:spPr>
          <a:xfrm>
            <a:off x="12374575" y="4438498"/>
            <a:ext cx="1057961" cy="305410"/>
          </a:xfrm>
          <a:prstGeom prst="rect">
            <a:avLst/>
          </a:prstGeom>
          <a:noFill/>
          <a:ln/>
        </p:spPr>
        <p:txBody>
          <a:bodyPr wrap="none" lIns="0" tIns="0" rIns="0" bIns="0" rtlCol="0" anchor="ctr"/>
          <a:lstStyle/>
          <a:p>
            <a:pPr algn="l" indent="0" marL="0">
              <a:buNone/>
            </a:pPr>
            <a:r>
              <a:rPr lang="en-US" sz="1650" dirty="0">
                <a:solidFill>
                  <a:srgbClr val="F5EFDD"/>
                </a:solidFill>
                <a:latin typeface="Noto Sans JP" pitchFamily="34" charset="0"/>
                <a:ea typeface="Noto Sans JP" pitchFamily="34" charset="-122"/>
                <a:cs typeface="Noto Sans JP" pitchFamily="34" charset="-120"/>
              </a:rPr>
              <a:t>提出UIなし</a:t>
            </a:r>
            <a:endParaRPr lang="en-US" sz="1650" dirty="0"/>
          </a:p>
        </p:txBody>
      </p:sp>
      <p:sp>
        <p:nvSpPr>
          <p:cNvPr id="25" name="Text 18"/>
          <p:cNvSpPr txBox="1"/>
          <p:nvPr/>
        </p:nvSpPr>
        <p:spPr>
          <a:xfrm>
            <a:off x="2971800" y="5391302"/>
            <a:ext cx="4191610" cy="171907"/>
          </a:xfrm>
          <a:prstGeom prst="rect">
            <a:avLst/>
          </a:prstGeom>
          <a:noFill/>
          <a:ln/>
        </p:spPr>
        <p:txBody>
          <a:bodyPr wrap="none" lIns="0" tIns="0" rIns="0" bIns="0" rtlCol="0" anchor="ctr"/>
          <a:lstStyle/>
          <a:p>
            <a:pPr algn="l" indent="0" marL="0">
              <a:buNone/>
            </a:pPr>
            <a:r>
              <a:rPr lang="en-US" sz="1050" spc="189" kern="0" dirty="0">
                <a:solidFill>
                  <a:srgbClr val="2D5D5A"/>
                </a:solidFill>
                <a:latin typeface="JetBrains Mono" pitchFamily="34" charset="0"/>
                <a:ea typeface="JetBrains Mono" pitchFamily="34" charset="-122"/>
                <a:cs typeface="JetBrains Mono" pitchFamily="34" charset="-120"/>
              </a:rPr>
              <a:t>OBSERVATION</a:t>
            </a:r>
            <a:endParaRPr lang="en-US" sz="1050" dirty="0"/>
          </a:p>
        </p:txBody>
      </p:sp>
      <p:sp>
        <p:nvSpPr>
          <p:cNvPr id="26" name="Text 19"/>
          <p:cNvSpPr txBox="1"/>
          <p:nvPr/>
        </p:nvSpPr>
        <p:spPr>
          <a:xfrm>
            <a:off x="2971800" y="5695798"/>
            <a:ext cx="4191610" cy="715061"/>
          </a:xfrm>
          <a:prstGeom prst="rect">
            <a:avLst/>
          </a:prstGeom>
          <a:noFill/>
          <a:ln/>
        </p:spPr>
        <p:txBody>
          <a:bodyPr wrap="square" lIns="0" tIns="0" rIns="0" bIns="0" rtlCol="0" anchor="ctr"/>
          <a:lstStyle/>
          <a:p>
            <a:pPr algn="l" indent="0" marL="0">
              <a:lnSpc>
                <a:spcPct val="110000"/>
              </a:lnSpc>
              <a:buNone/>
            </a:pPr>
            <a:r>
              <a:rPr lang="en-US" sz="2550" b="1" dirty="0">
                <a:solidFill>
                  <a:srgbClr val="211C13"/>
                </a:solidFill>
                <a:latin typeface="Zen Kaku Gothic Antique" pitchFamily="34" charset="0"/>
                <a:ea typeface="Zen Kaku Gothic Antique" pitchFamily="34" charset="-122"/>
                <a:cs typeface="Zen Kaku Gothic Antique" pitchFamily="34" charset="-120"/>
              </a:rPr>
              <a:t>自分のプロフィール取得を観察</a:t>
            </a:r>
            <a:endParaRPr lang="en-US" sz="2550" dirty="0"/>
          </a:p>
        </p:txBody>
      </p:sp>
      <p:sp>
        <p:nvSpPr>
          <p:cNvPr id="27" name="Text 20"/>
          <p:cNvSpPr txBox="1"/>
          <p:nvPr/>
        </p:nvSpPr>
        <p:spPr>
          <a:xfrm>
            <a:off x="2971800" y="6508699"/>
            <a:ext cx="4191610" cy="918972"/>
          </a:xfrm>
          <a:prstGeom prst="rect">
            <a:avLst/>
          </a:prstGeom>
          <a:noFill/>
          <a:ln/>
        </p:spPr>
        <p:txBody>
          <a:bodyPr wrap="square" lIns="0" tIns="0" rIns="0" bIns="0" rtlCol="0" anchor="t"/>
          <a:lstStyle/>
          <a:p>
            <a:pPr algn="l" indent="0" marL="0">
              <a:lnSpc>
                <a:spcPts val="2325"/>
              </a:lnSpc>
              <a:buNone/>
            </a:pPr>
            <a:r>
              <a:rPr lang="en-US" sz="1500" dirty="0">
                <a:solidFill>
                  <a:srgbClr val="5A4F3F"/>
                </a:solidFill>
                <a:latin typeface="Noto Sans JP" pitchFamily="34" charset="0"/>
                <a:ea typeface="Noto Sans JP" pitchFamily="34" charset="-122"/>
                <a:cs typeface="Noto Sans JP" pitchFamily="34" charset="-120"/>
              </a:rPr>
              <a:t>DevTools で URL のクエリ文字列、</a:t>
            </a:r>
            <a:pPr algn="l" indent="0" marL="0">
              <a:lnSpc>
                <a:spcPts val="2325"/>
              </a:lnSpc>
              <a:buNone/>
            </a:pPr>
            <a:endParaRPr lang="en-US" sz="1500" dirty="0"/>
          </a:p>
          <a:p>
            <a:pPr algn="l" indent="0" marL="0">
              <a:lnSpc>
                <a:spcPts val="2325"/>
              </a:lnSpc>
              <a:buNone/>
            </a:pPr>
            <a:r>
              <a:rPr lang="en-US" sz="1500" dirty="0">
                <a:solidFill>
                  <a:srgbClr val="5A4F3F"/>
                </a:solidFill>
                <a:latin typeface="Noto Sans JP" pitchFamily="34" charset="0"/>
                <a:ea typeface="Noto Sans JP" pitchFamily="34" charset="-122"/>
                <a:cs typeface="Noto Sans JP" pitchFamily="34" charset="-120"/>
              </a:rPr>
              <a:t>もしくは Console から fetch で再取得。</a:t>
            </a:r>
            <a:pPr algn="l" indent="0" marL="0">
              <a:lnSpc>
                <a:spcPts val="2325"/>
              </a:lnSpc>
              <a:buNone/>
            </a:pPr>
            <a:endParaRPr lang="en-US" sz="1500" dirty="0"/>
          </a:p>
          <a:p>
            <a:pPr algn="l" indent="0" marL="0">
              <a:lnSpc>
                <a:spcPts val="2325"/>
              </a:lnSpc>
              <a:buNone/>
            </a:pPr>
            <a:r>
              <a:rPr lang="en-US" sz="1500" dirty="0">
                <a:solidFill>
                  <a:srgbClr val="5A4F3F"/>
                </a:solidFill>
                <a:latin typeface="Noto Sans JP" pitchFamily="34" charset="0"/>
                <a:ea typeface="Noto Sans JP" pitchFamily="34" charset="-122"/>
                <a:cs typeface="Noto Sans JP" pitchFamily="34" charset="-120"/>
              </a:rPr>
              <a:t>認証は通っている前提で観察します。</a:t>
            </a:r>
            <a:endParaRPr lang="en-US" sz="1500" dirty="0"/>
          </a:p>
        </p:txBody>
      </p:sp>
      <p:sp>
        <p:nvSpPr>
          <p:cNvPr id="28" name="Text 21"/>
          <p:cNvSpPr txBox="1"/>
          <p:nvPr/>
        </p:nvSpPr>
        <p:spPr>
          <a:xfrm>
            <a:off x="8020202" y="5391302"/>
            <a:ext cx="4191610" cy="171907"/>
          </a:xfrm>
          <a:prstGeom prst="rect">
            <a:avLst/>
          </a:prstGeom>
          <a:noFill/>
          <a:ln/>
        </p:spPr>
        <p:txBody>
          <a:bodyPr wrap="none" lIns="0" tIns="0" rIns="0" bIns="0" rtlCol="0" anchor="ctr"/>
          <a:lstStyle/>
          <a:p>
            <a:pPr algn="l" indent="0" marL="0">
              <a:buNone/>
            </a:pPr>
            <a:r>
              <a:rPr lang="en-US" sz="1050" spc="189" kern="0" dirty="0">
                <a:solidFill>
                  <a:srgbClr val="2D5D5A"/>
                </a:solidFill>
                <a:latin typeface="JetBrains Mono" pitchFamily="34" charset="0"/>
                <a:ea typeface="JetBrains Mono" pitchFamily="34" charset="-122"/>
                <a:cs typeface="JetBrains Mono" pitchFamily="34" charset="-120"/>
              </a:rPr>
              <a:t>IDENTIFIER</a:t>
            </a:r>
            <a:endParaRPr lang="en-US" sz="1050" dirty="0"/>
          </a:p>
        </p:txBody>
      </p:sp>
      <p:sp>
        <p:nvSpPr>
          <p:cNvPr id="29" name="Text 22"/>
          <p:cNvSpPr txBox="1"/>
          <p:nvPr/>
        </p:nvSpPr>
        <p:spPr>
          <a:xfrm>
            <a:off x="8020202" y="5695798"/>
            <a:ext cx="4191610" cy="362102"/>
          </a:xfrm>
          <a:prstGeom prst="rect">
            <a:avLst/>
          </a:prstGeom>
          <a:noFill/>
          <a:ln/>
        </p:spPr>
        <p:txBody>
          <a:bodyPr wrap="none" lIns="0" tIns="0" rIns="0" bIns="0" rtlCol="0" anchor="ctr"/>
          <a:lstStyle/>
          <a:p>
            <a:pPr algn="l" indent="0" marL="0">
              <a:buNone/>
            </a:pPr>
            <a:r>
              <a:rPr lang="en-US" sz="2550" b="1" dirty="0">
                <a:solidFill>
                  <a:srgbClr val="211C13"/>
                </a:solidFill>
                <a:latin typeface="Zen Kaku Gothic Antique" pitchFamily="34" charset="0"/>
                <a:ea typeface="Zen Kaku Gothic Antique" pitchFamily="34" charset="-122"/>
                <a:cs typeface="Zen Kaku Gothic Antique" pitchFamily="34" charset="-120"/>
              </a:rPr>
              <a:t>ID を変えて再取得</a:t>
            </a:r>
            <a:endParaRPr lang="en-US" sz="2550" dirty="0"/>
          </a:p>
        </p:txBody>
      </p:sp>
      <p:sp>
        <p:nvSpPr>
          <p:cNvPr id="30" name="Text 23"/>
          <p:cNvSpPr txBox="1"/>
          <p:nvPr/>
        </p:nvSpPr>
        <p:spPr>
          <a:xfrm>
            <a:off x="8020202" y="6152083"/>
            <a:ext cx="4191610" cy="623621"/>
          </a:xfrm>
          <a:prstGeom prst="rect">
            <a:avLst/>
          </a:prstGeom>
          <a:noFill/>
          <a:ln/>
        </p:spPr>
        <p:txBody>
          <a:bodyPr wrap="square" lIns="0" tIns="0" rIns="0" bIns="0" rtlCol="0" anchor="t"/>
          <a:lstStyle/>
          <a:p>
            <a:pPr algn="l" indent="0" marL="0">
              <a:lnSpc>
                <a:spcPts val="2325"/>
              </a:lnSpc>
              <a:buNone/>
            </a:pPr>
            <a:r>
              <a:rPr lang="en-US" sz="1500" dirty="0">
                <a:solidFill>
                  <a:srgbClr val="5A4F3F"/>
                </a:solidFill>
                <a:latin typeface="Noto Sans JP" pitchFamily="34" charset="0"/>
                <a:ea typeface="Noto Sans JP" pitchFamily="34" charset="-122"/>
                <a:cs typeface="Noto Sans JP" pitchFamily="34" charset="-120"/>
              </a:rPr>
              <a:t>別タブで架空ライバルを開いて確認した</a:t>
            </a:r>
            <a:pPr algn="l" indent="0" marL="0">
              <a:lnSpc>
                <a:spcPts val="2325"/>
              </a:lnSpc>
              <a:buNone/>
            </a:pPr>
            <a:endParaRPr lang="en-US" sz="1500" dirty="0"/>
          </a:p>
          <a:p>
            <a:pPr algn="l" indent="0" marL="0">
              <a:lnSpc>
                <a:spcPts val="2325"/>
              </a:lnSpc>
              <a:buNone/>
            </a:pPr>
            <a:r>
              <a:rPr lang="en-US" sz="1500" dirty="0">
                <a:solidFill>
                  <a:srgbClr val="5A4F3F"/>
                </a:solidFill>
                <a:latin typeface="Noto Sans JP" pitchFamily="34" charset="0"/>
                <a:ea typeface="Noto Sans JP" pitchFamily="34" charset="-122"/>
                <a:cs typeface="Noto Sans JP" pitchFamily="34" charset="-120"/>
              </a:rPr>
              <a:t>ID を1つだけ差し替えてリクエストしてみます。</a:t>
            </a:r>
            <a:endParaRPr lang="en-US" sz="1500" dirty="0"/>
          </a:p>
        </p:txBody>
      </p:sp>
      <p:sp>
        <p:nvSpPr>
          <p:cNvPr id="31" name="Text 24"/>
          <p:cNvSpPr txBox="1"/>
          <p:nvPr/>
        </p:nvSpPr>
        <p:spPr>
          <a:xfrm>
            <a:off x="13068605" y="5391302"/>
            <a:ext cx="4191610" cy="171907"/>
          </a:xfrm>
          <a:prstGeom prst="rect">
            <a:avLst/>
          </a:prstGeom>
          <a:noFill/>
          <a:ln/>
        </p:spPr>
        <p:txBody>
          <a:bodyPr wrap="none" lIns="0" tIns="0" rIns="0" bIns="0" rtlCol="0" anchor="ctr"/>
          <a:lstStyle/>
          <a:p>
            <a:pPr algn="l" indent="0" marL="0">
              <a:buNone/>
            </a:pPr>
            <a:r>
              <a:rPr lang="en-US" sz="1050" spc="189" kern="0" dirty="0">
                <a:solidFill>
                  <a:srgbClr val="D4922A"/>
                </a:solidFill>
                <a:latin typeface="JetBrains Mono" pitchFamily="34" charset="0"/>
                <a:ea typeface="JetBrains Mono" pitchFamily="34" charset="-122"/>
                <a:cs typeface="JetBrains Mono" pitchFamily="34" charset="-120"/>
              </a:rPr>
              <a:t>WHAT TO SEE</a:t>
            </a:r>
            <a:endParaRPr lang="en-US" sz="1050" dirty="0"/>
          </a:p>
        </p:txBody>
      </p:sp>
      <p:sp>
        <p:nvSpPr>
          <p:cNvPr id="32" name="Text 25"/>
          <p:cNvSpPr txBox="1"/>
          <p:nvPr/>
        </p:nvSpPr>
        <p:spPr>
          <a:xfrm>
            <a:off x="13068605" y="5695798"/>
            <a:ext cx="4191610" cy="362102"/>
          </a:xfrm>
          <a:prstGeom prst="rect">
            <a:avLst/>
          </a:prstGeom>
          <a:noFill/>
          <a:ln/>
        </p:spPr>
        <p:txBody>
          <a:bodyPr wrap="none" lIns="0" tIns="0" rIns="0" bIns="0" rtlCol="0" anchor="ctr"/>
          <a:lstStyle/>
          <a:p>
            <a:pPr algn="l" indent="0" marL="0">
              <a:buNone/>
            </a:pPr>
            <a:r>
              <a:rPr lang="en-US" sz="2550" b="1" dirty="0">
                <a:solidFill>
                  <a:srgbClr val="F5EFDD"/>
                </a:solidFill>
                <a:latin typeface="Zen Kaku Gothic Antique" pitchFamily="34" charset="0"/>
                <a:ea typeface="Zen Kaku Gothic Antique" pitchFamily="34" charset="-122"/>
                <a:cs typeface="Zen Kaku Gothic Antique" pitchFamily="34" charset="-120"/>
              </a:rPr>
              <a:t>非公開メモまで含まれる</a:t>
            </a:r>
            <a:endParaRPr lang="en-US" sz="2550" dirty="0"/>
          </a:p>
        </p:txBody>
      </p:sp>
      <p:sp>
        <p:nvSpPr>
          <p:cNvPr id="33" name="Text 26"/>
          <p:cNvSpPr txBox="1"/>
          <p:nvPr/>
        </p:nvSpPr>
        <p:spPr>
          <a:xfrm>
            <a:off x="13068605" y="6152083"/>
            <a:ext cx="4191610" cy="623621"/>
          </a:xfrm>
          <a:prstGeom prst="rect">
            <a:avLst/>
          </a:prstGeom>
          <a:noFill/>
          <a:ln/>
        </p:spPr>
        <p:txBody>
          <a:bodyPr wrap="square" lIns="0" tIns="0" rIns="0" bIns="0" rtlCol="0" anchor="t"/>
          <a:lstStyle/>
          <a:p>
            <a:pPr algn="l" indent="0" marL="0">
              <a:lnSpc>
                <a:spcPts val="2325"/>
              </a:lnSpc>
              <a:buNone/>
            </a:pPr>
            <a:r>
              <a:rPr lang="en-US" sz="1500" dirty="0">
                <a:solidFill>
                  <a:srgbClr val="ECE4D2"/>
                </a:solidFill>
                <a:latin typeface="Noto Sans JP" pitchFamily="34" charset="0"/>
                <a:ea typeface="Noto Sans JP" pitchFamily="34" charset="-122"/>
                <a:cs typeface="Noto Sans JP" pitchFamily="34" charset="-120"/>
              </a:rPr>
              <a:t>ライバルのプロフィールに存在するはずの</a:t>
            </a:r>
            <a:pPr algn="l" indent="0" marL="0">
              <a:lnSpc>
                <a:spcPts val="2325"/>
              </a:lnSpc>
              <a:buNone/>
            </a:pPr>
            <a:endParaRPr lang="en-US" sz="1500" dirty="0"/>
          </a:p>
          <a:p>
            <a:pPr algn="l" indent="0" marL="0">
              <a:lnSpc>
                <a:spcPts val="2325"/>
              </a:lnSpc>
              <a:buNone/>
            </a:pPr>
            <a:r>
              <a:rPr lang="en-US" sz="1500" dirty="0">
                <a:solidFill>
                  <a:srgbClr val="ECE4D2"/>
                </a:solidFill>
                <a:latin typeface="Noto Sans JP" pitchFamily="34" charset="0"/>
                <a:ea typeface="Noto Sans JP" pitchFamily="34" charset="-122"/>
                <a:cs typeface="Noto Sans JP" pitchFamily="34" charset="-120"/>
              </a:rPr>
              <a:t>「自分にしか見えないメモ」が見えれば成功。</a:t>
            </a:r>
            <a:endParaRPr lang="en-US" sz="1500" dirty="0"/>
          </a:p>
        </p:txBody>
      </p:sp>
      <p:pic>
        <p:nvPicPr>
          <p:cNvPr id="34" name="Image 4" descr="gen-dedup-ff3b843c62efd2578b331bdfc9bb7c8f.png">    </p:cNvPr>
          <p:cNvPicPr>
            <a:picLocks noChangeAspect="1"/>
          </p:cNvPicPr>
          <p:nvPr/>
        </p:nvPicPr>
        <p:blipFill>
          <a:blip r:embed="rId5"/>
          <a:srcRect l="-2083" r="-2083" t="0" b="0"/>
          <a:stretch/>
        </p:blipFill>
        <p:spPr>
          <a:xfrm>
            <a:off x="914400" y="9334195"/>
            <a:ext cx="16459200" cy="9144"/>
          </a:xfrm>
          <a:prstGeom prst="rect">
            <a:avLst/>
          </a:prstGeom>
        </p:spPr>
      </p:pic>
      <p:sp>
        <p:nvSpPr>
          <p:cNvPr id="35" name="Text 27"/>
          <p:cNvSpPr txBox="1"/>
          <p:nvPr/>
        </p:nvSpPr>
        <p:spPr>
          <a:xfrm>
            <a:off x="2667305" y="914400"/>
            <a:ext cx="14287500" cy="219456"/>
          </a:xfrm>
          <a:prstGeom prst="rect">
            <a:avLst/>
          </a:prstGeom>
          <a:noFill/>
          <a:ln/>
        </p:spPr>
        <p:txBody>
          <a:bodyPr wrap="none" lIns="0" tIns="0" rIns="0" bIns="0" rtlCol="0" anchor="ctr"/>
          <a:lstStyle/>
          <a:p>
            <a:pPr algn="l" indent="0" marL="0">
              <a:buNone/>
            </a:pPr>
            <a:r>
              <a:rPr lang="en-US" sz="1350" spc="324" kern="0" dirty="0">
                <a:solidFill>
                  <a:srgbClr val="2D5D5A"/>
                </a:solidFill>
                <a:latin typeface="JetBrains Mono" pitchFamily="34" charset="0"/>
                <a:ea typeface="JetBrains Mono" pitchFamily="34" charset="-122"/>
                <a:cs typeface="JetBrains Mono" pitchFamily="34" charset="-120"/>
              </a:rPr>
              <a:t>24 · Challenge 03</a:t>
            </a:r>
            <a:endParaRPr lang="en-US" sz="1350" dirty="0"/>
          </a:p>
        </p:txBody>
      </p:sp>
      <p:sp>
        <p:nvSpPr>
          <p:cNvPr id="36" name="Text 28"/>
          <p:cNvSpPr txBox="1"/>
          <p:nvPr/>
        </p:nvSpPr>
        <p:spPr>
          <a:xfrm>
            <a:off x="2667305" y="1228954"/>
            <a:ext cx="14287500" cy="991210"/>
          </a:xfrm>
          <a:prstGeom prst="rect">
            <a:avLst/>
          </a:prstGeom>
          <a:noFill/>
          <a:ln/>
        </p:spPr>
        <p:txBody>
          <a:bodyPr wrap="none" lIns="0" tIns="0" rIns="0" bIns="0" rtlCol="0" anchor="ctr"/>
          <a:lstStyle/>
          <a:p>
            <a:pPr algn="l" indent="0" marL="0">
              <a:buNone/>
            </a:pPr>
            <a:r>
              <a:rPr lang="en-US" sz="7800" b="1" spc="-156" kern="0" dirty="0">
                <a:solidFill>
                  <a:srgbClr val="211C13"/>
                </a:solidFill>
                <a:latin typeface="Zen Kaku Gothic Antique" pitchFamily="34" charset="0"/>
                <a:ea typeface="Zen Kaku Gothic Antique" pitchFamily="34" charset="-122"/>
                <a:cs typeface="Zen Kaku Gothic Antique" pitchFamily="34" charset="-120"/>
              </a:rPr>
              <a:t>認可不備 IDOR</a:t>
            </a:r>
            <a:endParaRPr lang="en-US" sz="7800" dirty="0"/>
          </a:p>
        </p:txBody>
      </p:sp>
      <p:pic>
        <p:nvPicPr>
          <p:cNvPr id="37" name="Image 5" descr="gen-dedup-375262868f0ede505ace3c9a30708fea.png">    </p:cNvPr>
          <p:cNvPicPr>
            <a:picLocks noChangeAspect="1"/>
          </p:cNvPicPr>
          <p:nvPr/>
        </p:nvPicPr>
        <p:blipFill>
          <a:blip r:embed="rId6"/>
          <a:srcRect l="0" r="0" t="-408" b="-408"/>
          <a:stretch/>
        </p:blipFill>
        <p:spPr>
          <a:xfrm>
            <a:off x="2667305" y="2391156"/>
            <a:ext cx="1904695" cy="38405"/>
          </a:xfrm>
          <a:prstGeom prst="rect">
            <a:avLst/>
          </a:prstGeom>
        </p:spPr>
      </p:pic>
      <p:sp>
        <p:nvSpPr>
          <p:cNvPr id="38" name="Text 29"/>
          <p:cNvSpPr txBox="1"/>
          <p:nvPr/>
        </p:nvSpPr>
        <p:spPr>
          <a:xfrm>
            <a:off x="2667305" y="2611526"/>
            <a:ext cx="14287500" cy="960120"/>
          </a:xfrm>
          <a:prstGeom prst="rect">
            <a:avLst/>
          </a:prstGeom>
          <a:noFill/>
          <a:ln/>
        </p:spPr>
        <p:txBody>
          <a:bodyPr wrap="square" lIns="0" tIns="0" rIns="0" bIns="0" rtlCol="0" anchor="t"/>
          <a:lstStyle/>
          <a:p>
            <a:pPr algn="l" indent="0" marL="0">
              <a:lnSpc>
                <a:spcPts val="3600"/>
              </a:lnSpc>
              <a:buNone/>
            </a:pPr>
            <a:r>
              <a:rPr lang="en-US" sz="2400" dirty="0">
                <a:solidFill>
                  <a:srgbClr val="211C13"/>
                </a:solidFill>
                <a:latin typeface="Noto Sans JP" pitchFamily="34" charset="0"/>
                <a:ea typeface="Noto Sans JP" pitchFamily="34" charset="-122"/>
                <a:cs typeface="Noto Sans JP" pitchFamily="34" charset="-120"/>
              </a:rPr>
              <a:t>自分のプロフィール取得時に、ID を変えると、</a:t>
            </a:r>
            <a:pPr algn="l" indent="0" marL="0">
              <a:lnSpc>
                <a:spcPts val="3600"/>
              </a:lnSpc>
              <a:buNone/>
            </a:pPr>
            <a:endParaRPr lang="en-US" sz="2400" dirty="0"/>
          </a:p>
          <a:p>
            <a:pPr algn="l" indent="0" marL="0">
              <a:lnSpc>
                <a:spcPts val="3600"/>
              </a:lnSpc>
              <a:buNone/>
            </a:pPr>
            <a:r>
              <a:rPr lang="en-US" sz="2400" dirty="0">
                <a:solidFill>
                  <a:srgbClr val="211C13"/>
                </a:solidFill>
                <a:latin typeface="Noto Sans JP" pitchFamily="34" charset="0"/>
                <a:ea typeface="Noto Sans JP" pitchFamily="34" charset="-122"/>
                <a:cs typeface="Noto Sans JP" pitchFamily="34" charset="-120"/>
              </a:rPr>
              <a:t>別の参加者の「非公開メモ」まで含めて見える。</a:t>
            </a:r>
            <a:endParaRPr lang="en-US" sz="2400" dirty="0"/>
          </a:p>
        </p:txBody>
      </p:sp>
      <p:sp>
        <p:nvSpPr>
          <p:cNvPr id="39" name="Text 30"/>
          <p:cNvSpPr txBox="1"/>
          <p:nvPr/>
        </p:nvSpPr>
        <p:spPr>
          <a:xfrm>
            <a:off x="2667305" y="9562795"/>
            <a:ext cx="10478110" cy="228600"/>
          </a:xfrm>
          <a:prstGeom prst="rect">
            <a:avLst/>
          </a:prstGeom>
          <a:noFill/>
          <a:ln/>
        </p:spPr>
        <p:txBody>
          <a:bodyPr wrap="none" lIns="0" tIns="0" rIns="0" bIns="0" rtlCol="0" anchor="ctr"/>
          <a:lstStyle/>
          <a:p>
            <a:pPr algn="l" indent="0" marL="0">
              <a:buNone/>
            </a:pPr>
            <a:r>
              <a:rPr lang="en-US" sz="1200" spc="72" kern="0" dirty="0">
                <a:solidFill>
                  <a:srgbClr val="5A4F3F"/>
                </a:solidFill>
                <a:latin typeface="JetBrains Mono" pitchFamily="34" charset="0"/>
                <a:ea typeface="JetBrains Mono" pitchFamily="34" charset="-122"/>
                <a:cs typeface="JetBrains Mono" pitchFamily="34" charset="-120"/>
              </a:rPr>
              <a:t>参加者向け — 観察は OK、他人のアカウントへの操作は講師デモの中だけ</a:t>
            </a:r>
            <a:endParaRPr lang="en-US" sz="1200" dirty="0"/>
          </a:p>
        </p:txBody>
      </p:sp>
      <p:sp>
        <p:nvSpPr>
          <p:cNvPr id="40" name="Text 31"/>
          <p:cNvSpPr txBox="1"/>
          <p:nvPr/>
        </p:nvSpPr>
        <p:spPr>
          <a:xfrm>
            <a:off x="15468905" y="9562795"/>
            <a:ext cx="1905610" cy="200254"/>
          </a:xfrm>
          <a:prstGeom prst="rect">
            <a:avLst/>
          </a:prstGeom>
          <a:noFill/>
          <a:ln/>
        </p:spPr>
        <p:txBody>
          <a:bodyPr wrap="none" lIns="0" tIns="0" rIns="0" bIns="0" rtlCol="0" anchor="ctr"/>
          <a:lstStyle/>
          <a:p>
            <a:pPr algn="r" indent="0" marL="0">
              <a:buNone/>
            </a:pPr>
            <a:r>
              <a:rPr lang="en-US" sz="1200" spc="72" kern="0" dirty="0">
                <a:solidFill>
                  <a:srgbClr val="5A4F3F"/>
                </a:solidFill>
                <a:latin typeface="JetBrains Mono" pitchFamily="34" charset="0"/>
                <a:ea typeface="JetBrains Mono" pitchFamily="34" charset="-122"/>
                <a:cs typeface="JetBrains Mono" pitchFamily="34" charset="-120"/>
              </a:rPr>
              <a:t>24 / 32</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FE7D4"/>
        </a:solidFill>
      </p:bgPr>
    </p:bg>
    <p:spTree>
      <p:nvGrpSpPr>
        <p:cNvPr id="1" name=""/>
        <p:cNvGrpSpPr/>
        <p:nvPr/>
      </p:nvGrpSpPr>
      <p:grpSpPr>
        <a:xfrm>
          <a:off x="0" y="0"/>
          <a:ext cx="0" cy="0"/>
          <a:chOff x="0" y="0"/>
          <a:chExt cx="0" cy="0"/>
        </a:xfrm>
      </p:grpSpPr>
      <p:sp>
        <p:nvSpPr>
          <p:cNvPr id="3" name="Shape 0"/>
          <p:cNvSpPr/>
          <p:nvPr/>
        </p:nvSpPr>
        <p:spPr>
          <a:xfrm>
            <a:off x="914400" y="3238805"/>
            <a:ext cx="8096098" cy="2667305"/>
          </a:xfrm>
          <a:prstGeom prst="roundRect">
            <a:avLst>
              <a:gd name="adj" fmla="val 1440"/>
            </a:avLst>
          </a:prstGeom>
          <a:solidFill>
            <a:srgbClr val="E5DBC4"/>
          </a:solidFill>
          <a:ln w="12700">
            <a:solidFill>
              <a:srgbClr val="FFFFFF">
                <a:alpha val="0"/>
              </a:srgbClr>
            </a:solidFill>
            <a:prstDash val="solid"/>
          </a:ln>
        </p:spPr>
      </p:sp>
      <p:sp>
        <p:nvSpPr>
          <p:cNvPr id="4" name="Shape 1"/>
          <p:cNvSpPr/>
          <p:nvPr/>
        </p:nvSpPr>
        <p:spPr>
          <a:xfrm>
            <a:off x="9277502" y="3238805"/>
            <a:ext cx="8096098" cy="2667305"/>
          </a:xfrm>
          <a:prstGeom prst="roundRect">
            <a:avLst>
              <a:gd name="adj" fmla="val 1440"/>
            </a:avLst>
          </a:prstGeom>
          <a:solidFill>
            <a:srgbClr val="E5DBC4"/>
          </a:solidFill>
          <a:ln w="12700">
            <a:solidFill>
              <a:srgbClr val="FFFFFF">
                <a:alpha val="0"/>
              </a:srgbClr>
            </a:solidFill>
            <a:prstDash val="solid"/>
          </a:ln>
        </p:spPr>
      </p:sp>
      <p:sp>
        <p:nvSpPr>
          <p:cNvPr id="5" name="Shape 2"/>
          <p:cNvSpPr/>
          <p:nvPr/>
        </p:nvSpPr>
        <p:spPr>
          <a:xfrm>
            <a:off x="914400" y="6096305"/>
            <a:ext cx="8096098" cy="2667305"/>
          </a:xfrm>
          <a:prstGeom prst="roundRect">
            <a:avLst>
              <a:gd name="adj" fmla="val 1440"/>
            </a:avLst>
          </a:prstGeom>
          <a:solidFill>
            <a:srgbClr val="1B1F25"/>
          </a:solidFill>
          <a:ln w="12700">
            <a:solidFill>
              <a:srgbClr val="FFFFFF">
                <a:alpha val="0"/>
              </a:srgbClr>
            </a:solidFill>
            <a:prstDash val="solid"/>
          </a:ln>
        </p:spPr>
      </p:sp>
      <p:sp>
        <p:nvSpPr>
          <p:cNvPr id="6" name="Shape 3"/>
          <p:cNvSpPr/>
          <p:nvPr/>
        </p:nvSpPr>
        <p:spPr>
          <a:xfrm>
            <a:off x="9277502" y="6096305"/>
            <a:ext cx="8096098" cy="2667305"/>
          </a:xfrm>
          <a:prstGeom prst="roundRect">
            <a:avLst>
              <a:gd name="adj" fmla="val 1440"/>
            </a:avLst>
          </a:prstGeom>
          <a:solidFill>
            <a:srgbClr val="E5DBC4"/>
          </a:solidFill>
          <a:ln w="12700">
            <a:solidFill>
              <a:srgbClr val="FFFFFF">
                <a:alpha val="0"/>
              </a:srgbClr>
            </a:solidFill>
            <a:prstDash val="solid"/>
          </a:ln>
        </p:spPr>
      </p:sp>
      <p:pic>
        <p:nvPicPr>
          <p:cNvPr id="7" name="Image 0" descr="gen-dedup-b4a923c0d924d168dbc427d15033072e.png">    </p:cNvPr>
          <p:cNvPicPr>
            <a:picLocks noChangeAspect="1"/>
          </p:cNvPicPr>
          <p:nvPr/>
        </p:nvPicPr>
        <p:blipFill>
          <a:blip r:embed="rId1"/>
          <a:srcRect l="0" r="0" t="-401" b="-401"/>
          <a:stretch/>
        </p:blipFill>
        <p:spPr>
          <a:xfrm>
            <a:off x="914400" y="3238805"/>
            <a:ext cx="8096098" cy="57607"/>
          </a:xfrm>
          <a:prstGeom prst="rect">
            <a:avLst/>
          </a:prstGeom>
        </p:spPr>
      </p:pic>
      <p:pic>
        <p:nvPicPr>
          <p:cNvPr id="8" name="Image 1" descr="gen-dedup-b4a923c0d924d168dbc427d15033072e.png">    </p:cNvPr>
          <p:cNvPicPr>
            <a:picLocks noChangeAspect="1"/>
          </p:cNvPicPr>
          <p:nvPr/>
        </p:nvPicPr>
        <p:blipFill>
          <a:blip r:embed="rId2"/>
          <a:srcRect l="0" r="0" t="-401" b="-401"/>
          <a:stretch/>
        </p:blipFill>
        <p:spPr>
          <a:xfrm>
            <a:off x="9277502" y="3238805"/>
            <a:ext cx="8096098" cy="57607"/>
          </a:xfrm>
          <a:prstGeom prst="rect">
            <a:avLst/>
          </a:prstGeom>
        </p:spPr>
      </p:pic>
      <p:pic>
        <p:nvPicPr>
          <p:cNvPr id="9" name="Image 2" descr="gen-dedup-e79f1b2628d7b72f899c930aeec3b5f9.png">    </p:cNvPr>
          <p:cNvPicPr>
            <a:picLocks noChangeAspect="1"/>
          </p:cNvPicPr>
          <p:nvPr/>
        </p:nvPicPr>
        <p:blipFill>
          <a:blip r:embed="rId3"/>
          <a:srcRect l="0" r="0" t="-401" b="-401"/>
          <a:stretch/>
        </p:blipFill>
        <p:spPr>
          <a:xfrm>
            <a:off x="914400" y="6096305"/>
            <a:ext cx="8096098" cy="57607"/>
          </a:xfrm>
          <a:prstGeom prst="rect">
            <a:avLst/>
          </a:prstGeom>
        </p:spPr>
      </p:pic>
      <p:pic>
        <p:nvPicPr>
          <p:cNvPr id="10" name="Image 3" descr="gen-dedup-b4a923c0d924d168dbc427d15033072e.png">    </p:cNvPr>
          <p:cNvPicPr>
            <a:picLocks noChangeAspect="1"/>
          </p:cNvPicPr>
          <p:nvPr/>
        </p:nvPicPr>
        <p:blipFill>
          <a:blip r:embed="rId4"/>
          <a:srcRect l="0" r="0" t="-401" b="-401"/>
          <a:stretch/>
        </p:blipFill>
        <p:spPr>
          <a:xfrm>
            <a:off x="9277502" y="6096305"/>
            <a:ext cx="8096098" cy="57607"/>
          </a:xfrm>
          <a:prstGeom prst="rect">
            <a:avLst/>
          </a:prstGeom>
        </p:spPr>
      </p:pic>
      <p:sp>
        <p:nvSpPr>
          <p:cNvPr id="11" name="Text 4"/>
          <p:cNvSpPr txBox="1"/>
          <p:nvPr/>
        </p:nvSpPr>
        <p:spPr>
          <a:xfrm>
            <a:off x="1218895" y="3504895"/>
            <a:ext cx="7525512" cy="171907"/>
          </a:xfrm>
          <a:prstGeom prst="rect">
            <a:avLst/>
          </a:prstGeom>
          <a:noFill/>
          <a:ln/>
        </p:spPr>
        <p:txBody>
          <a:bodyPr wrap="none" lIns="0" tIns="0" rIns="0" bIns="0" rtlCol="0" anchor="ctr"/>
          <a:lstStyle/>
          <a:p>
            <a:pPr algn="l" indent="0" marL="0">
              <a:buNone/>
            </a:pPr>
            <a:r>
              <a:rPr lang="en-US" sz="1050" spc="189" kern="0" dirty="0">
                <a:solidFill>
                  <a:srgbClr val="2D5D5A"/>
                </a:solidFill>
                <a:latin typeface="JetBrains Mono" pitchFamily="34" charset="0"/>
                <a:ea typeface="JetBrains Mono" pitchFamily="34" charset="-122"/>
                <a:cs typeface="JetBrains Mono" pitchFamily="34" charset="-120"/>
              </a:rPr>
              <a:t>STEP 01 · OBTAIN</a:t>
            </a:r>
            <a:endParaRPr lang="en-US" sz="1050" dirty="0"/>
          </a:p>
        </p:txBody>
      </p:sp>
      <p:sp>
        <p:nvSpPr>
          <p:cNvPr id="12" name="Text 5"/>
          <p:cNvSpPr txBox="1"/>
          <p:nvPr/>
        </p:nvSpPr>
        <p:spPr>
          <a:xfrm>
            <a:off x="1218895" y="3752698"/>
            <a:ext cx="7525512" cy="495605"/>
          </a:xfrm>
          <a:prstGeom prst="rect">
            <a:avLst/>
          </a:prstGeom>
          <a:noFill/>
          <a:ln/>
        </p:spPr>
        <p:txBody>
          <a:bodyPr wrap="none" lIns="0" tIns="0" rIns="0" bIns="0" rtlCol="0" anchor="ctr"/>
          <a:lstStyle/>
          <a:p>
            <a:pPr algn="l" indent="0" marL="0">
              <a:buNone/>
            </a:pPr>
            <a:r>
              <a:rPr lang="en-US" sz="2700" b="1" dirty="0">
                <a:solidFill>
                  <a:srgbClr val="211C13"/>
                </a:solidFill>
                <a:latin typeface="Zen Kaku Gothic Antique" pitchFamily="34" charset="0"/>
                <a:ea typeface="Zen Kaku Gothic Antique" pitchFamily="34" charset="-122"/>
                <a:cs typeface="Zen Kaku Gothic Antique" pitchFamily="34" charset="-120"/>
              </a:rPr>
              <a:t>自分のプロフィールを取得</a:t>
            </a:r>
            <a:endParaRPr lang="en-US" sz="2700" dirty="0"/>
          </a:p>
        </p:txBody>
      </p:sp>
      <p:sp>
        <p:nvSpPr>
          <p:cNvPr id="13" name="Text 6"/>
          <p:cNvSpPr txBox="1"/>
          <p:nvPr/>
        </p:nvSpPr>
        <p:spPr>
          <a:xfrm>
            <a:off x="1218895" y="4345229"/>
            <a:ext cx="7525512" cy="694030"/>
          </a:xfrm>
          <a:prstGeom prst="rect">
            <a:avLst/>
          </a:prstGeom>
          <a:noFill/>
          <a:ln/>
        </p:spPr>
        <p:txBody>
          <a:bodyPr wrap="square" lIns="0" tIns="0" rIns="0" bIns="0" rtlCol="0" anchor="t"/>
          <a:lstStyle/>
          <a:p>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教材用アカウントでログイン → マイページを開く。</a:t>
            </a:r>
            <a:pPr algn="l" indent="0" marL="0">
              <a:lnSpc>
                <a:spcPts val="2558"/>
              </a:lnSpc>
              <a:buNone/>
            </a:pPr>
            <a:endParaRPr lang="en-US" sz="1650" dirty="0"/>
          </a:p>
          <a:p>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DevTools の Network で、プロフィール取得リクエストを観察。</a:t>
            </a:r>
            <a:endParaRPr lang="en-US" sz="1650" dirty="0"/>
          </a:p>
        </p:txBody>
      </p:sp>
      <p:sp>
        <p:nvSpPr>
          <p:cNvPr id="14" name="Text 7"/>
          <p:cNvSpPr txBox="1"/>
          <p:nvPr/>
        </p:nvSpPr>
        <p:spPr>
          <a:xfrm>
            <a:off x="9581998" y="3504895"/>
            <a:ext cx="7525512" cy="171907"/>
          </a:xfrm>
          <a:prstGeom prst="rect">
            <a:avLst/>
          </a:prstGeom>
          <a:noFill/>
          <a:ln/>
        </p:spPr>
        <p:txBody>
          <a:bodyPr wrap="none" lIns="0" tIns="0" rIns="0" bIns="0" rtlCol="0" anchor="ctr"/>
          <a:lstStyle/>
          <a:p>
            <a:pPr algn="l" indent="0" marL="0">
              <a:buNone/>
            </a:pPr>
            <a:r>
              <a:rPr lang="en-US" sz="1050" spc="189" kern="0" dirty="0">
                <a:solidFill>
                  <a:srgbClr val="2D5D5A"/>
                </a:solidFill>
                <a:latin typeface="JetBrains Mono" pitchFamily="34" charset="0"/>
                <a:ea typeface="JetBrains Mono" pitchFamily="34" charset="-122"/>
                <a:cs typeface="JetBrains Mono" pitchFamily="34" charset="-120"/>
              </a:rPr>
              <a:t>STEP 02 · LOCATE ID</a:t>
            </a:r>
            <a:endParaRPr lang="en-US" sz="1050" dirty="0"/>
          </a:p>
        </p:txBody>
      </p:sp>
      <p:sp>
        <p:nvSpPr>
          <p:cNvPr id="15" name="Text 8"/>
          <p:cNvSpPr txBox="1"/>
          <p:nvPr/>
        </p:nvSpPr>
        <p:spPr>
          <a:xfrm>
            <a:off x="9581998" y="3752698"/>
            <a:ext cx="7525512" cy="495605"/>
          </a:xfrm>
          <a:prstGeom prst="rect">
            <a:avLst/>
          </a:prstGeom>
          <a:noFill/>
          <a:ln/>
        </p:spPr>
        <p:txBody>
          <a:bodyPr wrap="none" lIns="0" tIns="0" rIns="0" bIns="0" rtlCol="0" anchor="ctr"/>
          <a:lstStyle/>
          <a:p>
            <a:pPr algn="l" indent="0" marL="0">
              <a:buNone/>
            </a:pPr>
            <a:r>
              <a:rPr lang="en-US" sz="2700" b="1" dirty="0">
                <a:solidFill>
                  <a:srgbClr val="211C13"/>
                </a:solidFill>
                <a:latin typeface="Zen Kaku Gothic Antique" pitchFamily="34" charset="0"/>
                <a:ea typeface="Zen Kaku Gothic Antique" pitchFamily="34" charset="-122"/>
                <a:cs typeface="Zen Kaku Gothic Antique" pitchFamily="34" charset="-120"/>
              </a:rPr>
              <a:t>ID のありかを 1 箇所特定</a:t>
            </a:r>
            <a:endParaRPr lang="en-US" sz="2700" dirty="0"/>
          </a:p>
        </p:txBody>
      </p:sp>
      <p:sp>
        <p:nvSpPr>
          <p:cNvPr id="16" name="Text 9"/>
          <p:cNvSpPr txBox="1"/>
          <p:nvPr/>
        </p:nvSpPr>
        <p:spPr>
          <a:xfrm>
            <a:off x="9581998" y="4345229"/>
            <a:ext cx="7525512" cy="694030"/>
          </a:xfrm>
          <a:prstGeom prst="rect">
            <a:avLst/>
          </a:prstGeom>
          <a:noFill/>
          <a:ln/>
        </p:spPr>
        <p:txBody>
          <a:bodyPr wrap="square" lIns="0" tIns="0" rIns="0" bIns="0" rtlCol="0" anchor="t"/>
          <a:lstStyle/>
          <a:p>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URL のクエリにあるか、リクエストボディか、レスポンスのフィールドか。</a:t>
            </a:r>
            <a:pPr algn="l" indent="0" marL="0">
              <a:lnSpc>
                <a:spcPts val="2558"/>
              </a:lnSpc>
              <a:buNone/>
            </a:pPr>
            <a:endParaRPr lang="en-US" sz="1650" dirty="0"/>
          </a:p>
          <a:p>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1箇所に絞れたらメモ。</a:t>
            </a:r>
            <a:endParaRPr lang="en-US" sz="1650" dirty="0"/>
          </a:p>
        </p:txBody>
      </p:sp>
      <p:sp>
        <p:nvSpPr>
          <p:cNvPr id="17" name="Text 10"/>
          <p:cNvSpPr txBox="1"/>
          <p:nvPr/>
        </p:nvSpPr>
        <p:spPr>
          <a:xfrm>
            <a:off x="1218895" y="6362395"/>
            <a:ext cx="7525512" cy="171907"/>
          </a:xfrm>
          <a:prstGeom prst="rect">
            <a:avLst/>
          </a:prstGeom>
          <a:noFill/>
          <a:ln/>
        </p:spPr>
        <p:txBody>
          <a:bodyPr wrap="none" lIns="0" tIns="0" rIns="0" bIns="0" rtlCol="0" anchor="ctr"/>
          <a:lstStyle/>
          <a:p>
            <a:pPr algn="l" indent="0" marL="0">
              <a:buNone/>
            </a:pPr>
            <a:r>
              <a:rPr lang="en-US" sz="1050" spc="189" kern="0" dirty="0">
                <a:solidFill>
                  <a:srgbClr val="D4922A"/>
                </a:solidFill>
                <a:latin typeface="JetBrains Mono" pitchFamily="34" charset="0"/>
                <a:ea typeface="JetBrains Mono" pitchFamily="34" charset="-122"/>
                <a:cs typeface="JetBrains Mono" pitchFamily="34" charset="-120"/>
              </a:rPr>
              <a:t>STEP 03 · CHANGE ID</a:t>
            </a:r>
            <a:endParaRPr lang="en-US" sz="1050" dirty="0"/>
          </a:p>
        </p:txBody>
      </p:sp>
      <p:sp>
        <p:nvSpPr>
          <p:cNvPr id="18" name="Text 11"/>
          <p:cNvSpPr txBox="1"/>
          <p:nvPr/>
        </p:nvSpPr>
        <p:spPr>
          <a:xfrm>
            <a:off x="1218895" y="6610198"/>
            <a:ext cx="8256118" cy="495605"/>
          </a:xfrm>
          <a:prstGeom prst="rect">
            <a:avLst/>
          </a:prstGeom>
          <a:noFill/>
          <a:ln/>
        </p:spPr>
        <p:txBody>
          <a:bodyPr wrap="none" lIns="0" tIns="0" rIns="0" bIns="0" rtlCol="0" anchor="ctr"/>
          <a:lstStyle/>
          <a:p>
            <a:pPr algn="l" indent="0" marL="0">
              <a:buNone/>
            </a:pPr>
            <a:r>
              <a:rPr lang="en-US" sz="2700" b="1" dirty="0">
                <a:solidFill>
                  <a:srgbClr val="F5EFDD"/>
                </a:solidFill>
                <a:latin typeface="Zen Kaku Gothic Antique" pitchFamily="34" charset="0"/>
                <a:ea typeface="Zen Kaku Gothic Antique" pitchFamily="34" charset="-122"/>
                <a:cs typeface="Zen Kaku Gothic Antique" pitchFamily="34" charset="-120"/>
              </a:rPr>
              <a:t>架空ライバルの ID に差し替えて 1 回要求</a:t>
            </a:r>
            <a:endParaRPr lang="en-US" sz="2700" dirty="0"/>
          </a:p>
        </p:txBody>
      </p:sp>
      <p:sp>
        <p:nvSpPr>
          <p:cNvPr id="19" name="Text 12"/>
          <p:cNvSpPr txBox="1"/>
          <p:nvPr/>
        </p:nvSpPr>
        <p:spPr>
          <a:xfrm>
            <a:off x="1218895" y="7202729"/>
            <a:ext cx="7525512" cy="694030"/>
          </a:xfrm>
          <a:prstGeom prst="rect">
            <a:avLst/>
          </a:prstGeom>
          <a:noFill/>
          <a:ln/>
        </p:spPr>
        <p:txBody>
          <a:bodyPr wrap="square" lIns="0" tIns="0" rIns="0" bIns="0" rtlCol="0" anchor="t"/>
          <a:lstStyle/>
          <a:p>
            <a:pPr algn="l" indent="0" marL="0">
              <a:lnSpc>
                <a:spcPts val="2558"/>
              </a:lnSpc>
              <a:buNone/>
            </a:pPr>
            <a:r>
              <a:rPr lang="en-US" sz="1650" dirty="0">
                <a:solidFill>
                  <a:srgbClr val="ECE4D2"/>
                </a:solidFill>
                <a:latin typeface="Noto Sans JP" pitchFamily="34" charset="0"/>
                <a:ea typeface="Noto Sans JP" pitchFamily="34" charset="-122"/>
                <a:cs typeface="Noto Sans JP" pitchFamily="34" charset="-120"/>
              </a:rPr>
              <a:t>別タブでライバルを表示し、その ID を確認。</a:t>
            </a:r>
            <a:pPr algn="l" indent="0" marL="0">
              <a:lnSpc>
                <a:spcPts val="2558"/>
              </a:lnSpc>
              <a:buNone/>
            </a:pPr>
            <a:endParaRPr lang="en-US" sz="1650" dirty="0"/>
          </a:p>
          <a:p>
            <a:pPr algn="l" indent="0" marL="0">
              <a:lnSpc>
                <a:spcPts val="2558"/>
              </a:lnSpc>
              <a:buNone/>
            </a:pPr>
            <a:r>
              <a:rPr lang="en-US" sz="1650" dirty="0">
                <a:solidFill>
                  <a:srgbClr val="ECE4D2"/>
                </a:solidFill>
                <a:latin typeface="Noto Sans JP" pitchFamily="34" charset="0"/>
                <a:ea typeface="Noto Sans JP" pitchFamily="34" charset="-122"/>
                <a:cs typeface="Noto Sans JP" pitchFamily="34" charset="-120"/>
              </a:rPr>
              <a:t>自分の認証トークンのまま、リクエストの ID だけ差し替える。</a:t>
            </a:r>
            <a:endParaRPr lang="en-US" sz="1650" dirty="0"/>
          </a:p>
        </p:txBody>
      </p:sp>
      <p:sp>
        <p:nvSpPr>
          <p:cNvPr id="20" name="Text 13"/>
          <p:cNvSpPr txBox="1"/>
          <p:nvPr/>
        </p:nvSpPr>
        <p:spPr>
          <a:xfrm>
            <a:off x="9581998" y="6362395"/>
            <a:ext cx="7525512" cy="171907"/>
          </a:xfrm>
          <a:prstGeom prst="rect">
            <a:avLst/>
          </a:prstGeom>
          <a:noFill/>
          <a:ln/>
        </p:spPr>
        <p:txBody>
          <a:bodyPr wrap="none" lIns="0" tIns="0" rIns="0" bIns="0" rtlCol="0" anchor="ctr"/>
          <a:lstStyle/>
          <a:p>
            <a:pPr algn="l" indent="0" marL="0">
              <a:buNone/>
            </a:pPr>
            <a:r>
              <a:rPr lang="en-US" sz="1050" spc="189" kern="0" dirty="0">
                <a:solidFill>
                  <a:srgbClr val="2D5D5A"/>
                </a:solidFill>
                <a:latin typeface="JetBrains Mono" pitchFamily="34" charset="0"/>
                <a:ea typeface="JetBrains Mono" pitchFamily="34" charset="-122"/>
                <a:cs typeface="JetBrains Mono" pitchFamily="34" charset="-120"/>
              </a:rPr>
              <a:t>STEP 04 · OBSERVE</a:t>
            </a:r>
            <a:endParaRPr lang="en-US" sz="1050" dirty="0"/>
          </a:p>
        </p:txBody>
      </p:sp>
      <p:sp>
        <p:nvSpPr>
          <p:cNvPr id="21" name="Text 14"/>
          <p:cNvSpPr txBox="1"/>
          <p:nvPr/>
        </p:nvSpPr>
        <p:spPr>
          <a:xfrm>
            <a:off x="9581998" y="6610198"/>
            <a:ext cx="7525512" cy="495605"/>
          </a:xfrm>
          <a:prstGeom prst="rect">
            <a:avLst/>
          </a:prstGeom>
          <a:noFill/>
          <a:ln/>
        </p:spPr>
        <p:txBody>
          <a:bodyPr wrap="none" lIns="0" tIns="0" rIns="0" bIns="0" rtlCol="0" anchor="ctr"/>
          <a:lstStyle/>
          <a:p>
            <a:pPr algn="l" indent="0" marL="0">
              <a:buNone/>
            </a:pPr>
            <a:r>
              <a:rPr lang="en-US" sz="2700" b="1" dirty="0">
                <a:solidFill>
                  <a:srgbClr val="211C13"/>
                </a:solidFill>
                <a:latin typeface="Zen Kaku Gothic Antique" pitchFamily="34" charset="0"/>
                <a:ea typeface="Zen Kaku Gothic Antique" pitchFamily="34" charset="-122"/>
                <a:cs typeface="Zen Kaku Gothic Antique" pitchFamily="34" charset="-120"/>
              </a:rPr>
              <a:t>レスポンスで何が見えるか</a:t>
            </a:r>
            <a:endParaRPr lang="en-US" sz="2700" dirty="0"/>
          </a:p>
        </p:txBody>
      </p:sp>
      <p:sp>
        <p:nvSpPr>
          <p:cNvPr id="22" name="Text 15"/>
          <p:cNvSpPr txBox="1"/>
          <p:nvPr/>
        </p:nvSpPr>
        <p:spPr>
          <a:xfrm>
            <a:off x="9581998" y="7202729"/>
            <a:ext cx="7525512" cy="694030"/>
          </a:xfrm>
          <a:prstGeom prst="rect">
            <a:avLst/>
          </a:prstGeom>
          <a:noFill/>
          <a:ln/>
        </p:spPr>
        <p:txBody>
          <a:bodyPr wrap="square" lIns="0" tIns="0" rIns="0" bIns="0" rtlCol="0" anchor="t"/>
          <a:lstStyle/>
          <a:p>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公開プロフィールだけなら安全側の挙動。</a:t>
            </a:r>
            <a:pPr algn="l" indent="0" marL="0">
              <a:lnSpc>
                <a:spcPts val="2558"/>
              </a:lnSpc>
              <a:buNone/>
            </a:pPr>
            <a:endParaRPr lang="en-US" sz="1650" dirty="0"/>
          </a:p>
          <a:p>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非公開メモや自分の環境にだけ表示される情報が漏れていれば成功。</a:t>
            </a:r>
            <a:endParaRPr lang="en-US" sz="1650" dirty="0"/>
          </a:p>
        </p:txBody>
      </p:sp>
      <p:pic>
        <p:nvPicPr>
          <p:cNvPr id="23" name="Image 4" descr="gen-dedup-ff3b843c62efd2578b331bdfc9bb7c8f.png">    </p:cNvPr>
          <p:cNvPicPr>
            <a:picLocks noChangeAspect="1"/>
          </p:cNvPicPr>
          <p:nvPr/>
        </p:nvPicPr>
        <p:blipFill>
          <a:blip r:embed="rId5"/>
          <a:srcRect l="-2083" r="-2083" t="0" b="0"/>
          <a:stretch/>
        </p:blipFill>
        <p:spPr>
          <a:xfrm>
            <a:off x="914400" y="9334195"/>
            <a:ext cx="16459200" cy="9144"/>
          </a:xfrm>
          <a:prstGeom prst="rect">
            <a:avLst/>
          </a:prstGeom>
        </p:spPr>
      </p:pic>
      <p:sp>
        <p:nvSpPr>
          <p:cNvPr id="24" name="Shape 16"/>
          <p:cNvSpPr/>
          <p:nvPr/>
        </p:nvSpPr>
        <p:spPr>
          <a:xfrm>
            <a:off x="914400" y="609905"/>
            <a:ext cx="1904695" cy="381305"/>
          </a:xfrm>
          <a:prstGeom prst="roundRect">
            <a:avLst>
              <a:gd name="adj" fmla="val 49880"/>
            </a:avLst>
          </a:prstGeom>
          <a:solidFill>
            <a:srgbClr val="211C13"/>
          </a:solidFill>
          <a:ln w="12700">
            <a:solidFill>
              <a:srgbClr val="FFFFFF">
                <a:alpha val="0"/>
              </a:srgbClr>
            </a:solidFill>
            <a:prstDash val="solid"/>
          </a:ln>
        </p:spPr>
      </p:sp>
      <p:sp>
        <p:nvSpPr>
          <p:cNvPr id="25" name="Text 17"/>
          <p:cNvSpPr txBox="1"/>
          <p:nvPr/>
        </p:nvSpPr>
        <p:spPr>
          <a:xfrm>
            <a:off x="914400" y="1238098"/>
            <a:ext cx="16459200" cy="219456"/>
          </a:xfrm>
          <a:prstGeom prst="rect">
            <a:avLst/>
          </a:prstGeom>
          <a:noFill/>
          <a:ln/>
        </p:spPr>
        <p:txBody>
          <a:bodyPr wrap="none" lIns="0" tIns="0" rIns="0" bIns="0" rtlCol="0" anchor="ctr"/>
          <a:lstStyle/>
          <a:p>
            <a:pPr algn="l" indent="0" marL="0">
              <a:buNone/>
            </a:pPr>
            <a:r>
              <a:rPr lang="en-US" sz="1350" spc="324" kern="0" dirty="0">
                <a:solidFill>
                  <a:srgbClr val="2D5D5A"/>
                </a:solidFill>
                <a:latin typeface="JetBrains Mono" pitchFamily="34" charset="0"/>
                <a:ea typeface="JetBrains Mono" pitchFamily="34" charset="-122"/>
                <a:cs typeface="JetBrains Mono" pitchFamily="34" charset="-120"/>
              </a:rPr>
              <a:t>25 · Live demo script</a:t>
            </a:r>
            <a:endParaRPr lang="en-US" sz="1350" dirty="0"/>
          </a:p>
        </p:txBody>
      </p:sp>
      <p:sp>
        <p:nvSpPr>
          <p:cNvPr id="26" name="Text 18"/>
          <p:cNvSpPr txBox="1"/>
          <p:nvPr/>
        </p:nvSpPr>
        <p:spPr>
          <a:xfrm>
            <a:off x="914400" y="1533449"/>
            <a:ext cx="16459200" cy="800100"/>
          </a:xfrm>
          <a:prstGeom prst="rect">
            <a:avLst/>
          </a:prstGeom>
          <a:noFill/>
          <a:ln/>
        </p:spPr>
        <p:txBody>
          <a:bodyPr wrap="none" lIns="0" tIns="0" rIns="0" bIns="0" rtlCol="0" anchor="ctr"/>
          <a:lstStyle/>
          <a:p>
            <a:pPr algn="l" indent="0" marL="0">
              <a:buNone/>
            </a:pPr>
            <a:r>
              <a:rPr lang="en-US" sz="6000" b="1" spc="-120" kern="0" dirty="0">
                <a:solidFill>
                  <a:srgbClr val="211C13"/>
                </a:solidFill>
                <a:latin typeface="Zen Kaku Gothic Antique" pitchFamily="34" charset="0"/>
                <a:ea typeface="Zen Kaku Gothic Antique" pitchFamily="34" charset="-122"/>
                <a:cs typeface="Zen Kaku Gothic Antique" pitchFamily="34" charset="-120"/>
              </a:rPr>
              <a:t>進行手順 — 4つの場面</a:t>
            </a:r>
            <a:endParaRPr lang="en-US" sz="6000" dirty="0"/>
          </a:p>
        </p:txBody>
      </p:sp>
      <p:sp>
        <p:nvSpPr>
          <p:cNvPr id="27" name="Text 19"/>
          <p:cNvSpPr txBox="1"/>
          <p:nvPr/>
        </p:nvSpPr>
        <p:spPr>
          <a:xfrm>
            <a:off x="914400" y="2467051"/>
            <a:ext cx="16459200" cy="314554"/>
          </a:xfrm>
          <a:prstGeom prst="rect">
            <a:avLst/>
          </a:prstGeom>
          <a:noFill/>
          <a:ln/>
        </p:spPr>
        <p:txBody>
          <a:bodyPr wrap="none" lIns="0" tIns="0" rIns="0" bIns="0" rtlCol="0" anchor="ctr"/>
          <a:lstStyle/>
          <a:p>
            <a:pPr algn="l" indent="0" marL="0">
              <a:buNone/>
            </a:pPr>
            <a:r>
              <a:rPr lang="en-US" sz="1650" dirty="0">
                <a:solidFill>
                  <a:srgbClr val="5A4F3F"/>
                </a:solidFill>
                <a:latin typeface="Noto Sans JP" pitchFamily="34" charset="0"/>
                <a:ea typeface="Noto Sans JP" pitchFamily="34" charset="-122"/>
                <a:cs typeface="Noto Sans JP" pitchFamily="34" charset="-120"/>
              </a:rPr>
              <a:t>講師が前で操作し、参加者が観察する形が基本。各場面で DevTools を参加者側でも見えるよう投影します。</a:t>
            </a:r>
            <a:endParaRPr lang="en-US" sz="1650" dirty="0"/>
          </a:p>
        </p:txBody>
      </p:sp>
      <p:sp>
        <p:nvSpPr>
          <p:cNvPr id="28" name="Text 20"/>
          <p:cNvSpPr txBox="1"/>
          <p:nvPr/>
        </p:nvSpPr>
        <p:spPr>
          <a:xfrm>
            <a:off x="914400" y="9562795"/>
            <a:ext cx="12382805" cy="228600"/>
          </a:xfrm>
          <a:prstGeom prst="rect">
            <a:avLst/>
          </a:prstGeom>
          <a:noFill/>
          <a:ln/>
        </p:spPr>
        <p:txBody>
          <a:bodyPr wrap="none" lIns="0" tIns="0" rIns="0" bIns="0" rtlCol="0" anchor="ctr"/>
          <a:lstStyle/>
          <a:p>
            <a:pPr algn="l" indent="0" marL="0">
              <a:buNone/>
            </a:pPr>
            <a:r>
              <a:rPr lang="en-US" sz="1200" spc="72" kern="0" dirty="0">
                <a:solidFill>
                  <a:srgbClr val="5A4F3F"/>
                </a:solidFill>
                <a:latin typeface="JetBrains Mono" pitchFamily="34" charset="0"/>
                <a:ea typeface="JetBrains Mono" pitchFamily="34" charset="-122"/>
                <a:cs typeface="JetBrains Mono" pitchFamily="34" charset="-120"/>
              </a:rPr>
              <a:t>進行 — 参加者には観察とメモを許す、操作は講師のみ。全体に大きく写して進めます</a:t>
            </a:r>
            <a:endParaRPr lang="en-US" sz="1200" dirty="0"/>
          </a:p>
        </p:txBody>
      </p:sp>
      <p:sp>
        <p:nvSpPr>
          <p:cNvPr id="29" name="Text 21"/>
          <p:cNvSpPr txBox="1"/>
          <p:nvPr/>
        </p:nvSpPr>
        <p:spPr>
          <a:xfrm>
            <a:off x="15468905" y="9562795"/>
            <a:ext cx="1905610" cy="200254"/>
          </a:xfrm>
          <a:prstGeom prst="rect">
            <a:avLst/>
          </a:prstGeom>
          <a:noFill/>
          <a:ln/>
        </p:spPr>
        <p:txBody>
          <a:bodyPr wrap="none" lIns="0" tIns="0" rIns="0" bIns="0" rtlCol="0" anchor="ctr"/>
          <a:lstStyle/>
          <a:p>
            <a:pPr algn="r" indent="0" marL="0">
              <a:buNone/>
            </a:pPr>
            <a:r>
              <a:rPr lang="en-US" sz="1200" spc="72" kern="0" dirty="0">
                <a:solidFill>
                  <a:srgbClr val="5A4F3F"/>
                </a:solidFill>
                <a:latin typeface="JetBrains Mono" pitchFamily="34" charset="0"/>
                <a:ea typeface="JetBrains Mono" pitchFamily="34" charset="-122"/>
                <a:cs typeface="JetBrains Mono" pitchFamily="34" charset="-120"/>
              </a:rPr>
              <a:t>25 / 32</a:t>
            </a:r>
            <a:endParaRPr lang="en-US" sz="1200" dirty="0"/>
          </a:p>
        </p:txBody>
      </p:sp>
      <p:sp>
        <p:nvSpPr>
          <p:cNvPr id="30" name="Text 22"/>
          <p:cNvSpPr txBox="1"/>
          <p:nvPr/>
        </p:nvSpPr>
        <p:spPr>
          <a:xfrm>
            <a:off x="914400" y="609905"/>
            <a:ext cx="1905610" cy="381305"/>
          </a:xfrm>
          <a:prstGeom prst="rect">
            <a:avLst/>
          </a:prstGeom>
          <a:noFill/>
          <a:ln/>
        </p:spPr>
        <p:txBody>
          <a:bodyPr wrap="none" lIns="0" tIns="0" rIns="0" bIns="0" rtlCol="0" anchor="ctr"/>
          <a:lstStyle/>
          <a:p>
            <a:pPr algn="ctr" indent="0" marL="0">
              <a:buNone/>
            </a:pPr>
            <a:r>
              <a:rPr lang="en-US" sz="1050" spc="231" kern="0" dirty="0">
                <a:solidFill>
                  <a:srgbClr val="F5EFDD"/>
                </a:solidFill>
                <a:latin typeface="JetBrains Mono" pitchFamily="34" charset="0"/>
                <a:ea typeface="JetBrains Mono" pitchFamily="34" charset="-122"/>
                <a:cs typeface="JetBrains Mono" pitchFamily="34" charset="-120"/>
              </a:rPr>
              <a:t>INSTRUCTOR DEMO</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FE7D4"/>
        </a:solidFill>
      </p:bgPr>
    </p:bg>
    <p:spTree>
      <p:nvGrpSpPr>
        <p:cNvPr id="1" name=""/>
        <p:cNvGrpSpPr/>
        <p:nvPr/>
      </p:nvGrpSpPr>
      <p:grpSpPr>
        <a:xfrm>
          <a:off x="0" y="0"/>
          <a:ext cx="0" cy="0"/>
          <a:chOff x="0" y="0"/>
          <a:chExt cx="0" cy="0"/>
        </a:xfrm>
      </p:grpSpPr>
      <p:sp>
        <p:nvSpPr>
          <p:cNvPr id="3" name="Shape 0"/>
          <p:cNvSpPr/>
          <p:nvPr/>
        </p:nvSpPr>
        <p:spPr>
          <a:xfrm>
            <a:off x="914400" y="2667305"/>
            <a:ext cx="16459200" cy="1238098"/>
          </a:xfrm>
          <a:prstGeom prst="roundRect">
            <a:avLst>
              <a:gd name="adj" fmla="val 3102"/>
            </a:avLst>
          </a:prstGeom>
          <a:solidFill>
            <a:srgbClr val="E5DBC4"/>
          </a:solidFill>
          <a:ln w="12700">
            <a:solidFill>
              <a:srgbClr val="FFFFFF">
                <a:alpha val="0"/>
              </a:srgbClr>
            </a:solidFill>
            <a:prstDash val="solid"/>
          </a:ln>
        </p:spPr>
      </p:sp>
      <p:sp>
        <p:nvSpPr>
          <p:cNvPr id="4" name="Shape 1"/>
          <p:cNvSpPr/>
          <p:nvPr/>
        </p:nvSpPr>
        <p:spPr>
          <a:xfrm>
            <a:off x="914400" y="4190695"/>
            <a:ext cx="8096098" cy="4762195"/>
          </a:xfrm>
          <a:prstGeom prst="roundRect">
            <a:avLst>
              <a:gd name="adj" fmla="val 806"/>
            </a:avLst>
          </a:prstGeom>
          <a:solidFill>
            <a:srgbClr val="1B1F25"/>
          </a:solidFill>
          <a:ln w="12700">
            <a:solidFill>
              <a:srgbClr val="FFFFFF">
                <a:alpha val="0"/>
              </a:srgbClr>
            </a:solidFill>
            <a:prstDash val="solid"/>
          </a:ln>
        </p:spPr>
      </p:sp>
      <p:sp>
        <p:nvSpPr>
          <p:cNvPr id="5" name="Shape 2"/>
          <p:cNvSpPr/>
          <p:nvPr/>
        </p:nvSpPr>
        <p:spPr>
          <a:xfrm>
            <a:off x="9277502" y="4190695"/>
            <a:ext cx="8096098" cy="4762195"/>
          </a:xfrm>
          <a:prstGeom prst="roundRect">
            <a:avLst>
              <a:gd name="adj" fmla="val 806"/>
            </a:avLst>
          </a:prstGeom>
          <a:solidFill>
            <a:srgbClr val="1B1F25"/>
          </a:solidFill>
          <a:ln w="12700">
            <a:solidFill>
              <a:srgbClr val="FFFFFF">
                <a:alpha val="0"/>
              </a:srgbClr>
            </a:solidFill>
            <a:prstDash val="solid"/>
          </a:ln>
        </p:spPr>
      </p:sp>
      <p:pic>
        <p:nvPicPr>
          <p:cNvPr id="6" name="Image 0" descr="gen-dedup-b4a923c0d924d168dbc427d15033072e.png">    </p:cNvPr>
          <p:cNvPicPr>
            <a:picLocks noChangeAspect="1"/>
          </p:cNvPicPr>
          <p:nvPr/>
        </p:nvPicPr>
        <p:blipFill>
          <a:blip r:embed="rId1"/>
          <a:srcRect l="0" r="0" t="-401" b="-401"/>
          <a:stretch/>
        </p:blipFill>
        <p:spPr>
          <a:xfrm>
            <a:off x="914400" y="4190695"/>
            <a:ext cx="8096098" cy="57607"/>
          </a:xfrm>
          <a:prstGeom prst="rect">
            <a:avLst/>
          </a:prstGeom>
        </p:spPr>
      </p:pic>
      <p:pic>
        <p:nvPicPr>
          <p:cNvPr id="7" name="Image 1" descr="gen-dedup-8d0165431c89af9412ad4e21cbcb0d70.png">    </p:cNvPr>
          <p:cNvPicPr>
            <a:picLocks noChangeAspect="1"/>
          </p:cNvPicPr>
          <p:nvPr/>
        </p:nvPicPr>
        <p:blipFill>
          <a:blip r:embed="rId2"/>
          <a:srcRect l="0" r="0" t="-401" b="-401"/>
          <a:stretch/>
        </p:blipFill>
        <p:spPr>
          <a:xfrm>
            <a:off x="9277502" y="4190695"/>
            <a:ext cx="8096098" cy="57607"/>
          </a:xfrm>
          <a:prstGeom prst="rect">
            <a:avLst/>
          </a:prstGeom>
        </p:spPr>
      </p:pic>
      <p:sp>
        <p:nvSpPr>
          <p:cNvPr id="8" name="Text 3"/>
          <p:cNvSpPr txBox="1"/>
          <p:nvPr/>
        </p:nvSpPr>
        <p:spPr>
          <a:xfrm>
            <a:off x="1218895" y="2933395"/>
            <a:ext cx="15850210" cy="228600"/>
          </a:xfrm>
          <a:prstGeom prst="rect">
            <a:avLst/>
          </a:prstGeom>
          <a:noFill/>
          <a:ln/>
        </p:spPr>
        <p:txBody>
          <a:bodyPr wrap="none" lIns="0" tIns="0" rIns="0" bIns="0" rtlCol="0" anchor="ctr"/>
          <a:lstStyle/>
          <a:p>
            <a:pPr algn="l" indent="0" marL="0">
              <a:buNone/>
            </a:pPr>
            <a:r>
              <a:rPr lang="en-US" sz="1200" spc="216" kern="0" dirty="0">
                <a:solidFill>
                  <a:srgbClr val="2D5D5A"/>
                </a:solidFill>
                <a:latin typeface="JetBrains Mono" pitchFamily="34" charset="0"/>
                <a:ea typeface="JetBrains Mono" pitchFamily="34" charset="-122"/>
                <a:cs typeface="JetBrains Mono" pitchFamily="34" charset="-120"/>
              </a:rPr>
              <a:t>教材で確認した一例（環境差があれば読み替えてください）</a:t>
            </a:r>
            <a:endParaRPr lang="en-US" sz="1200" dirty="0"/>
          </a:p>
        </p:txBody>
      </p:sp>
      <p:sp>
        <p:nvSpPr>
          <p:cNvPr id="9" name="Text 4"/>
          <p:cNvSpPr txBox="1"/>
          <p:nvPr/>
        </p:nvSpPr>
        <p:spPr>
          <a:xfrm>
            <a:off x="1218895" y="3258922"/>
            <a:ext cx="15850210" cy="694030"/>
          </a:xfrm>
          <a:prstGeom prst="rect">
            <a:avLst/>
          </a:prstGeom>
          <a:noFill/>
          <a:ln/>
        </p:spPr>
        <p:txBody>
          <a:bodyPr wrap="square" lIns="0" tIns="0" rIns="0" bIns="0" rtlCol="0" anchor="t"/>
          <a:lstStyle/>
          <a:p>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プロフィール取得 API はパスパラメータの ID を素通し、認証ユーザーと保有者が一致しているかを確認していない。</a:t>
            </a:r>
            <a:pPr algn="l" indent="0" marL="0">
              <a:lnSpc>
                <a:spcPts val="2558"/>
              </a:lnSpc>
              <a:buNone/>
            </a:pPr>
            <a:endParaRPr lang="en-US" sz="1650" dirty="0"/>
          </a:p>
          <a:p>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結果、ID を別の架空ライバルに差し替えるだけで、自分のトークンで他人のプロフィールが返る。</a:t>
            </a:r>
            <a:endParaRPr lang="en-US" sz="1650" dirty="0"/>
          </a:p>
        </p:txBody>
      </p:sp>
      <p:sp>
        <p:nvSpPr>
          <p:cNvPr id="10" name="Text 5"/>
          <p:cNvSpPr txBox="1"/>
          <p:nvPr/>
        </p:nvSpPr>
        <p:spPr>
          <a:xfrm>
            <a:off x="1218895" y="4496105"/>
            <a:ext cx="7525512" cy="228600"/>
          </a:xfrm>
          <a:prstGeom prst="rect">
            <a:avLst/>
          </a:prstGeom>
          <a:noFill/>
          <a:ln/>
        </p:spPr>
        <p:txBody>
          <a:bodyPr wrap="none" lIns="0" tIns="0" rIns="0" bIns="0" rtlCol="0" anchor="ctr"/>
          <a:lstStyle/>
          <a:p>
            <a:pPr algn="l" indent="0" marL="0">
              <a:buNone/>
            </a:pPr>
            <a:r>
              <a:rPr lang="en-US" sz="1200" spc="216" kern="0" dirty="0">
                <a:solidFill>
                  <a:srgbClr val="2D5D5A"/>
                </a:solidFill>
                <a:latin typeface="JetBrains Mono" pitchFamily="34" charset="0"/>
                <a:ea typeface="JetBrains Mono" pitchFamily="34" charset="-122"/>
                <a:cs typeface="JetBrains Mono" pitchFamily="34" charset="-120"/>
              </a:rPr>
              <a:t>VULNERABLE · ID を信用</a:t>
            </a:r>
            <a:endParaRPr lang="en-US" sz="1200" dirty="0"/>
          </a:p>
        </p:txBody>
      </p:sp>
      <p:sp>
        <p:nvSpPr>
          <p:cNvPr id="11" name="Text 6"/>
          <p:cNvSpPr txBox="1"/>
          <p:nvPr/>
        </p:nvSpPr>
        <p:spPr>
          <a:xfrm>
            <a:off x="1218895" y="4953305"/>
            <a:ext cx="7525512" cy="829361"/>
          </a:xfrm>
          <a:prstGeom prst="rect">
            <a:avLst/>
          </a:prstGeom>
          <a:noFill/>
          <a:ln/>
        </p:spPr>
        <p:txBody>
          <a:bodyPr wrap="square" lIns="0" tIns="0" rIns="0" bIns="0" rtlCol="0" anchor="ctr"/>
          <a:lstStyle/>
          <a:p>
            <a:pPr algn="l" indent="0" marL="0">
              <a:lnSpc>
                <a:spcPts val="2160"/>
              </a:lnSpc>
              <a:buNone/>
            </a:pPr>
            <a:r>
              <a:rPr lang="en-US" sz="1350" dirty="0">
                <a:solidFill>
                  <a:srgbClr val="ECE4D2"/>
                </a:solidFill>
                <a:latin typeface="JetBrains Mono" pitchFamily="34" charset="0"/>
                <a:ea typeface="JetBrains Mono" pitchFamily="34" charset="-122"/>
                <a:cs typeface="JetBrains Mono" pitchFamily="34" charset="-120"/>
              </a:rPr>
              <a:t>app.get("/me/:id", requireAuth, async (req, res) =&gt; { const row = await db.from("profiles") .select("*") .eq("id", req.params.id) .single(); res.json(row); });</a:t>
            </a:r>
            <a:endParaRPr lang="en-US" sz="1350" dirty="0"/>
          </a:p>
        </p:txBody>
      </p:sp>
      <p:sp>
        <p:nvSpPr>
          <p:cNvPr id="12" name="Text 7"/>
          <p:cNvSpPr txBox="1"/>
          <p:nvPr/>
        </p:nvSpPr>
        <p:spPr>
          <a:xfrm>
            <a:off x="1218895" y="6004865"/>
            <a:ext cx="7525512" cy="267005"/>
          </a:xfrm>
          <a:prstGeom prst="rect">
            <a:avLst/>
          </a:prstGeom>
          <a:noFill/>
          <a:ln/>
        </p:spPr>
        <p:txBody>
          <a:bodyPr wrap="none" lIns="0" tIns="0" rIns="0" bIns="0" rtlCol="0" anchor="ctr"/>
          <a:lstStyle/>
          <a:p>
            <a:pPr algn="l" indent="0" marL="0">
              <a:buNone/>
            </a:pPr>
            <a:r>
              <a:rPr lang="en-US" sz="1350" dirty="0">
                <a:solidFill>
                  <a:srgbClr val="8A8170"/>
                </a:solidFill>
                <a:latin typeface="Noto Sans JP" pitchFamily="34" charset="0"/>
                <a:ea typeface="Noto Sans JP" pitchFamily="34" charset="-122"/>
                <a:cs typeface="Noto Sans JP" pitchFamily="34" charset="-120"/>
              </a:rPr>
              <a:t>認証は通っているが、要求された ID が本人のものかは検査していない。</a:t>
            </a:r>
            <a:endParaRPr lang="en-US" sz="1350" dirty="0"/>
          </a:p>
        </p:txBody>
      </p:sp>
      <p:sp>
        <p:nvSpPr>
          <p:cNvPr id="13" name="Text 8"/>
          <p:cNvSpPr txBox="1"/>
          <p:nvPr/>
        </p:nvSpPr>
        <p:spPr>
          <a:xfrm>
            <a:off x="9581998" y="4496105"/>
            <a:ext cx="7525512" cy="228600"/>
          </a:xfrm>
          <a:prstGeom prst="rect">
            <a:avLst/>
          </a:prstGeom>
          <a:noFill/>
          <a:ln/>
        </p:spPr>
        <p:txBody>
          <a:bodyPr wrap="none" lIns="0" tIns="0" rIns="0" bIns="0" rtlCol="0" anchor="ctr"/>
          <a:lstStyle/>
          <a:p>
            <a:pPr algn="l" indent="0" marL="0">
              <a:buNone/>
            </a:pPr>
            <a:r>
              <a:rPr lang="en-US" sz="1200" spc="216" kern="0" dirty="0">
                <a:solidFill>
                  <a:srgbClr val="5BAA85"/>
                </a:solidFill>
                <a:latin typeface="JetBrains Mono" pitchFamily="34" charset="0"/>
                <a:ea typeface="JetBrains Mono" pitchFamily="34" charset="-122"/>
                <a:cs typeface="JetBrains Mono" pitchFamily="34" charset="-120"/>
              </a:rPr>
              <a:t>FIXED · 所有者チェック</a:t>
            </a:r>
            <a:endParaRPr lang="en-US" sz="1200" dirty="0"/>
          </a:p>
        </p:txBody>
      </p:sp>
      <p:sp>
        <p:nvSpPr>
          <p:cNvPr id="14" name="Text 9"/>
          <p:cNvSpPr txBox="1"/>
          <p:nvPr/>
        </p:nvSpPr>
        <p:spPr>
          <a:xfrm>
            <a:off x="9581998" y="4953305"/>
            <a:ext cx="7525512" cy="1105510"/>
          </a:xfrm>
          <a:prstGeom prst="rect">
            <a:avLst/>
          </a:prstGeom>
          <a:noFill/>
          <a:ln/>
        </p:spPr>
        <p:txBody>
          <a:bodyPr wrap="square" lIns="0" tIns="0" rIns="0" bIns="0" rtlCol="0" anchor="ctr"/>
          <a:lstStyle/>
          <a:p>
            <a:pPr algn="l" indent="0" marL="0">
              <a:lnSpc>
                <a:spcPts val="2160"/>
              </a:lnSpc>
              <a:buNone/>
            </a:pPr>
            <a:r>
              <a:rPr lang="en-US" sz="1350" dirty="0">
                <a:solidFill>
                  <a:srgbClr val="ECE4D2"/>
                </a:solidFill>
                <a:latin typeface="JetBrains Mono" pitchFamily="34" charset="0"/>
                <a:ea typeface="JetBrains Mono" pitchFamily="34" charset="-122"/>
                <a:cs typeface="JetBrains Mono" pitchFamily="34" charset="-120"/>
              </a:rPr>
              <a:t>app.get("/me/:id", requireAuth, async (req, res) =&gt; { if (req.params.id !== req.user.id &amp;&amp; !req.user.is_admin) { return res.sendStatus(403); } const row = await db.from("profiles") .select("*") .eq("id", req.params.id) .single(); res.json(row); });</a:t>
            </a:r>
            <a:endParaRPr lang="en-US" sz="1350" dirty="0"/>
          </a:p>
        </p:txBody>
      </p:sp>
      <p:sp>
        <p:nvSpPr>
          <p:cNvPr id="15" name="Text 10"/>
          <p:cNvSpPr txBox="1"/>
          <p:nvPr/>
        </p:nvSpPr>
        <p:spPr>
          <a:xfrm>
            <a:off x="9581998" y="6279185"/>
            <a:ext cx="7525512" cy="267005"/>
          </a:xfrm>
          <a:prstGeom prst="rect">
            <a:avLst/>
          </a:prstGeom>
          <a:noFill/>
          <a:ln/>
        </p:spPr>
        <p:txBody>
          <a:bodyPr wrap="none" lIns="0" tIns="0" rIns="0" bIns="0" rtlCol="0" anchor="ctr"/>
          <a:lstStyle/>
          <a:p>
            <a:pPr algn="l" indent="0" marL="0">
              <a:buNone/>
            </a:pPr>
            <a:r>
              <a:rPr lang="en-US" sz="1350" dirty="0">
                <a:solidFill>
                  <a:srgbClr val="8A8170"/>
                </a:solidFill>
                <a:latin typeface="Noto Sans JP" pitchFamily="34" charset="0"/>
                <a:ea typeface="Noto Sans JP" pitchFamily="34" charset="-122"/>
                <a:cs typeface="Noto Sans JP" pitchFamily="34" charset="-120"/>
              </a:rPr>
              <a:t>サーバー側で突き合わせる。可能なら RLS で DB 側にも同じ境界を置く。</a:t>
            </a:r>
            <a:endParaRPr lang="en-US" sz="1350" dirty="0"/>
          </a:p>
        </p:txBody>
      </p:sp>
      <p:pic>
        <p:nvPicPr>
          <p:cNvPr id="16" name="Image 2" descr="gen-dedup-ff3b843c62efd2578b331bdfc9bb7c8f.png">    </p:cNvPr>
          <p:cNvPicPr>
            <a:picLocks noChangeAspect="1"/>
          </p:cNvPicPr>
          <p:nvPr/>
        </p:nvPicPr>
        <p:blipFill>
          <a:blip r:embed="rId3"/>
          <a:srcRect l="-2083" r="-2083" t="0" b="0"/>
          <a:stretch/>
        </p:blipFill>
        <p:spPr>
          <a:xfrm>
            <a:off x="914400" y="9334195"/>
            <a:ext cx="16459200" cy="9144"/>
          </a:xfrm>
          <a:prstGeom prst="rect">
            <a:avLst/>
          </a:prstGeom>
        </p:spPr>
      </p:pic>
      <p:sp>
        <p:nvSpPr>
          <p:cNvPr id="17" name="Shape 11"/>
          <p:cNvSpPr/>
          <p:nvPr/>
        </p:nvSpPr>
        <p:spPr>
          <a:xfrm>
            <a:off x="914400" y="609905"/>
            <a:ext cx="1619402" cy="381305"/>
          </a:xfrm>
          <a:prstGeom prst="roundRect">
            <a:avLst>
              <a:gd name="adj" fmla="val 49880"/>
            </a:avLst>
          </a:prstGeom>
          <a:solidFill>
            <a:srgbClr val="211C13"/>
          </a:solidFill>
          <a:ln w="12700">
            <a:solidFill>
              <a:srgbClr val="FFFFFF">
                <a:alpha val="0"/>
              </a:srgbClr>
            </a:solidFill>
            <a:prstDash val="solid"/>
          </a:ln>
        </p:spPr>
      </p:sp>
      <p:sp>
        <p:nvSpPr>
          <p:cNvPr id="18" name="Text 12"/>
          <p:cNvSpPr txBox="1"/>
          <p:nvPr/>
        </p:nvSpPr>
        <p:spPr>
          <a:xfrm>
            <a:off x="914400" y="1238098"/>
            <a:ext cx="16459200" cy="219456"/>
          </a:xfrm>
          <a:prstGeom prst="rect">
            <a:avLst/>
          </a:prstGeom>
          <a:noFill/>
          <a:ln/>
        </p:spPr>
        <p:txBody>
          <a:bodyPr wrap="none" lIns="0" tIns="0" rIns="0" bIns="0" rtlCol="0" anchor="ctr"/>
          <a:lstStyle/>
          <a:p>
            <a:pPr algn="l" indent="0" marL="0">
              <a:buNone/>
            </a:pPr>
            <a:r>
              <a:rPr lang="en-US" sz="1350" spc="324" kern="0" dirty="0">
                <a:solidFill>
                  <a:srgbClr val="2D5D5A"/>
                </a:solidFill>
                <a:latin typeface="JetBrains Mono" pitchFamily="34" charset="0"/>
                <a:ea typeface="JetBrains Mono" pitchFamily="34" charset="-122"/>
                <a:cs typeface="JetBrains Mono" pitchFamily="34" charset="-120"/>
              </a:rPr>
              <a:t>26 · Answer + comparison</a:t>
            </a:r>
            <a:endParaRPr lang="en-US" sz="1350" dirty="0"/>
          </a:p>
        </p:txBody>
      </p:sp>
      <p:sp>
        <p:nvSpPr>
          <p:cNvPr id="19" name="Text 13"/>
          <p:cNvSpPr txBox="1"/>
          <p:nvPr/>
        </p:nvSpPr>
        <p:spPr>
          <a:xfrm>
            <a:off x="914400" y="1533449"/>
            <a:ext cx="16459200" cy="800100"/>
          </a:xfrm>
          <a:prstGeom prst="rect">
            <a:avLst/>
          </a:prstGeom>
          <a:noFill/>
          <a:ln/>
        </p:spPr>
        <p:txBody>
          <a:bodyPr wrap="none" lIns="0" tIns="0" rIns="0" bIns="0" rtlCol="0" anchor="ctr"/>
          <a:lstStyle/>
          <a:p>
            <a:pPr algn="l" indent="0" marL="0">
              <a:buNone/>
            </a:pPr>
            <a:r>
              <a:rPr lang="en-US" sz="6000" b="1" spc="-120" kern="0" dirty="0">
                <a:solidFill>
                  <a:srgbClr val="211C13"/>
                </a:solidFill>
                <a:latin typeface="Zen Kaku Gothic Antique" pitchFamily="34" charset="0"/>
                <a:ea typeface="Zen Kaku Gothic Antique" pitchFamily="34" charset="-122"/>
                <a:cs typeface="Zen Kaku Gothic Antique" pitchFamily="34" charset="-120"/>
              </a:rPr>
              <a:t>解答と最小の修正版</a:t>
            </a:r>
            <a:endParaRPr lang="en-US" sz="6000" dirty="0"/>
          </a:p>
        </p:txBody>
      </p:sp>
      <p:sp>
        <p:nvSpPr>
          <p:cNvPr id="20" name="Text 14"/>
          <p:cNvSpPr txBox="1"/>
          <p:nvPr/>
        </p:nvSpPr>
        <p:spPr>
          <a:xfrm>
            <a:off x="914400" y="9562795"/>
            <a:ext cx="12382805" cy="228600"/>
          </a:xfrm>
          <a:prstGeom prst="rect">
            <a:avLst/>
          </a:prstGeom>
          <a:noFill/>
          <a:ln/>
        </p:spPr>
        <p:txBody>
          <a:bodyPr wrap="none" lIns="0" tIns="0" rIns="0" bIns="0" rtlCol="0" anchor="ctr"/>
          <a:lstStyle/>
          <a:p>
            <a:pPr algn="l" indent="0" marL="0">
              <a:buNone/>
            </a:pPr>
            <a:r>
              <a:rPr lang="en-US" sz="1200" spc="72" kern="0" dirty="0">
                <a:solidFill>
                  <a:srgbClr val="5A4F3F"/>
                </a:solidFill>
                <a:latin typeface="JetBrains Mono" pitchFamily="34" charset="0"/>
                <a:ea typeface="JetBrains Mono" pitchFamily="34" charset="-122"/>
                <a:cs typeface="JetBrains Mono" pitchFamily="34" charset="-120"/>
              </a:rPr>
              <a:t>認証されている ≠ 認可されている。チェックはリクエスト単位で、サーバー側で</a:t>
            </a:r>
            <a:endParaRPr lang="en-US" sz="1200" dirty="0"/>
          </a:p>
        </p:txBody>
      </p:sp>
      <p:sp>
        <p:nvSpPr>
          <p:cNvPr id="21" name="Text 15"/>
          <p:cNvSpPr txBox="1"/>
          <p:nvPr/>
        </p:nvSpPr>
        <p:spPr>
          <a:xfrm>
            <a:off x="15468905" y="9562795"/>
            <a:ext cx="1905610" cy="200254"/>
          </a:xfrm>
          <a:prstGeom prst="rect">
            <a:avLst/>
          </a:prstGeom>
          <a:noFill/>
          <a:ln/>
        </p:spPr>
        <p:txBody>
          <a:bodyPr wrap="none" lIns="0" tIns="0" rIns="0" bIns="0" rtlCol="0" anchor="ctr"/>
          <a:lstStyle/>
          <a:p>
            <a:pPr algn="r" indent="0" marL="0">
              <a:buNone/>
            </a:pPr>
            <a:r>
              <a:rPr lang="en-US" sz="1200" spc="72" kern="0" dirty="0">
                <a:solidFill>
                  <a:srgbClr val="5A4F3F"/>
                </a:solidFill>
                <a:latin typeface="JetBrains Mono" pitchFamily="34" charset="0"/>
                <a:ea typeface="JetBrains Mono" pitchFamily="34" charset="-122"/>
                <a:cs typeface="JetBrains Mono" pitchFamily="34" charset="-120"/>
              </a:rPr>
              <a:t>26 / 32</a:t>
            </a:r>
            <a:endParaRPr lang="en-US" sz="1200" dirty="0"/>
          </a:p>
        </p:txBody>
      </p:sp>
      <p:sp>
        <p:nvSpPr>
          <p:cNvPr id="22" name="Text 16"/>
          <p:cNvSpPr txBox="1"/>
          <p:nvPr/>
        </p:nvSpPr>
        <p:spPr>
          <a:xfrm>
            <a:off x="914400" y="609905"/>
            <a:ext cx="1619402" cy="381305"/>
          </a:xfrm>
          <a:prstGeom prst="rect">
            <a:avLst/>
          </a:prstGeom>
          <a:noFill/>
          <a:ln/>
        </p:spPr>
        <p:txBody>
          <a:bodyPr wrap="none" lIns="0" tIns="0" rIns="0" bIns="0" rtlCol="0" anchor="ctr"/>
          <a:lstStyle/>
          <a:p>
            <a:pPr algn="ctr" indent="0" marL="0">
              <a:buNone/>
            </a:pPr>
            <a:r>
              <a:rPr lang="en-US" sz="1050" spc="231" kern="0" dirty="0">
                <a:solidFill>
                  <a:srgbClr val="F5EFDD"/>
                </a:solidFill>
                <a:latin typeface="JetBrains Mono" pitchFamily="34" charset="0"/>
                <a:ea typeface="JetBrains Mono" pitchFamily="34" charset="-122"/>
                <a:cs typeface="JetBrains Mono" pitchFamily="34" charset="-120"/>
              </a:rPr>
              <a:t>INSTRUCTOR</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FE7D4"/>
        </a:solidFill>
      </p:bgPr>
    </p:bg>
    <p:spTree>
      <p:nvGrpSpPr>
        <p:cNvPr id="1" name=""/>
        <p:cNvGrpSpPr/>
        <p:nvPr/>
      </p:nvGrpSpPr>
      <p:grpSpPr>
        <a:xfrm>
          <a:off x="0" y="0"/>
          <a:ext cx="0" cy="0"/>
          <a:chOff x="0" y="0"/>
          <a:chExt cx="0" cy="0"/>
        </a:xfrm>
      </p:grpSpPr>
      <p:sp>
        <p:nvSpPr>
          <p:cNvPr id="3" name="Shape 0"/>
          <p:cNvSpPr/>
          <p:nvPr/>
        </p:nvSpPr>
        <p:spPr>
          <a:xfrm>
            <a:off x="3238805" y="3238805"/>
            <a:ext cx="7239305" cy="2667305"/>
          </a:xfrm>
          <a:prstGeom prst="roundRect">
            <a:avLst>
              <a:gd name="adj" fmla="val 1440"/>
            </a:avLst>
          </a:prstGeom>
          <a:solidFill>
            <a:srgbClr val="E5DBC4"/>
          </a:solidFill>
          <a:ln w="12700">
            <a:solidFill>
              <a:srgbClr val="FFFFFF">
                <a:alpha val="0"/>
              </a:srgbClr>
            </a:solidFill>
            <a:prstDash val="solid"/>
          </a:ln>
        </p:spPr>
      </p:sp>
      <p:sp>
        <p:nvSpPr>
          <p:cNvPr id="4" name="Shape 1"/>
          <p:cNvSpPr/>
          <p:nvPr/>
        </p:nvSpPr>
        <p:spPr>
          <a:xfrm>
            <a:off x="10668305" y="3238805"/>
            <a:ext cx="6705295" cy="2667305"/>
          </a:xfrm>
          <a:prstGeom prst="roundRect">
            <a:avLst>
              <a:gd name="adj" fmla="val 1440"/>
            </a:avLst>
          </a:prstGeom>
          <a:solidFill>
            <a:srgbClr val="1B1F25"/>
          </a:solidFill>
          <a:ln w="12700">
            <a:solidFill>
              <a:srgbClr val="FFFFFF">
                <a:alpha val="0"/>
              </a:srgbClr>
            </a:solidFill>
            <a:prstDash val="solid"/>
          </a:ln>
        </p:spPr>
      </p:sp>
      <p:sp>
        <p:nvSpPr>
          <p:cNvPr id="5" name="Shape 2"/>
          <p:cNvSpPr/>
          <p:nvPr/>
        </p:nvSpPr>
        <p:spPr>
          <a:xfrm>
            <a:off x="3238805" y="6096305"/>
            <a:ext cx="7239305" cy="2667305"/>
          </a:xfrm>
          <a:prstGeom prst="roundRect">
            <a:avLst>
              <a:gd name="adj" fmla="val 1440"/>
            </a:avLst>
          </a:prstGeom>
          <a:solidFill>
            <a:srgbClr val="E5DBC4"/>
          </a:solidFill>
          <a:ln w="12700">
            <a:solidFill>
              <a:srgbClr val="FFFFFF">
                <a:alpha val="0"/>
              </a:srgbClr>
            </a:solidFill>
            <a:prstDash val="solid"/>
          </a:ln>
        </p:spPr>
      </p:sp>
      <p:sp>
        <p:nvSpPr>
          <p:cNvPr id="6" name="Shape 3"/>
          <p:cNvSpPr/>
          <p:nvPr/>
        </p:nvSpPr>
        <p:spPr>
          <a:xfrm>
            <a:off x="10668305" y="6096305"/>
            <a:ext cx="6705295" cy="2667305"/>
          </a:xfrm>
          <a:prstGeom prst="roundRect">
            <a:avLst>
              <a:gd name="adj" fmla="val 1440"/>
            </a:avLst>
          </a:prstGeom>
          <a:solidFill>
            <a:srgbClr val="E5DBC4"/>
          </a:solidFill>
          <a:ln w="12700">
            <a:solidFill>
              <a:srgbClr val="FFFFFF">
                <a:alpha val="0"/>
              </a:srgbClr>
            </a:solidFill>
            <a:prstDash val="solid"/>
          </a:ln>
        </p:spPr>
      </p:sp>
      <p:pic>
        <p:nvPicPr>
          <p:cNvPr id="7" name="Image 0" descr="gen-dedup-26801754a0cfcbce9ce28a971b2ecb49.png">    </p:cNvPr>
          <p:cNvPicPr>
            <a:picLocks noChangeAspect="1"/>
          </p:cNvPicPr>
          <p:nvPr/>
        </p:nvPicPr>
        <p:blipFill>
          <a:blip r:embed="rId1"/>
          <a:srcRect l="0" r="0" t="-398" b="-398"/>
          <a:stretch/>
        </p:blipFill>
        <p:spPr>
          <a:xfrm>
            <a:off x="3238805" y="3238805"/>
            <a:ext cx="7239305" cy="57607"/>
          </a:xfrm>
          <a:prstGeom prst="rect">
            <a:avLst/>
          </a:prstGeom>
        </p:spPr>
      </p:pic>
      <p:pic>
        <p:nvPicPr>
          <p:cNvPr id="8" name="Image 1" descr="gen-dedup-2fcd7ae8569593317491727210db7d9b.png">    </p:cNvPr>
          <p:cNvPicPr>
            <a:picLocks noChangeAspect="1"/>
          </p:cNvPicPr>
          <p:nvPr/>
        </p:nvPicPr>
        <p:blipFill>
          <a:blip r:embed="rId2"/>
          <a:srcRect l="0" r="0" t="-402" b="-402"/>
          <a:stretch/>
        </p:blipFill>
        <p:spPr>
          <a:xfrm>
            <a:off x="10668305" y="3238805"/>
            <a:ext cx="6705295" cy="57607"/>
          </a:xfrm>
          <a:prstGeom prst="rect">
            <a:avLst/>
          </a:prstGeom>
        </p:spPr>
      </p:pic>
      <p:pic>
        <p:nvPicPr>
          <p:cNvPr id="9" name="Image 2" descr="gen-dedup-6252196d644e3b8af6f81927c537d042.png">    </p:cNvPr>
          <p:cNvPicPr>
            <a:picLocks noChangeAspect="1"/>
          </p:cNvPicPr>
          <p:nvPr/>
        </p:nvPicPr>
        <p:blipFill>
          <a:blip r:embed="rId3"/>
          <a:srcRect l="0" r="0" t="-398" b="-398"/>
          <a:stretch/>
        </p:blipFill>
        <p:spPr>
          <a:xfrm>
            <a:off x="3238805" y="6096305"/>
            <a:ext cx="7239305" cy="57607"/>
          </a:xfrm>
          <a:prstGeom prst="rect">
            <a:avLst/>
          </a:prstGeom>
        </p:spPr>
      </p:pic>
      <p:pic>
        <p:nvPicPr>
          <p:cNvPr id="10" name="Image 3" descr="gen-dedup-47c292e134cf7ef6c3f66699ce11c48c.png">    </p:cNvPr>
          <p:cNvPicPr>
            <a:picLocks noChangeAspect="1"/>
          </p:cNvPicPr>
          <p:nvPr/>
        </p:nvPicPr>
        <p:blipFill>
          <a:blip r:embed="rId4"/>
          <a:srcRect l="0" r="0" t="-402" b="-402"/>
          <a:stretch/>
        </p:blipFill>
        <p:spPr>
          <a:xfrm>
            <a:off x="10668305" y="6096305"/>
            <a:ext cx="6705295" cy="57607"/>
          </a:xfrm>
          <a:prstGeom prst="rect">
            <a:avLst/>
          </a:prstGeom>
        </p:spPr>
      </p:pic>
      <p:sp>
        <p:nvSpPr>
          <p:cNvPr id="11" name="Text 4"/>
          <p:cNvSpPr txBox="1"/>
          <p:nvPr/>
        </p:nvSpPr>
        <p:spPr>
          <a:xfrm>
            <a:off x="3619195" y="3504895"/>
            <a:ext cx="6477610" cy="191110"/>
          </a:xfrm>
          <a:prstGeom prst="rect">
            <a:avLst/>
          </a:prstGeom>
          <a:noFill/>
          <a:ln/>
        </p:spPr>
        <p:txBody>
          <a:bodyPr wrap="none" lIns="0" tIns="0" rIns="0" bIns="0" rtlCol="0" anchor="ctr"/>
          <a:lstStyle/>
          <a:p>
            <a:pPr algn="l" indent="0" marL="0">
              <a:buNone/>
            </a:pPr>
            <a:r>
              <a:rPr lang="en-US" sz="1050" spc="189" kern="0" dirty="0">
                <a:solidFill>
                  <a:srgbClr val="B63A2A"/>
                </a:solidFill>
                <a:latin typeface="JetBrains Mono" pitchFamily="34" charset="0"/>
                <a:ea typeface="JetBrains Mono" pitchFamily="34" charset="-122"/>
                <a:cs typeface="JetBrains Mono" pitchFamily="34" charset="-120"/>
              </a:rPr>
              <a:t>認証なし × 認可なし</a:t>
            </a:r>
            <a:endParaRPr lang="en-US" sz="1050" dirty="0"/>
          </a:p>
        </p:txBody>
      </p:sp>
      <p:sp>
        <p:nvSpPr>
          <p:cNvPr id="12" name="Text 5"/>
          <p:cNvSpPr txBox="1"/>
          <p:nvPr/>
        </p:nvSpPr>
        <p:spPr>
          <a:xfrm>
            <a:off x="3619195" y="3771900"/>
            <a:ext cx="6477610" cy="419710"/>
          </a:xfrm>
          <a:prstGeom prst="rect">
            <a:avLst/>
          </a:prstGeom>
          <a:noFill/>
          <a:ln/>
        </p:spPr>
        <p:txBody>
          <a:bodyPr wrap="none" lIns="0" tIns="0" rIns="0" bIns="0" rtlCol="0" anchor="ctr"/>
          <a:lstStyle/>
          <a:p>
            <a:pPr algn="l" indent="0" marL="0">
              <a:buNone/>
            </a:pPr>
            <a:r>
              <a:rPr lang="en-US" sz="2250" b="1" dirty="0">
                <a:solidFill>
                  <a:srgbClr val="211C13"/>
                </a:solidFill>
                <a:latin typeface="Zen Kaku Gothic Antique" pitchFamily="34" charset="0"/>
                <a:ea typeface="Zen Kaku Gothic Antique" pitchFamily="34" charset="-122"/>
                <a:cs typeface="Zen Kaku Gothic Antique" pitchFamily="34" charset="-120"/>
              </a:rPr>
              <a:t>完全な公開状態</a:t>
            </a:r>
            <a:endParaRPr lang="en-US" sz="2250" dirty="0"/>
          </a:p>
        </p:txBody>
      </p:sp>
      <p:sp>
        <p:nvSpPr>
          <p:cNvPr id="13" name="Text 6"/>
          <p:cNvSpPr txBox="1"/>
          <p:nvPr/>
        </p:nvSpPr>
        <p:spPr>
          <a:xfrm>
            <a:off x="3619195" y="4258361"/>
            <a:ext cx="6477610" cy="599846"/>
          </a:xfrm>
          <a:prstGeom prst="rect">
            <a:avLst/>
          </a:prstGeom>
          <a:noFill/>
          <a:ln/>
        </p:spPr>
        <p:txBody>
          <a:bodyPr wrap="square" lIns="0" tIns="0" rIns="0" bIns="0" rtlCol="0" anchor="t"/>
          <a:lstStyle/>
          <a:p>
            <a:pPr algn="l" indent="0" marL="0">
              <a:lnSpc>
                <a:spcPts val="2250"/>
              </a:lnSpc>
              <a:buNone/>
            </a:pPr>
            <a:r>
              <a:rPr lang="en-US" sz="1500" dirty="0">
                <a:solidFill>
                  <a:srgbClr val="5A4F3F"/>
                </a:solidFill>
                <a:latin typeface="Noto Sans JP" pitchFamily="34" charset="0"/>
                <a:ea typeface="Noto Sans JP" pitchFamily="34" charset="-122"/>
                <a:cs typeface="Noto Sans JP" pitchFamily="34" charset="-120"/>
              </a:rPr>
              <a:t>誰もが、URL を直接叩けば見える。</a:t>
            </a:r>
            <a:pPr algn="l" indent="0" marL="0">
              <a:lnSpc>
                <a:spcPts val="2250"/>
              </a:lnSpc>
              <a:buNone/>
            </a:pPr>
            <a:endParaRPr lang="en-US" sz="1500" dirty="0"/>
          </a:p>
          <a:p>
            <a:pPr algn="l" indent="0" marL="0">
              <a:lnSpc>
                <a:spcPts val="2250"/>
              </a:lnSpc>
              <a:buNone/>
            </a:pPr>
            <a:r>
              <a:rPr lang="en-US" sz="1500" dirty="0">
                <a:solidFill>
                  <a:srgbClr val="5A4F3F"/>
                </a:solidFill>
                <a:latin typeface="Noto Sans JP" pitchFamily="34" charset="0"/>
                <a:ea typeface="Noto Sans JP" pitchFamily="34" charset="-122"/>
                <a:cs typeface="Noto Sans JP" pitchFamily="34" charset="-120"/>
              </a:rPr>
              <a:t>本日扱う教材はこのレベルではない。</a:t>
            </a:r>
            <a:endParaRPr lang="en-US" sz="1500" dirty="0"/>
          </a:p>
        </p:txBody>
      </p:sp>
      <p:sp>
        <p:nvSpPr>
          <p:cNvPr id="14" name="Text 7"/>
          <p:cNvSpPr txBox="1"/>
          <p:nvPr/>
        </p:nvSpPr>
        <p:spPr>
          <a:xfrm>
            <a:off x="11048695" y="3504895"/>
            <a:ext cx="5943600" cy="191110"/>
          </a:xfrm>
          <a:prstGeom prst="rect">
            <a:avLst/>
          </a:prstGeom>
          <a:noFill/>
          <a:ln/>
        </p:spPr>
        <p:txBody>
          <a:bodyPr wrap="none" lIns="0" tIns="0" rIns="0" bIns="0" rtlCol="0" anchor="ctr"/>
          <a:lstStyle/>
          <a:p>
            <a:pPr algn="l" indent="0" marL="0">
              <a:buNone/>
            </a:pPr>
            <a:r>
              <a:rPr lang="en-US" sz="1050" spc="189" kern="0" dirty="0">
                <a:solidFill>
                  <a:srgbClr val="D4922A"/>
                </a:solidFill>
                <a:latin typeface="JetBrains Mono" pitchFamily="34" charset="0"/>
                <a:ea typeface="JetBrains Mono" pitchFamily="34" charset="-122"/>
                <a:cs typeface="JetBrains Mono" pitchFamily="34" charset="-120"/>
              </a:rPr>
              <a:t>認証あり × 認可なし ← この枠が今回の焦点</a:t>
            </a:r>
            <a:endParaRPr lang="en-US" sz="1050" dirty="0"/>
          </a:p>
        </p:txBody>
      </p:sp>
      <p:sp>
        <p:nvSpPr>
          <p:cNvPr id="15" name="Text 8"/>
          <p:cNvSpPr txBox="1"/>
          <p:nvPr/>
        </p:nvSpPr>
        <p:spPr>
          <a:xfrm>
            <a:off x="11048695" y="3771900"/>
            <a:ext cx="5943600" cy="419710"/>
          </a:xfrm>
          <a:prstGeom prst="rect">
            <a:avLst/>
          </a:prstGeom>
          <a:noFill/>
          <a:ln/>
        </p:spPr>
        <p:txBody>
          <a:bodyPr wrap="none" lIns="0" tIns="0" rIns="0" bIns="0" rtlCol="0" anchor="ctr"/>
          <a:lstStyle/>
          <a:p>
            <a:pPr algn="l" indent="0" marL="0">
              <a:buNone/>
            </a:pPr>
            <a:r>
              <a:rPr lang="en-US" sz="2250" b="1" dirty="0">
                <a:solidFill>
                  <a:srgbClr val="F5EFDD"/>
                </a:solidFill>
                <a:latin typeface="Zen Kaku Gothic Antique" pitchFamily="34" charset="0"/>
                <a:ea typeface="Zen Kaku Gothic Antique" pitchFamily="34" charset="-122"/>
                <a:cs typeface="Zen Kaku Gothic Antique" pitchFamily="34" charset="-120"/>
              </a:rPr>
              <a:t>誰かである ＝ 何でもできる、わけではない</a:t>
            </a:r>
            <a:endParaRPr lang="en-US" sz="2250" dirty="0"/>
          </a:p>
        </p:txBody>
      </p:sp>
      <p:sp>
        <p:nvSpPr>
          <p:cNvPr id="16" name="Text 9"/>
          <p:cNvSpPr txBox="1"/>
          <p:nvPr/>
        </p:nvSpPr>
        <p:spPr>
          <a:xfrm>
            <a:off x="11048695" y="4258361"/>
            <a:ext cx="5943600" cy="886054"/>
          </a:xfrm>
          <a:prstGeom prst="rect">
            <a:avLst/>
          </a:prstGeom>
          <a:noFill/>
          <a:ln/>
        </p:spPr>
        <p:txBody>
          <a:bodyPr wrap="square" lIns="0" tIns="0" rIns="0" bIns="0" rtlCol="0" anchor="t"/>
          <a:lstStyle/>
          <a:p>
            <a:pPr algn="l" indent="0" marL="0">
              <a:lnSpc>
                <a:spcPts val="2250"/>
              </a:lnSpc>
              <a:buNone/>
            </a:pPr>
            <a:r>
              <a:rPr lang="en-US" sz="1500" dirty="0">
                <a:solidFill>
                  <a:srgbClr val="ECE4D2"/>
                </a:solidFill>
                <a:latin typeface="Noto Sans JP" pitchFamily="34" charset="0"/>
                <a:ea typeface="Noto Sans JP" pitchFamily="34" charset="-122"/>
                <a:cs typeface="Noto Sans JP" pitchFamily="34" charset="-120"/>
              </a:rPr>
              <a:t>ログインしていながら、ID を差し替える。</a:t>
            </a:r>
            <a:pPr algn="l" indent="0" marL="0">
              <a:lnSpc>
                <a:spcPts val="2250"/>
              </a:lnSpc>
              <a:buNone/>
            </a:pPr>
            <a:endParaRPr lang="en-US" sz="1500" dirty="0"/>
          </a:p>
          <a:p>
            <a:pPr algn="l" indent="0" marL="0">
              <a:lnSpc>
                <a:spcPts val="2250"/>
              </a:lnSpc>
              <a:buNone/>
            </a:pPr>
            <a:r>
              <a:rPr lang="en-US" sz="1500" dirty="0">
                <a:solidFill>
                  <a:srgbClr val="ECE4D2"/>
                </a:solidFill>
                <a:latin typeface="Noto Sans JP" pitchFamily="34" charset="0"/>
                <a:ea typeface="Noto Sans JP" pitchFamily="34" charset="-122"/>
                <a:cs typeface="Noto Sans JP" pitchFamily="34" charset="-120"/>
              </a:rPr>
              <a:t>トークンが「鍵」になり、所有者の検査が抜けていると、他人のリソースが見える。</a:t>
            </a:r>
            <a:endParaRPr lang="en-US" sz="1500" dirty="0"/>
          </a:p>
        </p:txBody>
      </p:sp>
      <p:sp>
        <p:nvSpPr>
          <p:cNvPr id="17" name="Text 10"/>
          <p:cNvSpPr txBox="1"/>
          <p:nvPr/>
        </p:nvSpPr>
        <p:spPr>
          <a:xfrm>
            <a:off x="3619195" y="6362395"/>
            <a:ext cx="6477610" cy="191110"/>
          </a:xfrm>
          <a:prstGeom prst="rect">
            <a:avLst/>
          </a:prstGeom>
          <a:noFill/>
          <a:ln/>
        </p:spPr>
        <p:txBody>
          <a:bodyPr wrap="none" lIns="0" tIns="0" rIns="0" bIns="0" rtlCol="0" anchor="ctr"/>
          <a:lstStyle/>
          <a:p>
            <a:pPr algn="l" indent="0" marL="0">
              <a:buNone/>
            </a:pPr>
            <a:r>
              <a:rPr lang="en-US" sz="1050" spc="189" kern="0" dirty="0">
                <a:solidFill>
                  <a:srgbClr val="5A4F3F"/>
                </a:solidFill>
                <a:latin typeface="JetBrains Mono" pitchFamily="34" charset="0"/>
                <a:ea typeface="JetBrains Mono" pitchFamily="34" charset="-122"/>
                <a:cs typeface="JetBrains Mono" pitchFamily="34" charset="-120"/>
              </a:rPr>
              <a:t>認証なし × 認可あり</a:t>
            </a:r>
            <a:endParaRPr lang="en-US" sz="1050" dirty="0"/>
          </a:p>
        </p:txBody>
      </p:sp>
      <p:sp>
        <p:nvSpPr>
          <p:cNvPr id="18" name="Text 11"/>
          <p:cNvSpPr txBox="1"/>
          <p:nvPr/>
        </p:nvSpPr>
        <p:spPr>
          <a:xfrm>
            <a:off x="3619195" y="6629400"/>
            <a:ext cx="6477610" cy="419710"/>
          </a:xfrm>
          <a:prstGeom prst="rect">
            <a:avLst/>
          </a:prstGeom>
          <a:noFill/>
          <a:ln/>
        </p:spPr>
        <p:txBody>
          <a:bodyPr wrap="none" lIns="0" tIns="0" rIns="0" bIns="0" rtlCol="0" anchor="ctr"/>
          <a:lstStyle/>
          <a:p>
            <a:pPr algn="l" indent="0" marL="0">
              <a:buNone/>
            </a:pPr>
            <a:r>
              <a:rPr lang="en-US" sz="2250" b="1" dirty="0">
                <a:solidFill>
                  <a:srgbClr val="211C13"/>
                </a:solidFill>
                <a:latin typeface="Zen Kaku Gothic Antique" pitchFamily="34" charset="0"/>
                <a:ea typeface="Zen Kaku Gothic Antique" pitchFamily="34" charset="-122"/>
                <a:cs typeface="Zen Kaku Gothic Antique" pitchFamily="34" charset="-120"/>
              </a:rPr>
              <a:t>「誰か」を確認していないのにACLだけある</a:t>
            </a:r>
            <a:endParaRPr lang="en-US" sz="2250" dirty="0"/>
          </a:p>
        </p:txBody>
      </p:sp>
      <p:sp>
        <p:nvSpPr>
          <p:cNvPr id="19" name="Text 12"/>
          <p:cNvSpPr txBox="1"/>
          <p:nvPr/>
        </p:nvSpPr>
        <p:spPr>
          <a:xfrm>
            <a:off x="3619195" y="7115861"/>
            <a:ext cx="6477610" cy="599846"/>
          </a:xfrm>
          <a:prstGeom prst="rect">
            <a:avLst/>
          </a:prstGeom>
          <a:noFill/>
          <a:ln/>
        </p:spPr>
        <p:txBody>
          <a:bodyPr wrap="square" lIns="0" tIns="0" rIns="0" bIns="0" rtlCol="0" anchor="t"/>
          <a:lstStyle/>
          <a:p>
            <a:pPr algn="l" indent="0" marL="0">
              <a:lnSpc>
                <a:spcPts val="2250"/>
              </a:lnSpc>
              <a:buNone/>
            </a:pPr>
            <a:r>
              <a:rPr lang="en-US" sz="1500" dirty="0">
                <a:solidFill>
                  <a:srgbClr val="5A4F3F"/>
                </a:solidFill>
                <a:latin typeface="Noto Sans JP" pitchFamily="34" charset="0"/>
                <a:ea typeface="Noto Sans JP" pitchFamily="34" charset="-122"/>
                <a:cs typeface="Noto Sans JP" pitchFamily="34" charset="-120"/>
              </a:rPr>
              <a:t>認可は前提として認証が通っていることを仮定する。</a:t>
            </a:r>
            <a:pPr algn="l" indent="0" marL="0">
              <a:lnSpc>
                <a:spcPts val="2250"/>
              </a:lnSpc>
              <a:buNone/>
            </a:pPr>
            <a:endParaRPr lang="en-US" sz="1500" dirty="0"/>
          </a:p>
          <a:p>
            <a:pPr algn="l" indent="0" marL="0">
              <a:lnSpc>
                <a:spcPts val="2250"/>
              </a:lnSpc>
              <a:buNone/>
            </a:pPr>
            <a:r>
              <a:rPr lang="en-US" sz="1500" dirty="0">
                <a:solidFill>
                  <a:srgbClr val="5A4F3F"/>
                </a:solidFill>
                <a:latin typeface="Noto Sans JP" pitchFamily="34" charset="0"/>
                <a:ea typeface="Noto Sans JP" pitchFamily="34" charset="-122"/>
                <a:cs typeface="Noto Sans JP" pitchFamily="34" charset="-120"/>
              </a:rPr>
              <a:t>順序が壊れている場合は別の話に発展する。</a:t>
            </a:r>
            <a:endParaRPr lang="en-US" sz="1500" dirty="0"/>
          </a:p>
        </p:txBody>
      </p:sp>
      <p:sp>
        <p:nvSpPr>
          <p:cNvPr id="20" name="Text 13"/>
          <p:cNvSpPr txBox="1"/>
          <p:nvPr/>
        </p:nvSpPr>
        <p:spPr>
          <a:xfrm>
            <a:off x="11048695" y="6362395"/>
            <a:ext cx="5943600" cy="191110"/>
          </a:xfrm>
          <a:prstGeom prst="rect">
            <a:avLst/>
          </a:prstGeom>
          <a:noFill/>
          <a:ln/>
        </p:spPr>
        <p:txBody>
          <a:bodyPr wrap="none" lIns="0" tIns="0" rIns="0" bIns="0" rtlCol="0" anchor="ctr"/>
          <a:lstStyle/>
          <a:p>
            <a:pPr algn="l" indent="0" marL="0">
              <a:buNone/>
            </a:pPr>
            <a:r>
              <a:rPr lang="en-US" sz="1050" spc="189" kern="0" dirty="0">
                <a:solidFill>
                  <a:srgbClr val="2F6F4F"/>
                </a:solidFill>
                <a:latin typeface="JetBrains Mono" pitchFamily="34" charset="0"/>
                <a:ea typeface="JetBrains Mono" pitchFamily="34" charset="-122"/>
                <a:cs typeface="JetBrains Mono" pitchFamily="34" charset="-120"/>
              </a:rPr>
              <a:t>認証あり × 認可あり</a:t>
            </a:r>
            <a:endParaRPr lang="en-US" sz="1050" dirty="0"/>
          </a:p>
        </p:txBody>
      </p:sp>
      <p:sp>
        <p:nvSpPr>
          <p:cNvPr id="21" name="Text 14"/>
          <p:cNvSpPr txBox="1"/>
          <p:nvPr/>
        </p:nvSpPr>
        <p:spPr>
          <a:xfrm>
            <a:off x="11048695" y="6629400"/>
            <a:ext cx="5943600" cy="419710"/>
          </a:xfrm>
          <a:prstGeom prst="rect">
            <a:avLst/>
          </a:prstGeom>
          <a:noFill/>
          <a:ln/>
        </p:spPr>
        <p:txBody>
          <a:bodyPr wrap="none" lIns="0" tIns="0" rIns="0" bIns="0" rtlCol="0" anchor="ctr"/>
          <a:lstStyle/>
          <a:p>
            <a:pPr algn="l" indent="0" marL="0">
              <a:buNone/>
            </a:pPr>
            <a:r>
              <a:rPr lang="en-US" sz="2250" b="1" dirty="0">
                <a:solidFill>
                  <a:srgbClr val="211C13"/>
                </a:solidFill>
                <a:latin typeface="Zen Kaku Gothic Antique" pitchFamily="34" charset="0"/>
                <a:ea typeface="Zen Kaku Gothic Antique" pitchFamily="34" charset="-122"/>
                <a:cs typeface="Zen Kaku Gothic Antique" pitchFamily="34" charset="-120"/>
              </a:rPr>
              <a:t>自分のリソースだけ返る</a:t>
            </a:r>
            <a:endParaRPr lang="en-US" sz="2250" dirty="0"/>
          </a:p>
        </p:txBody>
      </p:sp>
      <p:sp>
        <p:nvSpPr>
          <p:cNvPr id="22" name="Text 15"/>
          <p:cNvSpPr txBox="1"/>
          <p:nvPr/>
        </p:nvSpPr>
        <p:spPr>
          <a:xfrm>
            <a:off x="11048695" y="7144207"/>
            <a:ext cx="5943600" cy="286207"/>
          </a:xfrm>
          <a:prstGeom prst="rect">
            <a:avLst/>
          </a:prstGeom>
          <a:noFill/>
          <a:ln/>
        </p:spPr>
        <p:txBody>
          <a:bodyPr wrap="none" lIns="0" tIns="0" rIns="0" bIns="0" rtlCol="0" anchor="ctr"/>
          <a:lstStyle/>
          <a:p>
            <a:pPr algn="l" indent="0" marL="0">
              <a:buNone/>
            </a:pPr>
            <a:r>
              <a:rPr lang="en-US" sz="1500" dirty="0">
                <a:solidFill>
                  <a:srgbClr val="5A4F3F"/>
                </a:solidFill>
                <a:latin typeface="Noto Sans JP" pitchFamily="34" charset="0"/>
                <a:ea typeface="Noto Sans JP" pitchFamily="34" charset="-122"/>
                <a:cs typeface="Noto Sans JP" pitchFamily="34" charset="-120"/>
              </a:rPr>
              <a:t>サーバー側で所有者チェック、可能なら RLS でも同じ境界を置く。</a:t>
            </a:r>
            <a:endParaRPr lang="en-US" sz="1500" dirty="0"/>
          </a:p>
        </p:txBody>
      </p:sp>
      <p:pic>
        <p:nvPicPr>
          <p:cNvPr id="23" name="Image 4" descr="gen-dedup-ff3b843c62efd2578b331bdfc9bb7c8f.png">    </p:cNvPr>
          <p:cNvPicPr>
            <a:picLocks noChangeAspect="1"/>
          </p:cNvPicPr>
          <p:nvPr/>
        </p:nvPicPr>
        <p:blipFill>
          <a:blip r:embed="rId5"/>
          <a:srcRect l="-2083" r="-2083" t="0" b="0"/>
          <a:stretch/>
        </p:blipFill>
        <p:spPr>
          <a:xfrm>
            <a:off x="914400" y="9334195"/>
            <a:ext cx="16459200" cy="9144"/>
          </a:xfrm>
          <a:prstGeom prst="rect">
            <a:avLst/>
          </a:prstGeom>
        </p:spPr>
      </p:pic>
      <p:sp>
        <p:nvSpPr>
          <p:cNvPr id="24" name="Shape 16"/>
          <p:cNvSpPr/>
          <p:nvPr/>
        </p:nvSpPr>
        <p:spPr>
          <a:xfrm>
            <a:off x="914400" y="609905"/>
            <a:ext cx="1619402" cy="381305"/>
          </a:xfrm>
          <a:prstGeom prst="roundRect">
            <a:avLst>
              <a:gd name="adj" fmla="val 49880"/>
            </a:avLst>
          </a:prstGeom>
          <a:solidFill>
            <a:srgbClr val="211C13"/>
          </a:solidFill>
          <a:ln w="12700">
            <a:solidFill>
              <a:srgbClr val="FFFFFF">
                <a:alpha val="0"/>
              </a:srgbClr>
            </a:solidFill>
            <a:prstDash val="solid"/>
          </a:ln>
        </p:spPr>
      </p:sp>
      <p:sp>
        <p:nvSpPr>
          <p:cNvPr id="25" name="Text 17"/>
          <p:cNvSpPr txBox="1"/>
          <p:nvPr/>
        </p:nvSpPr>
        <p:spPr>
          <a:xfrm>
            <a:off x="914400" y="1238098"/>
            <a:ext cx="16459200" cy="247802"/>
          </a:xfrm>
          <a:prstGeom prst="rect">
            <a:avLst/>
          </a:prstGeom>
          <a:noFill/>
          <a:ln/>
        </p:spPr>
        <p:txBody>
          <a:bodyPr wrap="none" lIns="0" tIns="0" rIns="0" bIns="0" rtlCol="0" anchor="ctr"/>
          <a:lstStyle/>
          <a:p>
            <a:pPr algn="l" indent="0" marL="0">
              <a:buNone/>
            </a:pPr>
            <a:r>
              <a:rPr lang="en-US" sz="1350" spc="324" kern="0" dirty="0">
                <a:solidFill>
                  <a:srgbClr val="2D5D5A"/>
                </a:solidFill>
                <a:latin typeface="JetBrains Mono" pitchFamily="34" charset="0"/>
                <a:ea typeface="JetBrains Mono" pitchFamily="34" charset="-122"/>
                <a:cs typeface="JetBrains Mono" pitchFamily="34" charset="-120"/>
              </a:rPr>
              <a:t>27 · Authentication ≠ Authorization</a:t>
            </a:r>
            <a:endParaRPr lang="en-US" sz="1350" dirty="0"/>
          </a:p>
        </p:txBody>
      </p:sp>
      <p:sp>
        <p:nvSpPr>
          <p:cNvPr id="26" name="Text 18"/>
          <p:cNvSpPr txBox="1"/>
          <p:nvPr/>
        </p:nvSpPr>
        <p:spPr>
          <a:xfrm>
            <a:off x="914400" y="1561795"/>
            <a:ext cx="16459200" cy="800100"/>
          </a:xfrm>
          <a:prstGeom prst="rect">
            <a:avLst/>
          </a:prstGeom>
          <a:noFill/>
          <a:ln/>
        </p:spPr>
        <p:txBody>
          <a:bodyPr wrap="none" lIns="0" tIns="0" rIns="0" bIns="0" rtlCol="0" anchor="ctr"/>
          <a:lstStyle/>
          <a:p>
            <a:pPr algn="l" indent="0" marL="0">
              <a:buNone/>
            </a:pPr>
            <a:r>
              <a:rPr lang="en-US" sz="6000" b="1" spc="-120" kern="0" dirty="0">
                <a:solidFill>
                  <a:srgbClr val="211C13"/>
                </a:solidFill>
                <a:latin typeface="Zen Kaku Gothic Antique" pitchFamily="34" charset="0"/>
                <a:ea typeface="Zen Kaku Gothic Antique" pitchFamily="34" charset="-122"/>
                <a:cs typeface="Zen Kaku Gothic Antique" pitchFamily="34" charset="-120"/>
              </a:rPr>
              <a:t>認証と認可は別の仕事</a:t>
            </a:r>
            <a:endParaRPr lang="en-US" sz="6000" dirty="0"/>
          </a:p>
        </p:txBody>
      </p:sp>
      <p:sp>
        <p:nvSpPr>
          <p:cNvPr id="27" name="Text 19"/>
          <p:cNvSpPr txBox="1"/>
          <p:nvPr/>
        </p:nvSpPr>
        <p:spPr>
          <a:xfrm>
            <a:off x="914400" y="9562795"/>
            <a:ext cx="12382805" cy="228600"/>
          </a:xfrm>
          <a:prstGeom prst="rect">
            <a:avLst/>
          </a:prstGeom>
          <a:noFill/>
          <a:ln/>
        </p:spPr>
        <p:txBody>
          <a:bodyPr wrap="none" lIns="0" tIns="0" rIns="0" bIns="0" rtlCol="0" anchor="ctr"/>
          <a:lstStyle/>
          <a:p>
            <a:pPr algn="l" indent="0" marL="0">
              <a:buNone/>
            </a:pPr>
            <a:r>
              <a:rPr lang="en-US" sz="1200" spc="72" kern="0" dirty="0">
                <a:solidFill>
                  <a:srgbClr val="5A4F3F"/>
                </a:solidFill>
                <a:latin typeface="JetBrains Mono" pitchFamily="34" charset="0"/>
                <a:ea typeface="JetBrains Mono" pitchFamily="34" charset="-122"/>
                <a:cs typeface="JetBrains Mono" pitchFamily="34" charset="-120"/>
              </a:rPr>
              <a:t>まとめ — 認証チェックを通過した前提で、各リクエスト単位・サーバー側で所有者を判定する</a:t>
            </a:r>
            <a:endParaRPr lang="en-US" sz="1200" dirty="0"/>
          </a:p>
        </p:txBody>
      </p:sp>
      <p:sp>
        <p:nvSpPr>
          <p:cNvPr id="28" name="Text 20"/>
          <p:cNvSpPr txBox="1"/>
          <p:nvPr/>
        </p:nvSpPr>
        <p:spPr>
          <a:xfrm>
            <a:off x="15468905" y="9562795"/>
            <a:ext cx="1905610" cy="200254"/>
          </a:xfrm>
          <a:prstGeom prst="rect">
            <a:avLst/>
          </a:prstGeom>
          <a:noFill/>
          <a:ln/>
        </p:spPr>
        <p:txBody>
          <a:bodyPr wrap="none" lIns="0" tIns="0" rIns="0" bIns="0" rtlCol="0" anchor="ctr"/>
          <a:lstStyle/>
          <a:p>
            <a:pPr algn="r" indent="0" marL="0">
              <a:buNone/>
            </a:pPr>
            <a:r>
              <a:rPr lang="en-US" sz="1200" spc="72" kern="0" dirty="0">
                <a:solidFill>
                  <a:srgbClr val="5A4F3F"/>
                </a:solidFill>
                <a:latin typeface="JetBrains Mono" pitchFamily="34" charset="0"/>
                <a:ea typeface="JetBrains Mono" pitchFamily="34" charset="-122"/>
                <a:cs typeface="JetBrains Mono" pitchFamily="34" charset="-120"/>
              </a:rPr>
              <a:t>27 / 32</a:t>
            </a:r>
            <a:endParaRPr lang="en-US" sz="1200" dirty="0"/>
          </a:p>
        </p:txBody>
      </p:sp>
      <p:sp>
        <p:nvSpPr>
          <p:cNvPr id="29" name="Text 21"/>
          <p:cNvSpPr txBox="1"/>
          <p:nvPr/>
        </p:nvSpPr>
        <p:spPr>
          <a:xfrm>
            <a:off x="914400" y="609905"/>
            <a:ext cx="1619402" cy="381305"/>
          </a:xfrm>
          <a:prstGeom prst="rect">
            <a:avLst/>
          </a:prstGeom>
          <a:noFill/>
          <a:ln/>
        </p:spPr>
        <p:txBody>
          <a:bodyPr wrap="none" lIns="0" tIns="0" rIns="0" bIns="0" rtlCol="0" anchor="ctr"/>
          <a:lstStyle/>
          <a:p>
            <a:pPr algn="ctr" indent="0" marL="0">
              <a:buNone/>
            </a:pPr>
            <a:r>
              <a:rPr lang="en-US" sz="1050" spc="231" kern="0" dirty="0">
                <a:solidFill>
                  <a:srgbClr val="F5EFDD"/>
                </a:solidFill>
                <a:latin typeface="JetBrains Mono" pitchFamily="34" charset="0"/>
                <a:ea typeface="JetBrains Mono" pitchFamily="34" charset="-122"/>
                <a:cs typeface="JetBrains Mono" pitchFamily="34" charset="-120"/>
              </a:rPr>
              <a:t>INSTRUCTOR</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FE7D4"/>
        </a:solidFill>
      </p:bgPr>
    </p:bg>
    <p:spTree>
      <p:nvGrpSpPr>
        <p:cNvPr id="1" name=""/>
        <p:cNvGrpSpPr/>
        <p:nvPr/>
      </p:nvGrpSpPr>
      <p:grpSpPr>
        <a:xfrm>
          <a:off x="0" y="0"/>
          <a:ext cx="0" cy="0"/>
          <a:chOff x="0" y="0"/>
          <a:chExt cx="0" cy="0"/>
        </a:xfrm>
      </p:grpSpPr>
      <p:sp>
        <p:nvSpPr>
          <p:cNvPr id="3" name="Shape 0"/>
          <p:cNvSpPr/>
          <p:nvPr/>
        </p:nvSpPr>
        <p:spPr>
          <a:xfrm>
            <a:off x="914400" y="3238805"/>
            <a:ext cx="8096098" cy="2857500"/>
          </a:xfrm>
          <a:prstGeom prst="roundRect">
            <a:avLst>
              <a:gd name="adj" fmla="val 1344"/>
            </a:avLst>
          </a:prstGeom>
          <a:solidFill>
            <a:srgbClr val="E5DBC4"/>
          </a:solidFill>
          <a:ln w="12700">
            <a:solidFill>
              <a:srgbClr val="FFFFFF">
                <a:alpha val="0"/>
              </a:srgbClr>
            </a:solidFill>
            <a:prstDash val="solid"/>
          </a:ln>
        </p:spPr>
      </p:sp>
      <p:sp>
        <p:nvSpPr>
          <p:cNvPr id="4" name="Shape 1"/>
          <p:cNvSpPr/>
          <p:nvPr/>
        </p:nvSpPr>
        <p:spPr>
          <a:xfrm>
            <a:off x="9277502" y="3238805"/>
            <a:ext cx="8096098" cy="2857500"/>
          </a:xfrm>
          <a:prstGeom prst="roundRect">
            <a:avLst>
              <a:gd name="adj" fmla="val 1344"/>
            </a:avLst>
          </a:prstGeom>
          <a:solidFill>
            <a:srgbClr val="E5DBC4"/>
          </a:solidFill>
          <a:ln w="12700">
            <a:solidFill>
              <a:srgbClr val="FFFFFF">
                <a:alpha val="0"/>
              </a:srgbClr>
            </a:solidFill>
            <a:prstDash val="solid"/>
          </a:ln>
        </p:spPr>
      </p:sp>
      <p:sp>
        <p:nvSpPr>
          <p:cNvPr id="5" name="Shape 2"/>
          <p:cNvSpPr/>
          <p:nvPr/>
        </p:nvSpPr>
        <p:spPr>
          <a:xfrm>
            <a:off x="914400" y="6286500"/>
            <a:ext cx="8096098" cy="2857500"/>
          </a:xfrm>
          <a:prstGeom prst="roundRect">
            <a:avLst>
              <a:gd name="adj" fmla="val 1344"/>
            </a:avLst>
          </a:prstGeom>
          <a:solidFill>
            <a:srgbClr val="E5DBC4"/>
          </a:solidFill>
          <a:ln w="12700">
            <a:solidFill>
              <a:srgbClr val="FFFFFF">
                <a:alpha val="0"/>
              </a:srgbClr>
            </a:solidFill>
            <a:prstDash val="solid"/>
          </a:ln>
        </p:spPr>
      </p:sp>
      <p:sp>
        <p:nvSpPr>
          <p:cNvPr id="6" name="Shape 3"/>
          <p:cNvSpPr/>
          <p:nvPr/>
        </p:nvSpPr>
        <p:spPr>
          <a:xfrm>
            <a:off x="9277502" y="6286500"/>
            <a:ext cx="8096098" cy="2857500"/>
          </a:xfrm>
          <a:prstGeom prst="roundRect">
            <a:avLst>
              <a:gd name="adj" fmla="val 1344"/>
            </a:avLst>
          </a:prstGeom>
          <a:solidFill>
            <a:srgbClr val="1B1F25"/>
          </a:solidFill>
          <a:ln w="12700">
            <a:solidFill>
              <a:srgbClr val="FFFFFF">
                <a:alpha val="0"/>
              </a:srgbClr>
            </a:solidFill>
            <a:prstDash val="solid"/>
          </a:ln>
        </p:spPr>
      </p:sp>
      <p:pic>
        <p:nvPicPr>
          <p:cNvPr id="7" name="Image 0" descr="gen-dedup-d99210d678296f80e380ef1e2bb7baf4.png">    </p:cNvPr>
          <p:cNvPicPr>
            <a:picLocks noChangeAspect="1"/>
          </p:cNvPicPr>
          <p:nvPr/>
        </p:nvPicPr>
        <p:blipFill>
          <a:blip r:embed="rId1"/>
          <a:srcRect l="0" r="0" t="-401" b="-401"/>
          <a:stretch/>
        </p:blipFill>
        <p:spPr>
          <a:xfrm>
            <a:off x="914400" y="3238805"/>
            <a:ext cx="8096098" cy="57607"/>
          </a:xfrm>
          <a:prstGeom prst="rect">
            <a:avLst/>
          </a:prstGeom>
        </p:spPr>
      </p:pic>
      <p:pic>
        <p:nvPicPr>
          <p:cNvPr id="8" name="Image 1" descr="gen-dedup-e79f1b2628d7b72f899c930aeec3b5f9.png">    </p:cNvPr>
          <p:cNvPicPr>
            <a:picLocks noChangeAspect="1"/>
          </p:cNvPicPr>
          <p:nvPr/>
        </p:nvPicPr>
        <p:blipFill>
          <a:blip r:embed="rId2"/>
          <a:srcRect l="0" r="0" t="-401" b="-401"/>
          <a:stretch/>
        </p:blipFill>
        <p:spPr>
          <a:xfrm>
            <a:off x="9277502" y="3238805"/>
            <a:ext cx="8096098" cy="57607"/>
          </a:xfrm>
          <a:prstGeom prst="rect">
            <a:avLst/>
          </a:prstGeom>
        </p:spPr>
      </p:pic>
      <p:pic>
        <p:nvPicPr>
          <p:cNvPr id="9" name="Image 2" descr="gen-dedup-b4a923c0d924d168dbc427d15033072e.png">    </p:cNvPr>
          <p:cNvPicPr>
            <a:picLocks noChangeAspect="1"/>
          </p:cNvPicPr>
          <p:nvPr/>
        </p:nvPicPr>
        <p:blipFill>
          <a:blip r:embed="rId3"/>
          <a:srcRect l="0" r="0" t="-401" b="-401"/>
          <a:stretch/>
        </p:blipFill>
        <p:spPr>
          <a:xfrm>
            <a:off x="914400" y="6286500"/>
            <a:ext cx="8096098" cy="57607"/>
          </a:xfrm>
          <a:prstGeom prst="rect">
            <a:avLst/>
          </a:prstGeom>
        </p:spPr>
      </p:pic>
      <p:pic>
        <p:nvPicPr>
          <p:cNvPr id="10" name="Image 3" descr="gen-dedup-08a41556c6805be13d4d23e8211a4a2d.png">    </p:cNvPr>
          <p:cNvPicPr>
            <a:picLocks noChangeAspect="1"/>
          </p:cNvPicPr>
          <p:nvPr/>
        </p:nvPicPr>
        <p:blipFill>
          <a:blip r:embed="rId4"/>
          <a:srcRect l="0" r="0" t="-401" b="-401"/>
          <a:stretch/>
        </p:blipFill>
        <p:spPr>
          <a:xfrm>
            <a:off x="9277502" y="6286500"/>
            <a:ext cx="8096098" cy="57607"/>
          </a:xfrm>
          <a:prstGeom prst="rect">
            <a:avLst/>
          </a:prstGeom>
        </p:spPr>
      </p:pic>
      <p:sp>
        <p:nvSpPr>
          <p:cNvPr id="11" name="Text 4"/>
          <p:cNvSpPr txBox="1"/>
          <p:nvPr/>
        </p:nvSpPr>
        <p:spPr>
          <a:xfrm>
            <a:off x="1218895" y="3504895"/>
            <a:ext cx="7525512" cy="191110"/>
          </a:xfrm>
          <a:prstGeom prst="rect">
            <a:avLst/>
          </a:prstGeom>
          <a:noFill/>
          <a:ln/>
        </p:spPr>
        <p:txBody>
          <a:bodyPr wrap="none" lIns="0" tIns="0" rIns="0" bIns="0" rtlCol="0" anchor="ctr"/>
          <a:lstStyle/>
          <a:p>
            <a:pPr algn="l" indent="0" marL="0">
              <a:buNone/>
            </a:pPr>
            <a:r>
              <a:rPr lang="en-US" sz="1050" spc="189" kern="0" dirty="0">
                <a:solidFill>
                  <a:srgbClr val="B63A2A"/>
                </a:solidFill>
                <a:latin typeface="JetBrains Mono" pitchFamily="34" charset="0"/>
                <a:ea typeface="JetBrains Mono" pitchFamily="34" charset="-122"/>
                <a:cs typeface="JetBrains Mono" pitchFamily="34" charset="-120"/>
              </a:rPr>
              <a:t>境界 01 · 入力</a:t>
            </a:r>
            <a:endParaRPr lang="en-US" sz="1050" dirty="0"/>
          </a:p>
        </p:txBody>
      </p:sp>
      <p:sp>
        <p:nvSpPr>
          <p:cNvPr id="12" name="Text 5"/>
          <p:cNvSpPr txBox="1"/>
          <p:nvPr/>
        </p:nvSpPr>
        <p:spPr>
          <a:xfrm>
            <a:off x="1218895" y="3771900"/>
            <a:ext cx="7525512" cy="467258"/>
          </a:xfrm>
          <a:prstGeom prst="rect">
            <a:avLst/>
          </a:prstGeom>
          <a:noFill/>
          <a:ln/>
        </p:spPr>
        <p:txBody>
          <a:bodyPr wrap="none" lIns="0" tIns="0" rIns="0" bIns="0" rtlCol="0" anchor="ctr"/>
          <a:lstStyle/>
          <a:p>
            <a:pPr algn="l" indent="0" marL="0">
              <a:buNone/>
            </a:pPr>
            <a:r>
              <a:rPr lang="en-US" sz="2550" b="1" dirty="0">
                <a:solidFill>
                  <a:srgbClr val="211C13"/>
                </a:solidFill>
                <a:latin typeface="Zen Kaku Gothic Antique" pitchFamily="34" charset="0"/>
                <a:ea typeface="Zen Kaku Gothic Antique" pitchFamily="34" charset="-122"/>
                <a:cs typeface="Zen Kaku Gothic Antique" pitchFamily="34" charset="-120"/>
              </a:rPr>
              <a:t>値とコードを混ぜない</a:t>
            </a:r>
            <a:endParaRPr lang="en-US" sz="2550" dirty="0"/>
          </a:p>
        </p:txBody>
      </p:sp>
      <p:sp>
        <p:nvSpPr>
          <p:cNvPr id="13" name="Text 6"/>
          <p:cNvSpPr txBox="1"/>
          <p:nvPr/>
        </p:nvSpPr>
        <p:spPr>
          <a:xfrm>
            <a:off x="1218895" y="4335170"/>
            <a:ext cx="7525512" cy="694030"/>
          </a:xfrm>
          <a:prstGeom prst="rect">
            <a:avLst/>
          </a:prstGeom>
          <a:noFill/>
          <a:ln/>
        </p:spPr>
        <p:txBody>
          <a:bodyPr wrap="square" lIns="0" tIns="0" rIns="0" bIns="0" rtlCol="0" anchor="t"/>
          <a:lstStyle/>
          <a:p>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連結で SQL / シェル / HTML / 評価式を組み立てない。</a:t>
            </a:r>
            <a:pPr algn="l" indent="0" marL="0">
              <a:lnSpc>
                <a:spcPts val="2558"/>
              </a:lnSpc>
              <a:buNone/>
            </a:pPr>
            <a:endParaRPr lang="en-US" sz="1650" dirty="0"/>
          </a:p>
          <a:p>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識別子・式・並び順も、値と区別して扱う。</a:t>
            </a:r>
            <a:endParaRPr lang="en-US" sz="1650" dirty="0"/>
          </a:p>
        </p:txBody>
      </p:sp>
      <p:sp>
        <p:nvSpPr>
          <p:cNvPr id="14" name="Text 7"/>
          <p:cNvSpPr txBox="1"/>
          <p:nvPr/>
        </p:nvSpPr>
        <p:spPr>
          <a:xfrm>
            <a:off x="9581998" y="3504895"/>
            <a:ext cx="7525512" cy="191110"/>
          </a:xfrm>
          <a:prstGeom prst="rect">
            <a:avLst/>
          </a:prstGeom>
          <a:noFill/>
          <a:ln/>
        </p:spPr>
        <p:txBody>
          <a:bodyPr wrap="none" lIns="0" tIns="0" rIns="0" bIns="0" rtlCol="0" anchor="ctr"/>
          <a:lstStyle/>
          <a:p>
            <a:pPr algn="l" indent="0" marL="0">
              <a:buNone/>
            </a:pPr>
            <a:r>
              <a:rPr lang="en-US" sz="1050" spc="189" kern="0" dirty="0">
                <a:solidFill>
                  <a:srgbClr val="B4791F"/>
                </a:solidFill>
                <a:latin typeface="JetBrains Mono" pitchFamily="34" charset="0"/>
                <a:ea typeface="JetBrains Mono" pitchFamily="34" charset="-122"/>
                <a:cs typeface="JetBrains Mono" pitchFamily="34" charset="-120"/>
              </a:rPr>
              <a:t>境界 02 · レンダリング</a:t>
            </a:r>
            <a:endParaRPr lang="en-US" sz="1050" dirty="0"/>
          </a:p>
        </p:txBody>
      </p:sp>
      <p:sp>
        <p:nvSpPr>
          <p:cNvPr id="15" name="Text 8"/>
          <p:cNvSpPr txBox="1"/>
          <p:nvPr/>
        </p:nvSpPr>
        <p:spPr>
          <a:xfrm>
            <a:off x="9581998" y="3771900"/>
            <a:ext cx="7525512" cy="467258"/>
          </a:xfrm>
          <a:prstGeom prst="rect">
            <a:avLst/>
          </a:prstGeom>
          <a:noFill/>
          <a:ln/>
        </p:spPr>
        <p:txBody>
          <a:bodyPr wrap="none" lIns="0" tIns="0" rIns="0" bIns="0" rtlCol="0" anchor="ctr"/>
          <a:lstStyle/>
          <a:p>
            <a:pPr algn="l" indent="0" marL="0">
              <a:buNone/>
            </a:pPr>
            <a:r>
              <a:rPr lang="en-US" sz="2550" b="1" dirty="0">
                <a:solidFill>
                  <a:srgbClr val="211C13"/>
                </a:solidFill>
                <a:latin typeface="Zen Kaku Gothic Antique" pitchFamily="34" charset="0"/>
                <a:ea typeface="Zen Kaku Gothic Antique" pitchFamily="34" charset="-122"/>
                <a:cs typeface="Zen Kaku Gothic Antique" pitchFamily="34" charset="-120"/>
              </a:rPr>
              <a:t>HTMLとして入れる理由を言語化する</a:t>
            </a:r>
            <a:endParaRPr lang="en-US" sz="2550" dirty="0"/>
          </a:p>
        </p:txBody>
      </p:sp>
      <p:sp>
        <p:nvSpPr>
          <p:cNvPr id="16" name="Text 9"/>
          <p:cNvSpPr txBox="1"/>
          <p:nvPr/>
        </p:nvSpPr>
        <p:spPr>
          <a:xfrm>
            <a:off x="9581998" y="4335170"/>
            <a:ext cx="7525512" cy="694030"/>
          </a:xfrm>
          <a:prstGeom prst="rect">
            <a:avLst/>
          </a:prstGeom>
          <a:noFill/>
          <a:ln/>
        </p:spPr>
        <p:txBody>
          <a:bodyPr wrap="square" lIns="0" tIns="0" rIns="0" bIns="0" rtlCol="0" anchor="t"/>
          <a:lstStyle/>
          <a:p>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文字列を入れるなら textContent を既定に。</a:t>
            </a:r>
            <a:pPr algn="l" indent="0" marL="0">
              <a:lnSpc>
                <a:spcPts val="2558"/>
              </a:lnSpc>
              <a:buNone/>
            </a:pPr>
            <a:endParaRPr lang="en-US" sz="1650" dirty="0"/>
          </a:p>
          <a:p>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HTML を許すなら場所・理由・ライブラリ・許可するタグを限定。</a:t>
            </a:r>
            <a:endParaRPr lang="en-US" sz="1650" dirty="0"/>
          </a:p>
        </p:txBody>
      </p:sp>
      <p:sp>
        <p:nvSpPr>
          <p:cNvPr id="17" name="Text 10"/>
          <p:cNvSpPr txBox="1"/>
          <p:nvPr/>
        </p:nvSpPr>
        <p:spPr>
          <a:xfrm>
            <a:off x="1218895" y="6553505"/>
            <a:ext cx="7525512" cy="191110"/>
          </a:xfrm>
          <a:prstGeom prst="rect">
            <a:avLst/>
          </a:prstGeom>
          <a:noFill/>
          <a:ln/>
        </p:spPr>
        <p:txBody>
          <a:bodyPr wrap="none" lIns="0" tIns="0" rIns="0" bIns="0" rtlCol="0" anchor="ctr"/>
          <a:lstStyle/>
          <a:p>
            <a:pPr algn="l" indent="0" marL="0">
              <a:buNone/>
            </a:pPr>
            <a:r>
              <a:rPr lang="en-US" sz="1050" spc="189" kern="0" dirty="0">
                <a:solidFill>
                  <a:srgbClr val="2D5D5A"/>
                </a:solidFill>
                <a:latin typeface="JetBrains Mono" pitchFamily="34" charset="0"/>
                <a:ea typeface="JetBrains Mono" pitchFamily="34" charset="-122"/>
                <a:cs typeface="JetBrains Mono" pitchFamily="34" charset="-120"/>
              </a:rPr>
              <a:t>境界 03 · 認可</a:t>
            </a:r>
            <a:endParaRPr lang="en-US" sz="1050" dirty="0"/>
          </a:p>
        </p:txBody>
      </p:sp>
      <p:sp>
        <p:nvSpPr>
          <p:cNvPr id="18" name="Text 11"/>
          <p:cNvSpPr txBox="1"/>
          <p:nvPr/>
        </p:nvSpPr>
        <p:spPr>
          <a:xfrm>
            <a:off x="1218895" y="6819595"/>
            <a:ext cx="7525512" cy="467258"/>
          </a:xfrm>
          <a:prstGeom prst="rect">
            <a:avLst/>
          </a:prstGeom>
          <a:noFill/>
          <a:ln/>
        </p:spPr>
        <p:txBody>
          <a:bodyPr wrap="none" lIns="0" tIns="0" rIns="0" bIns="0" rtlCol="0" anchor="ctr"/>
          <a:lstStyle/>
          <a:p>
            <a:pPr algn="l" indent="0" marL="0">
              <a:buNone/>
            </a:pPr>
            <a:r>
              <a:rPr lang="en-US" sz="2550" b="1" dirty="0">
                <a:solidFill>
                  <a:srgbClr val="211C13"/>
                </a:solidFill>
                <a:latin typeface="Zen Kaku Gothic Antique" pitchFamily="34" charset="0"/>
                <a:ea typeface="Zen Kaku Gothic Antique" pitchFamily="34" charset="-122"/>
                <a:cs typeface="Zen Kaku Gothic Antique" pitchFamily="34" charset="-120"/>
              </a:rPr>
              <a:t>リクエスト単位で、所有者を判定する</a:t>
            </a:r>
            <a:endParaRPr lang="en-US" sz="2550" dirty="0"/>
          </a:p>
        </p:txBody>
      </p:sp>
      <p:sp>
        <p:nvSpPr>
          <p:cNvPr id="19" name="Text 12"/>
          <p:cNvSpPr txBox="1"/>
          <p:nvPr/>
        </p:nvSpPr>
        <p:spPr>
          <a:xfrm>
            <a:off x="1218895" y="7383780"/>
            <a:ext cx="7525512" cy="694030"/>
          </a:xfrm>
          <a:prstGeom prst="rect">
            <a:avLst/>
          </a:prstGeom>
          <a:noFill/>
          <a:ln/>
        </p:spPr>
        <p:txBody>
          <a:bodyPr wrap="square" lIns="0" tIns="0" rIns="0" bIns="0" rtlCol="0" anchor="t"/>
          <a:lstStyle/>
          <a:p>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パスパラメータ・ボディ・検索条件の値が本人由来かを、</a:t>
            </a:r>
            <a:pPr algn="l" indent="0" marL="0">
              <a:lnSpc>
                <a:spcPts val="2558"/>
              </a:lnSpc>
              <a:buNone/>
            </a:pPr>
            <a:endParaRPr lang="en-US" sz="1650" dirty="0"/>
          </a:p>
          <a:p>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サーバー側で突き合わせる。可能なら DB の境界でも同じことを。</a:t>
            </a:r>
            <a:endParaRPr lang="en-US" sz="1650" dirty="0"/>
          </a:p>
        </p:txBody>
      </p:sp>
      <p:sp>
        <p:nvSpPr>
          <p:cNvPr id="20" name="Text 13"/>
          <p:cNvSpPr txBox="1"/>
          <p:nvPr/>
        </p:nvSpPr>
        <p:spPr>
          <a:xfrm>
            <a:off x="9581998" y="6553505"/>
            <a:ext cx="7525512" cy="191110"/>
          </a:xfrm>
          <a:prstGeom prst="rect">
            <a:avLst/>
          </a:prstGeom>
          <a:noFill/>
          <a:ln/>
        </p:spPr>
        <p:txBody>
          <a:bodyPr wrap="none" lIns="0" tIns="0" rIns="0" bIns="0" rtlCol="0" anchor="ctr"/>
          <a:lstStyle/>
          <a:p>
            <a:pPr algn="l" indent="0" marL="0">
              <a:buNone/>
            </a:pPr>
            <a:r>
              <a:rPr lang="en-US" sz="1050" spc="189" kern="0" dirty="0">
                <a:solidFill>
                  <a:srgbClr val="5BAA85"/>
                </a:solidFill>
                <a:latin typeface="JetBrains Mono" pitchFamily="34" charset="0"/>
                <a:ea typeface="JetBrains Mono" pitchFamily="34" charset="-122"/>
                <a:cs typeface="JetBrains Mono" pitchFamily="34" charset="-120"/>
              </a:rPr>
              <a:t>境界 04 · 観測可能性</a:t>
            </a:r>
            <a:endParaRPr lang="en-US" sz="1050" dirty="0"/>
          </a:p>
        </p:txBody>
      </p:sp>
      <p:sp>
        <p:nvSpPr>
          <p:cNvPr id="21" name="Text 14"/>
          <p:cNvSpPr txBox="1"/>
          <p:nvPr/>
        </p:nvSpPr>
        <p:spPr>
          <a:xfrm>
            <a:off x="9581998" y="6819595"/>
            <a:ext cx="7525512" cy="467258"/>
          </a:xfrm>
          <a:prstGeom prst="rect">
            <a:avLst/>
          </a:prstGeom>
          <a:noFill/>
          <a:ln/>
        </p:spPr>
        <p:txBody>
          <a:bodyPr wrap="none" lIns="0" tIns="0" rIns="0" bIns="0" rtlCol="0" anchor="ctr"/>
          <a:lstStyle/>
          <a:p>
            <a:pPr algn="l" indent="0" marL="0">
              <a:buNone/>
            </a:pPr>
            <a:r>
              <a:rPr lang="en-US" sz="2550" b="1" dirty="0">
                <a:solidFill>
                  <a:srgbClr val="F5EFDD"/>
                </a:solidFill>
                <a:latin typeface="Zen Kaku Gothic Antique" pitchFamily="34" charset="0"/>
                <a:ea typeface="Zen Kaku Gothic Antique" pitchFamily="34" charset="-122"/>
                <a:cs typeface="Zen Kaku Gothic Antique" pitchFamily="34" charset="-120"/>
              </a:rPr>
              <a:t>動作の違いを、観測値で確認する</a:t>
            </a:r>
            <a:endParaRPr lang="en-US" sz="2550" dirty="0"/>
          </a:p>
        </p:txBody>
      </p:sp>
      <p:sp>
        <p:nvSpPr>
          <p:cNvPr id="22" name="Text 15"/>
          <p:cNvSpPr txBox="1"/>
          <p:nvPr/>
        </p:nvSpPr>
        <p:spPr>
          <a:xfrm>
            <a:off x="9581998" y="7383780"/>
            <a:ext cx="7525512" cy="694030"/>
          </a:xfrm>
          <a:prstGeom prst="rect">
            <a:avLst/>
          </a:prstGeom>
          <a:noFill/>
          <a:ln/>
        </p:spPr>
        <p:txBody>
          <a:bodyPr wrap="square" lIns="0" tIns="0" rIns="0" bIns="0" rtlCol="0" anchor="t"/>
          <a:lstStyle/>
          <a:p>
            <a:pPr algn="l" indent="0" marL="0">
              <a:lnSpc>
                <a:spcPts val="2558"/>
              </a:lnSpc>
              <a:buNone/>
            </a:pPr>
            <a:r>
              <a:rPr lang="en-US" sz="1650" dirty="0">
                <a:solidFill>
                  <a:srgbClr val="ECE4D2"/>
                </a:solidFill>
                <a:latin typeface="Noto Sans JP" pitchFamily="34" charset="0"/>
                <a:ea typeface="Noto Sans JP" pitchFamily="34" charset="-122"/>
                <a:cs typeface="Noto Sans JP" pitchFamily="34" charset="-120"/>
              </a:rPr>
              <a:t>「同じ入力で挙動が変わる」ことを確認する項目を回帰スイートへ。</a:t>
            </a:r>
            <a:pPr algn="l" indent="0" marL="0">
              <a:lnSpc>
                <a:spcPts val="2558"/>
              </a:lnSpc>
              <a:buNone/>
            </a:pPr>
            <a:endParaRPr lang="en-US" sz="1650" dirty="0"/>
          </a:p>
          <a:p>
            <a:pPr algn="l" indent="0" marL="0">
              <a:lnSpc>
                <a:spcPts val="2558"/>
              </a:lnSpc>
              <a:buNone/>
            </a:pPr>
            <a:r>
              <a:rPr lang="en-US" sz="1650" dirty="0">
                <a:solidFill>
                  <a:srgbClr val="ECE4D2"/>
                </a:solidFill>
                <a:latin typeface="Noto Sans JP" pitchFamily="34" charset="0"/>
                <a:ea typeface="Noto Sans JP" pitchFamily="34" charset="-122"/>
                <a:cs typeface="Noto Sans JP" pitchFamily="34" charset="-120"/>
              </a:rPr>
              <a:t>件数・出力の有無・要素の種類を観点にする。</a:t>
            </a:r>
            <a:endParaRPr lang="en-US" sz="1650" dirty="0"/>
          </a:p>
        </p:txBody>
      </p:sp>
      <p:pic>
        <p:nvPicPr>
          <p:cNvPr id="23" name="Image 4" descr="gen-dedup-ff3b843c62efd2578b331bdfc9bb7c8f.png">    </p:cNvPr>
          <p:cNvPicPr>
            <a:picLocks noChangeAspect="1"/>
          </p:cNvPicPr>
          <p:nvPr/>
        </p:nvPicPr>
        <p:blipFill>
          <a:blip r:embed="rId5"/>
          <a:srcRect l="-2083" r="-2083" t="0" b="0"/>
          <a:stretch/>
        </p:blipFill>
        <p:spPr>
          <a:xfrm>
            <a:off x="914400" y="9334195"/>
            <a:ext cx="16459200" cy="9144"/>
          </a:xfrm>
          <a:prstGeom prst="rect">
            <a:avLst/>
          </a:prstGeom>
        </p:spPr>
      </p:pic>
      <p:sp>
        <p:nvSpPr>
          <p:cNvPr id="24" name="Text 16"/>
          <p:cNvSpPr txBox="1"/>
          <p:nvPr/>
        </p:nvSpPr>
        <p:spPr>
          <a:xfrm>
            <a:off x="914400" y="9562795"/>
            <a:ext cx="12382805" cy="228600"/>
          </a:xfrm>
          <a:prstGeom prst="rect">
            <a:avLst/>
          </a:prstGeom>
          <a:noFill/>
          <a:ln/>
        </p:spPr>
        <p:txBody>
          <a:bodyPr wrap="none" lIns="0" tIns="0" rIns="0" bIns="0" rtlCol="0" anchor="ctr"/>
          <a:lstStyle/>
          <a:p>
            <a:pPr algn="l" indent="0" marL="0">
              <a:buNone/>
            </a:pPr>
            <a:r>
              <a:rPr lang="en-US" sz="1200" spc="72" kern="0" dirty="0">
                <a:solidFill>
                  <a:srgbClr val="5A4F3F"/>
                </a:solidFill>
                <a:latin typeface="JetBrains Mono" pitchFamily="34" charset="0"/>
                <a:ea typeface="JetBrains Mono" pitchFamily="34" charset="-122"/>
                <a:cs typeface="JetBrains Mono" pitchFamily="34" charset="-120"/>
              </a:rPr>
              <a:t>4つの境界で別々のチェックリスト言語を持つと、議論が混ざらない</a:t>
            </a:r>
            <a:endParaRPr lang="en-US" sz="1200" dirty="0"/>
          </a:p>
        </p:txBody>
      </p:sp>
      <p:sp>
        <p:nvSpPr>
          <p:cNvPr id="25" name="Text 17"/>
          <p:cNvSpPr txBox="1"/>
          <p:nvPr/>
        </p:nvSpPr>
        <p:spPr>
          <a:xfrm>
            <a:off x="15468905" y="9562795"/>
            <a:ext cx="1905610" cy="200254"/>
          </a:xfrm>
          <a:prstGeom prst="rect">
            <a:avLst/>
          </a:prstGeom>
          <a:noFill/>
          <a:ln/>
        </p:spPr>
        <p:txBody>
          <a:bodyPr wrap="none" lIns="0" tIns="0" rIns="0" bIns="0" rtlCol="0" anchor="ctr"/>
          <a:lstStyle/>
          <a:p>
            <a:pPr algn="r" indent="0" marL="0">
              <a:buNone/>
            </a:pPr>
            <a:r>
              <a:rPr lang="en-US" sz="1200" spc="72" kern="0" dirty="0">
                <a:solidFill>
                  <a:srgbClr val="5A4F3F"/>
                </a:solidFill>
                <a:latin typeface="JetBrains Mono" pitchFamily="34" charset="0"/>
                <a:ea typeface="JetBrains Mono" pitchFamily="34" charset="-122"/>
                <a:cs typeface="JetBrains Mono" pitchFamily="34" charset="-120"/>
              </a:rPr>
              <a:t>28 / 32</a:t>
            </a:r>
            <a:endParaRPr lang="en-US" sz="1200" dirty="0"/>
          </a:p>
        </p:txBody>
      </p:sp>
      <p:sp>
        <p:nvSpPr>
          <p:cNvPr id="26" name="Text 18"/>
          <p:cNvSpPr txBox="1"/>
          <p:nvPr/>
        </p:nvSpPr>
        <p:spPr>
          <a:xfrm>
            <a:off x="914400" y="838505"/>
            <a:ext cx="13335610" cy="219456"/>
          </a:xfrm>
          <a:prstGeom prst="rect">
            <a:avLst/>
          </a:prstGeom>
          <a:noFill/>
          <a:ln/>
        </p:spPr>
        <p:txBody>
          <a:bodyPr wrap="none" lIns="0" tIns="0" rIns="0" bIns="0" rtlCol="0" anchor="ctr"/>
          <a:lstStyle/>
          <a:p>
            <a:pPr algn="l" indent="0" marL="0">
              <a:buNone/>
            </a:pPr>
            <a:r>
              <a:rPr lang="en-US" sz="1350" spc="324" kern="0" dirty="0">
                <a:solidFill>
                  <a:srgbClr val="211C13"/>
                </a:solidFill>
                <a:latin typeface="JetBrains Mono" pitchFamily="34" charset="0"/>
                <a:ea typeface="JetBrains Mono" pitchFamily="34" charset="-122"/>
                <a:cs typeface="JetBrains Mono" pitchFamily="34" charset="-120"/>
              </a:rPr>
              <a:t>28 · Carry back</a:t>
            </a:r>
            <a:endParaRPr lang="en-US" sz="1350" dirty="0"/>
          </a:p>
        </p:txBody>
      </p:sp>
      <p:sp>
        <p:nvSpPr>
          <p:cNvPr id="27" name="Text 19"/>
          <p:cNvSpPr txBox="1"/>
          <p:nvPr/>
        </p:nvSpPr>
        <p:spPr>
          <a:xfrm>
            <a:off x="914400" y="1152144"/>
            <a:ext cx="13335610" cy="848563"/>
          </a:xfrm>
          <a:prstGeom prst="rect">
            <a:avLst/>
          </a:prstGeom>
          <a:noFill/>
          <a:ln/>
        </p:spPr>
        <p:txBody>
          <a:bodyPr wrap="none" lIns="0" tIns="0" rIns="0" bIns="0" rtlCol="0" anchor="ctr"/>
          <a:lstStyle/>
          <a:p>
            <a:pPr algn="l" indent="0" marL="0">
              <a:buNone/>
            </a:pPr>
            <a:r>
              <a:rPr lang="en-US" sz="6300" b="1" spc="-126" kern="0" dirty="0">
                <a:solidFill>
                  <a:srgbClr val="211C13"/>
                </a:solidFill>
                <a:latin typeface="Zen Kaku Gothic Antique" pitchFamily="34" charset="0"/>
                <a:ea typeface="Zen Kaku Gothic Antique" pitchFamily="34" charset="-122"/>
                <a:cs typeface="Zen Kaku Gothic Antique" pitchFamily="34" charset="-120"/>
              </a:rPr>
              <a:t>持ち帰り：4つの境界</a:t>
            </a:r>
            <a:endParaRPr lang="en-US" sz="6300" dirty="0"/>
          </a:p>
        </p:txBody>
      </p:sp>
      <p:sp>
        <p:nvSpPr>
          <p:cNvPr id="28" name="Text 20"/>
          <p:cNvSpPr txBox="1"/>
          <p:nvPr/>
        </p:nvSpPr>
        <p:spPr>
          <a:xfrm>
            <a:off x="914400" y="2125980"/>
            <a:ext cx="13335610" cy="314554"/>
          </a:xfrm>
          <a:prstGeom prst="rect">
            <a:avLst/>
          </a:prstGeom>
          <a:noFill/>
          <a:ln/>
        </p:spPr>
        <p:txBody>
          <a:bodyPr wrap="none" lIns="0" tIns="0" rIns="0" bIns="0" rtlCol="0" anchor="ctr"/>
          <a:lstStyle/>
          <a:p>
            <a:pPr algn="l" indent="0" marL="0">
              <a:buNone/>
            </a:pPr>
            <a:r>
              <a:rPr lang="en-US" sz="1650" dirty="0">
                <a:solidFill>
                  <a:srgbClr val="5A4F3F"/>
                </a:solidFill>
                <a:latin typeface="Noto Sans JP" pitchFamily="34" charset="0"/>
                <a:ea typeface="Noto Sans JP" pitchFamily="34" charset="-122"/>
                <a:cs typeface="Noto Sans JP" pitchFamily="34" charset="-120"/>
              </a:rPr>
              <a:t>設計・実装・レビュー・テストで、それぞれ別の観点として置いておきます。</a:t>
            </a:r>
            <a:endParaRPr lang="en-US" sz="16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FE7D4"/>
        </a:solidFill>
      </p:bgPr>
    </p:bg>
    <p:spTree>
      <p:nvGrpSpPr>
        <p:cNvPr id="1" name=""/>
        <p:cNvGrpSpPr/>
        <p:nvPr/>
      </p:nvGrpSpPr>
      <p:grpSpPr>
        <a:xfrm>
          <a:off x="0" y="0"/>
          <a:ext cx="0" cy="0"/>
          <a:chOff x="0" y="0"/>
          <a:chExt cx="0" cy="0"/>
        </a:xfrm>
      </p:grpSpPr>
      <p:sp>
        <p:nvSpPr>
          <p:cNvPr id="3" name="Shape 0"/>
          <p:cNvSpPr/>
          <p:nvPr/>
        </p:nvSpPr>
        <p:spPr>
          <a:xfrm>
            <a:off x="914400" y="2667305"/>
            <a:ext cx="5333695" cy="5333695"/>
          </a:xfrm>
          <a:prstGeom prst="roundRect">
            <a:avLst>
              <a:gd name="adj" fmla="val 720"/>
            </a:avLst>
          </a:prstGeom>
          <a:solidFill>
            <a:srgbClr val="E5DBC4"/>
          </a:solidFill>
          <a:ln w="12700">
            <a:solidFill>
              <a:srgbClr val="FFFFFF">
                <a:alpha val="0"/>
              </a:srgbClr>
            </a:solidFill>
            <a:prstDash val="solid"/>
          </a:ln>
        </p:spPr>
      </p:sp>
      <p:sp>
        <p:nvSpPr>
          <p:cNvPr id="4" name="Shape 1"/>
          <p:cNvSpPr/>
          <p:nvPr/>
        </p:nvSpPr>
        <p:spPr>
          <a:xfrm>
            <a:off x="6476695" y="2667305"/>
            <a:ext cx="5333695" cy="5333695"/>
          </a:xfrm>
          <a:prstGeom prst="roundRect">
            <a:avLst>
              <a:gd name="adj" fmla="val 720"/>
            </a:avLst>
          </a:prstGeom>
          <a:solidFill>
            <a:srgbClr val="E5DBC4"/>
          </a:solidFill>
          <a:ln w="12700">
            <a:solidFill>
              <a:srgbClr val="FFFFFF">
                <a:alpha val="0"/>
              </a:srgbClr>
            </a:solidFill>
            <a:prstDash val="solid"/>
          </a:ln>
        </p:spPr>
      </p:sp>
      <p:sp>
        <p:nvSpPr>
          <p:cNvPr id="5" name="Shape 2"/>
          <p:cNvSpPr/>
          <p:nvPr/>
        </p:nvSpPr>
        <p:spPr>
          <a:xfrm>
            <a:off x="12039905" y="2667305"/>
            <a:ext cx="5333695" cy="5333695"/>
          </a:xfrm>
          <a:prstGeom prst="roundRect">
            <a:avLst>
              <a:gd name="adj" fmla="val 720"/>
            </a:avLst>
          </a:prstGeom>
          <a:solidFill>
            <a:srgbClr val="1B1F25"/>
          </a:solidFill>
          <a:ln w="12700">
            <a:solidFill>
              <a:srgbClr val="FFFFFF">
                <a:alpha val="0"/>
              </a:srgbClr>
            </a:solidFill>
            <a:prstDash val="solid"/>
          </a:ln>
        </p:spPr>
      </p:sp>
      <p:sp>
        <p:nvSpPr>
          <p:cNvPr id="6" name="Shape 3"/>
          <p:cNvSpPr/>
          <p:nvPr/>
        </p:nvSpPr>
        <p:spPr>
          <a:xfrm>
            <a:off x="914400" y="8287207"/>
            <a:ext cx="16459200" cy="857707"/>
          </a:xfrm>
          <a:prstGeom prst="roundRect">
            <a:avLst>
              <a:gd name="adj" fmla="val 4478"/>
            </a:avLst>
          </a:prstGeom>
          <a:solidFill>
            <a:srgbClr val="E5DBC4"/>
          </a:solidFill>
          <a:ln w="12700">
            <a:solidFill>
              <a:srgbClr val="FFFFFF">
                <a:alpha val="0"/>
              </a:srgbClr>
            </a:solidFill>
            <a:prstDash val="solid"/>
          </a:ln>
        </p:spPr>
      </p:sp>
      <p:sp>
        <p:nvSpPr>
          <p:cNvPr id="7" name="Text 4"/>
          <p:cNvSpPr txBox="1"/>
          <p:nvPr/>
        </p:nvSpPr>
        <p:spPr>
          <a:xfrm>
            <a:off x="1218895" y="2933395"/>
            <a:ext cx="4724705" cy="600761"/>
          </a:xfrm>
          <a:prstGeom prst="rect">
            <a:avLst/>
          </a:prstGeom>
          <a:noFill/>
          <a:ln/>
        </p:spPr>
        <p:txBody>
          <a:bodyPr wrap="none" lIns="0" tIns="0" rIns="0" bIns="0" rtlCol="0" anchor="ctr"/>
          <a:lstStyle/>
          <a:p>
            <a:pPr algn="l" indent="0" marL="0">
              <a:buNone/>
            </a:pPr>
            <a:r>
              <a:rPr lang="en-US" sz="3600" b="1" spc="144" kern="0" dirty="0">
                <a:solidFill>
                  <a:srgbClr val="B63A2A"/>
                </a:solidFill>
                <a:latin typeface="JetBrains Mono" pitchFamily="34" charset="0"/>
                <a:ea typeface="JetBrains Mono" pitchFamily="34" charset="-122"/>
                <a:cs typeface="JetBrains Mono" pitchFamily="34" charset="-120"/>
              </a:rPr>
              <a:t>01</a:t>
            </a:r>
            <a:endParaRPr lang="en-US" sz="3600" dirty="0"/>
          </a:p>
        </p:txBody>
      </p:sp>
      <p:sp>
        <p:nvSpPr>
          <p:cNvPr id="8" name="Text 5"/>
          <p:cNvSpPr txBox="1"/>
          <p:nvPr/>
        </p:nvSpPr>
        <p:spPr>
          <a:xfrm>
            <a:off x="1218895" y="3610051"/>
            <a:ext cx="4724705" cy="810158"/>
          </a:xfrm>
          <a:prstGeom prst="rect">
            <a:avLst/>
          </a:prstGeom>
          <a:noFill/>
          <a:ln/>
        </p:spPr>
        <p:txBody>
          <a:bodyPr wrap="square" lIns="0" tIns="0" rIns="0" bIns="0" rtlCol="0" anchor="t"/>
          <a:lstStyle/>
          <a:p>
            <a:pPr algn="l" indent="0" marL="0">
              <a:lnSpc>
                <a:spcPct val="125000"/>
              </a:lnSpc>
              <a:buNone/>
            </a:pPr>
            <a:r>
              <a:rPr lang="en-US" sz="2550" b="1" dirty="0">
                <a:solidFill>
                  <a:srgbClr val="211C13"/>
                </a:solidFill>
                <a:latin typeface="Zen Kaku Gothic Antique" pitchFamily="34" charset="0"/>
                <a:ea typeface="Zen Kaku Gothic Antique" pitchFamily="34" charset="-122"/>
                <a:cs typeface="Zen Kaku Gothic Antique" pitchFamily="34" charset="-120"/>
              </a:rPr>
              <a:t>値とコードは、</a:t>
            </a:r>
            <a:pPr algn="l" indent="0" marL="0">
              <a:lnSpc>
                <a:spcPct val="125000"/>
              </a:lnSpc>
              <a:buNone/>
            </a:pPr>
            <a:endParaRPr lang="en-US" sz="2550" dirty="0"/>
          </a:p>
          <a:p>
            <a:pPr algn="l" indent="0" marL="0">
              <a:lnSpc>
                <a:spcPct val="125000"/>
              </a:lnSpc>
              <a:buNone/>
            </a:pPr>
            <a:r>
              <a:rPr lang="en-US" sz="2550" b="1" dirty="0">
                <a:solidFill>
                  <a:srgbClr val="211C13"/>
                </a:solidFill>
                <a:latin typeface="Zen Kaku Gothic Antique" pitchFamily="34" charset="0"/>
                <a:ea typeface="Zen Kaku Gothic Antique" pitchFamily="34" charset="-122"/>
                <a:cs typeface="Zen Kaku Gothic Antique" pitchFamily="34" charset="-120"/>
              </a:rPr>
              <a:t>混ぜない。</a:t>
            </a:r>
            <a:endParaRPr lang="en-US" sz="2550" dirty="0"/>
          </a:p>
        </p:txBody>
      </p:sp>
      <p:sp>
        <p:nvSpPr>
          <p:cNvPr id="9" name="Text 6"/>
          <p:cNvSpPr txBox="1"/>
          <p:nvPr/>
        </p:nvSpPr>
        <p:spPr>
          <a:xfrm>
            <a:off x="1218895" y="4611319"/>
            <a:ext cx="4724705" cy="1342339"/>
          </a:xfrm>
          <a:prstGeom prst="rect">
            <a:avLst/>
          </a:prstGeom>
          <a:noFill/>
          <a:ln/>
        </p:spPr>
        <p:txBody>
          <a:bodyPr wrap="square" lIns="0" tIns="0" rIns="0" bIns="0" rtlCol="0" anchor="t"/>
          <a:lstStyle/>
          <a:p>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連結で組み立てないのは SQL だけに限らず、シェル呼び出し・シェル</a:t>
            </a:r>
            <a:pPr algn="l" indent="0" marL="0">
              <a:lnSpc>
                <a:spcPts val="2558"/>
              </a:lnSpc>
              <a:buNone/>
            </a:pPr>
            <a:endParaRPr lang="en-US" sz="1650" dirty="0"/>
          </a:p>
          <a:p>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組み立て、HTML への挿入、識別子として組み立てる箇所すべてに通じる。</a:t>
            </a:r>
            <a:endParaRPr lang="en-US" sz="1650" dirty="0"/>
          </a:p>
        </p:txBody>
      </p:sp>
      <p:sp>
        <p:nvSpPr>
          <p:cNvPr id="10" name="Text 7"/>
          <p:cNvSpPr txBox="1"/>
          <p:nvPr/>
        </p:nvSpPr>
        <p:spPr>
          <a:xfrm>
            <a:off x="6782105" y="2933395"/>
            <a:ext cx="4724705" cy="600761"/>
          </a:xfrm>
          <a:prstGeom prst="rect">
            <a:avLst/>
          </a:prstGeom>
          <a:noFill/>
          <a:ln/>
        </p:spPr>
        <p:txBody>
          <a:bodyPr wrap="none" lIns="0" tIns="0" rIns="0" bIns="0" rtlCol="0" anchor="ctr"/>
          <a:lstStyle/>
          <a:p>
            <a:pPr algn="l" indent="0" marL="0">
              <a:buNone/>
            </a:pPr>
            <a:r>
              <a:rPr lang="en-US" sz="3600" b="1" spc="144" kern="0" dirty="0">
                <a:solidFill>
                  <a:srgbClr val="B4791F"/>
                </a:solidFill>
                <a:latin typeface="JetBrains Mono" pitchFamily="34" charset="0"/>
                <a:ea typeface="JetBrains Mono" pitchFamily="34" charset="-122"/>
                <a:cs typeface="JetBrains Mono" pitchFamily="34" charset="-120"/>
              </a:rPr>
              <a:t>02</a:t>
            </a:r>
            <a:endParaRPr lang="en-US" sz="3600" dirty="0"/>
          </a:p>
        </p:txBody>
      </p:sp>
      <p:sp>
        <p:nvSpPr>
          <p:cNvPr id="11" name="Text 8"/>
          <p:cNvSpPr txBox="1"/>
          <p:nvPr/>
        </p:nvSpPr>
        <p:spPr>
          <a:xfrm>
            <a:off x="6782105" y="3610051"/>
            <a:ext cx="4724705" cy="810158"/>
          </a:xfrm>
          <a:prstGeom prst="rect">
            <a:avLst/>
          </a:prstGeom>
          <a:noFill/>
          <a:ln/>
        </p:spPr>
        <p:txBody>
          <a:bodyPr wrap="square" lIns="0" tIns="0" rIns="0" bIns="0" rtlCol="0" anchor="t"/>
          <a:lstStyle/>
          <a:p>
            <a:pPr algn="l" indent="0" marL="0">
              <a:lnSpc>
                <a:spcPct val="125000"/>
              </a:lnSpc>
              <a:buNone/>
            </a:pPr>
            <a:r>
              <a:rPr lang="en-US" sz="2550" b="1" dirty="0">
                <a:solidFill>
                  <a:srgbClr val="211C13"/>
                </a:solidFill>
                <a:latin typeface="Zen Kaku Gothic Antique" pitchFamily="34" charset="0"/>
                <a:ea typeface="Zen Kaku Gothic Antique" pitchFamily="34" charset="-122"/>
                <a:cs typeface="Zen Kaku Gothic Antique" pitchFamily="34" charset="-120"/>
              </a:rPr>
              <a:t>認証された ≠</a:t>
            </a:r>
            <a:pPr algn="l" indent="0" marL="0">
              <a:lnSpc>
                <a:spcPct val="125000"/>
              </a:lnSpc>
              <a:buNone/>
            </a:pPr>
            <a:endParaRPr lang="en-US" sz="2550" dirty="0"/>
          </a:p>
          <a:p>
            <a:pPr algn="l" indent="0" marL="0">
              <a:lnSpc>
                <a:spcPct val="125000"/>
              </a:lnSpc>
              <a:buNone/>
            </a:pPr>
            <a:r>
              <a:rPr lang="en-US" sz="2550" b="1" dirty="0">
                <a:solidFill>
                  <a:srgbClr val="211C13"/>
                </a:solidFill>
                <a:latin typeface="Zen Kaku Gothic Antique" pitchFamily="34" charset="0"/>
                <a:ea typeface="Zen Kaku Gothic Antique" pitchFamily="34" charset="-122"/>
                <a:cs typeface="Zen Kaku Gothic Antique" pitchFamily="34" charset="-120"/>
              </a:rPr>
              <a:t>認可された、ではない。</a:t>
            </a:r>
            <a:endParaRPr lang="en-US" sz="2550" dirty="0"/>
          </a:p>
        </p:txBody>
      </p:sp>
      <p:sp>
        <p:nvSpPr>
          <p:cNvPr id="12" name="Text 9"/>
          <p:cNvSpPr txBox="1"/>
          <p:nvPr/>
        </p:nvSpPr>
        <p:spPr>
          <a:xfrm>
            <a:off x="6782105" y="4611319"/>
            <a:ext cx="4724705" cy="1342339"/>
          </a:xfrm>
          <a:prstGeom prst="rect">
            <a:avLst/>
          </a:prstGeom>
          <a:noFill/>
          <a:ln/>
        </p:spPr>
        <p:txBody>
          <a:bodyPr wrap="square" lIns="0" tIns="0" rIns="0" bIns="0" rtlCol="0" anchor="t"/>
          <a:lstStyle/>
          <a:p>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ログインユーザーだからといって、リクエスト単位で所有者かどうかまで</a:t>
            </a:r>
            <a:pPr algn="l" indent="0" marL="0">
              <a:lnSpc>
                <a:spcPts val="2558"/>
              </a:lnSpc>
              <a:buNone/>
            </a:pPr>
            <a:endParaRPr lang="en-US" sz="1650" dirty="0"/>
          </a:p>
          <a:p>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判定したわけではない。所有者チェックは別問題。</a:t>
            </a:r>
            <a:endParaRPr lang="en-US" sz="1650" dirty="0"/>
          </a:p>
        </p:txBody>
      </p:sp>
      <p:sp>
        <p:nvSpPr>
          <p:cNvPr id="13" name="Text 10"/>
          <p:cNvSpPr txBox="1"/>
          <p:nvPr/>
        </p:nvSpPr>
        <p:spPr>
          <a:xfrm>
            <a:off x="12344400" y="2933395"/>
            <a:ext cx="4724705" cy="600761"/>
          </a:xfrm>
          <a:prstGeom prst="rect">
            <a:avLst/>
          </a:prstGeom>
          <a:noFill/>
          <a:ln/>
        </p:spPr>
        <p:txBody>
          <a:bodyPr wrap="none" lIns="0" tIns="0" rIns="0" bIns="0" rtlCol="0" anchor="ctr"/>
          <a:lstStyle/>
          <a:p>
            <a:pPr algn="l" indent="0" marL="0">
              <a:buNone/>
            </a:pPr>
            <a:r>
              <a:rPr lang="en-US" sz="3600" b="1" spc="144" kern="0" dirty="0">
                <a:solidFill>
                  <a:srgbClr val="5BAA85"/>
                </a:solidFill>
                <a:latin typeface="JetBrains Mono" pitchFamily="34" charset="0"/>
                <a:ea typeface="JetBrains Mono" pitchFamily="34" charset="-122"/>
                <a:cs typeface="JetBrains Mono" pitchFamily="34" charset="-120"/>
              </a:rPr>
              <a:t>03</a:t>
            </a:r>
            <a:endParaRPr lang="en-US" sz="3600" dirty="0"/>
          </a:p>
        </p:txBody>
      </p:sp>
      <p:sp>
        <p:nvSpPr>
          <p:cNvPr id="14" name="Text 11"/>
          <p:cNvSpPr txBox="1"/>
          <p:nvPr/>
        </p:nvSpPr>
        <p:spPr>
          <a:xfrm>
            <a:off x="12344400" y="3610051"/>
            <a:ext cx="4724705" cy="810158"/>
          </a:xfrm>
          <a:prstGeom prst="rect">
            <a:avLst/>
          </a:prstGeom>
          <a:noFill/>
          <a:ln/>
        </p:spPr>
        <p:txBody>
          <a:bodyPr wrap="square" lIns="0" tIns="0" rIns="0" bIns="0" rtlCol="0" anchor="t"/>
          <a:lstStyle/>
          <a:p>
            <a:pPr algn="l" indent="0" marL="0">
              <a:lnSpc>
                <a:spcPct val="125000"/>
              </a:lnSpc>
              <a:buNone/>
            </a:pPr>
            <a:r>
              <a:rPr lang="en-US" sz="2550" b="1" dirty="0">
                <a:solidFill>
                  <a:srgbClr val="F5EFDD"/>
                </a:solidFill>
                <a:latin typeface="Zen Kaku Gothic Antique" pitchFamily="34" charset="0"/>
                <a:ea typeface="Zen Kaku Gothic Antique" pitchFamily="34" charset="-122"/>
                <a:cs typeface="Zen Kaku Gothic Antique" pitchFamily="34" charset="-120"/>
              </a:rPr>
              <a:t>検証は、</a:t>
            </a:r>
            <a:pPr algn="l" indent="0" marL="0">
              <a:lnSpc>
                <a:spcPct val="125000"/>
              </a:lnSpc>
              <a:buNone/>
            </a:pPr>
            <a:endParaRPr lang="en-US" sz="2550" dirty="0"/>
          </a:p>
          <a:p>
            <a:pPr algn="l" indent="0" marL="0">
              <a:lnSpc>
                <a:spcPct val="125000"/>
              </a:lnSpc>
              <a:buNone/>
            </a:pPr>
            <a:r>
              <a:rPr lang="en-US" sz="2550" b="1" dirty="0">
                <a:solidFill>
                  <a:srgbClr val="F5EFDD"/>
                </a:solidFill>
                <a:latin typeface="Zen Kaku Gothic Antique" pitchFamily="34" charset="0"/>
                <a:ea typeface="Zen Kaku Gothic Antique" pitchFamily="34" charset="-122"/>
                <a:cs typeface="Zen Kaku Gothic Antique" pitchFamily="34" charset="-120"/>
              </a:rPr>
              <a:t>観測値で。</a:t>
            </a:r>
            <a:endParaRPr lang="en-US" sz="2550" dirty="0"/>
          </a:p>
        </p:txBody>
      </p:sp>
      <p:sp>
        <p:nvSpPr>
          <p:cNvPr id="15" name="Text 12"/>
          <p:cNvSpPr txBox="1"/>
          <p:nvPr/>
        </p:nvSpPr>
        <p:spPr>
          <a:xfrm>
            <a:off x="12344400" y="4611319"/>
            <a:ext cx="4724705" cy="1342339"/>
          </a:xfrm>
          <a:prstGeom prst="rect">
            <a:avLst/>
          </a:prstGeom>
          <a:noFill/>
          <a:ln/>
        </p:spPr>
        <p:txBody>
          <a:bodyPr wrap="square" lIns="0" tIns="0" rIns="0" bIns="0" rtlCol="0" anchor="t"/>
          <a:lstStyle/>
          <a:p>
            <a:pPr algn="l" indent="0" marL="0">
              <a:lnSpc>
                <a:spcPts val="2558"/>
              </a:lnSpc>
              <a:buNone/>
            </a:pPr>
            <a:r>
              <a:rPr lang="en-US" sz="1650" dirty="0">
                <a:solidFill>
                  <a:srgbClr val="ECE4D2"/>
                </a:solidFill>
                <a:latin typeface="Noto Sans JP" pitchFamily="34" charset="0"/>
                <a:ea typeface="Noto Sans JP" pitchFamily="34" charset="-122"/>
                <a:cs typeface="Noto Sans JP" pitchFamily="34" charset="-120"/>
              </a:rPr>
              <a:t>「同じ入力で挙動が変わる」ことを、件数や DOM、レスポンスで見て取れる。</a:t>
            </a:r>
            <a:pPr algn="l" indent="0" marL="0">
              <a:lnSpc>
                <a:spcPts val="2558"/>
              </a:lnSpc>
              <a:buNone/>
            </a:pPr>
            <a:endParaRPr lang="en-US" sz="1650" dirty="0"/>
          </a:p>
          <a:p>
            <a:pPr algn="l" indent="0" marL="0">
              <a:lnSpc>
                <a:spcPts val="2558"/>
              </a:lnSpc>
              <a:buNone/>
            </a:pPr>
            <a:r>
              <a:rPr lang="en-US" sz="1650" dirty="0">
                <a:solidFill>
                  <a:srgbClr val="ECE4D2"/>
                </a:solidFill>
                <a:latin typeface="Noto Sans JP" pitchFamily="34" charset="0"/>
                <a:ea typeface="Noto Sans JP" pitchFamily="34" charset="-122"/>
                <a:cs typeface="Noto Sans JP" pitchFamily="34" charset="-120"/>
              </a:rPr>
              <a:t>動作確認は辺りを見ず、出力を観測値として差を見る。</a:t>
            </a:r>
            <a:endParaRPr lang="en-US" sz="1650" dirty="0"/>
          </a:p>
        </p:txBody>
      </p:sp>
      <p:sp>
        <p:nvSpPr>
          <p:cNvPr id="16" name="Text 13"/>
          <p:cNvSpPr txBox="1"/>
          <p:nvPr/>
        </p:nvSpPr>
        <p:spPr>
          <a:xfrm>
            <a:off x="1218895" y="8553298"/>
            <a:ext cx="15850210" cy="352958"/>
          </a:xfrm>
          <a:prstGeom prst="rect">
            <a:avLst/>
          </a:prstGeom>
          <a:noFill/>
          <a:ln/>
        </p:spPr>
        <p:txBody>
          <a:bodyPr wrap="none" lIns="0" tIns="0" rIns="0" bIns="0" rtlCol="0" anchor="ctr"/>
          <a:lstStyle/>
          <a:p>
            <a:pPr algn="l" indent="0" marL="0">
              <a:buNone/>
            </a:pPr>
            <a:r>
              <a:rPr lang="en-US" sz="1950" dirty="0">
                <a:solidFill>
                  <a:srgbClr val="211C13"/>
                </a:solidFill>
                <a:latin typeface="Noto Sans JP" pitchFamily="34" charset="0"/>
                <a:ea typeface="Noto Sans JP" pitchFamily="34" charset="-122"/>
                <a:cs typeface="Noto Sans JP" pitchFamily="34" charset="-120"/>
              </a:rPr>
              <a:t>質疑 · 良かった点 / 難しかった所 / 普段の業務での類似事例 — どんな角度からでも聞いてください。</a:t>
            </a:r>
            <a:endParaRPr lang="en-US" sz="1950" dirty="0"/>
          </a:p>
        </p:txBody>
      </p:sp>
      <p:pic>
        <p:nvPicPr>
          <p:cNvPr id="17" name="Image 0" descr="gen-dedup-ff3b843c62efd2578b331bdfc9bb7c8f.png">    </p:cNvPr>
          <p:cNvPicPr>
            <a:picLocks noChangeAspect="1"/>
          </p:cNvPicPr>
          <p:nvPr/>
        </p:nvPicPr>
        <p:blipFill>
          <a:blip r:embed="rId1"/>
          <a:srcRect l="-2083" r="-2083" t="0" b="0"/>
          <a:stretch/>
        </p:blipFill>
        <p:spPr>
          <a:xfrm>
            <a:off x="914400" y="9334195"/>
            <a:ext cx="16459200" cy="9144"/>
          </a:xfrm>
          <a:prstGeom prst="rect">
            <a:avLst/>
          </a:prstGeom>
        </p:spPr>
      </p:pic>
      <p:sp>
        <p:nvSpPr>
          <p:cNvPr id="18" name="Text 14"/>
          <p:cNvSpPr txBox="1"/>
          <p:nvPr/>
        </p:nvSpPr>
        <p:spPr>
          <a:xfrm>
            <a:off x="914400" y="9562795"/>
            <a:ext cx="12382805" cy="228600"/>
          </a:xfrm>
          <a:prstGeom prst="rect">
            <a:avLst/>
          </a:prstGeom>
          <a:noFill/>
          <a:ln/>
        </p:spPr>
        <p:txBody>
          <a:bodyPr wrap="none" lIns="0" tIns="0" rIns="0" bIns="0" rtlCol="0" anchor="ctr"/>
          <a:lstStyle/>
          <a:p>
            <a:pPr algn="l" indent="0" marL="0">
              <a:buNone/>
            </a:pPr>
            <a:r>
              <a:rPr lang="en-US" sz="1200" spc="72" kern="0" dirty="0">
                <a:solidFill>
                  <a:srgbClr val="5A4F3F"/>
                </a:solidFill>
                <a:latin typeface="JetBrains Mono" pitchFamily="34" charset="0"/>
                <a:ea typeface="JetBrains Mono" pitchFamily="34" charset="-122"/>
                <a:cs typeface="JetBrains Mono" pitchFamily="34" charset="-120"/>
              </a:rPr>
              <a:t>ご参加ありがとうございました — 教材Supabaseは当日終了後、予定時刻でクローズ予定</a:t>
            </a:r>
            <a:endParaRPr lang="en-US" sz="1200" dirty="0"/>
          </a:p>
        </p:txBody>
      </p:sp>
      <p:sp>
        <p:nvSpPr>
          <p:cNvPr id="19" name="Text 15"/>
          <p:cNvSpPr txBox="1"/>
          <p:nvPr/>
        </p:nvSpPr>
        <p:spPr>
          <a:xfrm>
            <a:off x="15468905" y="9562795"/>
            <a:ext cx="1905610" cy="200254"/>
          </a:xfrm>
          <a:prstGeom prst="rect">
            <a:avLst/>
          </a:prstGeom>
          <a:noFill/>
          <a:ln/>
        </p:spPr>
        <p:txBody>
          <a:bodyPr wrap="none" lIns="0" tIns="0" rIns="0" bIns="0" rtlCol="0" anchor="ctr"/>
          <a:lstStyle/>
          <a:p>
            <a:pPr algn="r" indent="0" marL="0">
              <a:buNone/>
            </a:pPr>
            <a:r>
              <a:rPr lang="en-US" sz="1200" spc="72" kern="0" dirty="0">
                <a:solidFill>
                  <a:srgbClr val="5A4F3F"/>
                </a:solidFill>
                <a:latin typeface="JetBrains Mono" pitchFamily="34" charset="0"/>
                <a:ea typeface="JetBrains Mono" pitchFamily="34" charset="-122"/>
                <a:cs typeface="JetBrains Mono" pitchFamily="34" charset="-120"/>
              </a:rPr>
              <a:t>29 / 32</a:t>
            </a:r>
            <a:endParaRPr lang="en-US" sz="1200" dirty="0"/>
          </a:p>
        </p:txBody>
      </p:sp>
      <p:sp>
        <p:nvSpPr>
          <p:cNvPr id="20" name="Text 16"/>
          <p:cNvSpPr txBox="1"/>
          <p:nvPr/>
        </p:nvSpPr>
        <p:spPr>
          <a:xfrm>
            <a:off x="914400" y="838505"/>
            <a:ext cx="13335610" cy="219456"/>
          </a:xfrm>
          <a:prstGeom prst="rect">
            <a:avLst/>
          </a:prstGeom>
          <a:noFill/>
          <a:ln/>
        </p:spPr>
        <p:txBody>
          <a:bodyPr wrap="none" lIns="0" tIns="0" rIns="0" bIns="0" rtlCol="0" anchor="ctr"/>
          <a:lstStyle/>
          <a:p>
            <a:pPr algn="l" indent="0" marL="0">
              <a:buNone/>
            </a:pPr>
            <a:r>
              <a:rPr lang="en-US" sz="1350" spc="324" kern="0" dirty="0">
                <a:solidFill>
                  <a:srgbClr val="211C13"/>
                </a:solidFill>
                <a:latin typeface="JetBrains Mono" pitchFamily="34" charset="0"/>
                <a:ea typeface="JetBrains Mono" pitchFamily="34" charset="-122"/>
                <a:cs typeface="JetBrains Mono" pitchFamily="34" charset="-120"/>
              </a:rPr>
              <a:t>29 · Takeaways</a:t>
            </a:r>
            <a:endParaRPr lang="en-US" sz="1350" dirty="0"/>
          </a:p>
        </p:txBody>
      </p:sp>
      <p:sp>
        <p:nvSpPr>
          <p:cNvPr id="21" name="Text 17"/>
          <p:cNvSpPr txBox="1"/>
          <p:nvPr/>
        </p:nvSpPr>
        <p:spPr>
          <a:xfrm>
            <a:off x="914400" y="1152144"/>
            <a:ext cx="13335610" cy="848563"/>
          </a:xfrm>
          <a:prstGeom prst="rect">
            <a:avLst/>
          </a:prstGeom>
          <a:noFill/>
          <a:ln/>
        </p:spPr>
        <p:txBody>
          <a:bodyPr wrap="none" lIns="0" tIns="0" rIns="0" bIns="0" rtlCol="0" anchor="ctr"/>
          <a:lstStyle/>
          <a:p>
            <a:pPr algn="l" indent="0" marL="0">
              <a:buNone/>
            </a:pPr>
            <a:r>
              <a:rPr lang="en-US" sz="6300" b="1" spc="-126" kern="0" dirty="0">
                <a:solidFill>
                  <a:srgbClr val="211C13"/>
                </a:solidFill>
                <a:latin typeface="Zen Kaku Gothic Antique" pitchFamily="34" charset="0"/>
                <a:ea typeface="Zen Kaku Gothic Antique" pitchFamily="34" charset="-122"/>
                <a:cs typeface="Zen Kaku Gothic Antique" pitchFamily="34" charset="-120"/>
              </a:rPr>
              <a:t>今日、持ち帰る3つのこと</a:t>
            </a:r>
            <a:endParaRPr lang="en-US" sz="6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EFE7D4"/>
        </a:solidFill>
      </p:bgPr>
    </p:bg>
    <p:spTree>
      <p:nvGrpSpPr>
        <p:cNvPr id="1" name=""/>
        <p:cNvGrpSpPr/>
        <p:nvPr/>
      </p:nvGrpSpPr>
      <p:grpSpPr>
        <a:xfrm>
          <a:off x="0" y="0"/>
          <a:ext cx="0" cy="0"/>
          <a:chOff x="0" y="0"/>
          <a:chExt cx="0" cy="0"/>
        </a:xfrm>
      </p:grpSpPr>
      <p:sp>
        <p:nvSpPr>
          <p:cNvPr id="3" name="Shape 0"/>
          <p:cNvSpPr/>
          <p:nvPr/>
        </p:nvSpPr>
        <p:spPr>
          <a:xfrm>
            <a:off x="914400" y="2857500"/>
            <a:ext cx="8096098" cy="5905195"/>
          </a:xfrm>
          <a:prstGeom prst="roundRect">
            <a:avLst>
              <a:gd name="adj" fmla="val 650"/>
            </a:avLst>
          </a:prstGeom>
          <a:solidFill>
            <a:srgbClr val="E5DBC4"/>
          </a:solidFill>
          <a:ln w="12700">
            <a:solidFill>
              <a:srgbClr val="FFFFFF">
                <a:alpha val="0"/>
              </a:srgbClr>
            </a:solidFill>
            <a:prstDash val="solid"/>
          </a:ln>
        </p:spPr>
      </p:sp>
      <p:sp>
        <p:nvSpPr>
          <p:cNvPr id="4" name="Shape 1"/>
          <p:cNvSpPr/>
          <p:nvPr/>
        </p:nvSpPr>
        <p:spPr>
          <a:xfrm>
            <a:off x="9277502" y="2857500"/>
            <a:ext cx="8096098" cy="5905195"/>
          </a:xfrm>
          <a:prstGeom prst="roundRect">
            <a:avLst>
              <a:gd name="adj" fmla="val 650"/>
            </a:avLst>
          </a:prstGeom>
          <a:solidFill>
            <a:srgbClr val="E5DBC4"/>
          </a:solidFill>
          <a:ln w="12700">
            <a:solidFill>
              <a:srgbClr val="FFFFFF">
                <a:alpha val="0"/>
              </a:srgbClr>
            </a:solidFill>
            <a:prstDash val="solid"/>
          </a:ln>
        </p:spPr>
      </p:sp>
      <p:sp>
        <p:nvSpPr>
          <p:cNvPr id="5" name="Text 2"/>
          <p:cNvSpPr txBox="1"/>
          <p:nvPr/>
        </p:nvSpPr>
        <p:spPr>
          <a:xfrm>
            <a:off x="1218895" y="3124505"/>
            <a:ext cx="7525512" cy="191110"/>
          </a:xfrm>
          <a:prstGeom prst="rect">
            <a:avLst/>
          </a:prstGeom>
          <a:noFill/>
          <a:ln/>
        </p:spPr>
        <p:txBody>
          <a:bodyPr wrap="none" lIns="0" tIns="0" rIns="0" bIns="0" rtlCol="0" anchor="ctr"/>
          <a:lstStyle/>
          <a:p>
            <a:pPr algn="l" indent="0" marL="0">
              <a:buNone/>
            </a:pPr>
            <a:r>
              <a:rPr lang="en-US" sz="1050" spc="189" kern="0" dirty="0">
                <a:solidFill>
                  <a:srgbClr val="5A4F3F"/>
                </a:solidFill>
                <a:latin typeface="JetBrains Mono" pitchFamily="34" charset="0"/>
                <a:ea typeface="JetBrains Mono" pitchFamily="34" charset="-122"/>
                <a:cs typeface="JetBrains Mono" pitchFamily="34" charset="-120"/>
              </a:rPr>
              <a:t>3日前まで</a:t>
            </a:r>
            <a:endParaRPr lang="en-US" sz="1050" dirty="0"/>
          </a:p>
        </p:txBody>
      </p:sp>
      <p:sp>
        <p:nvSpPr>
          <p:cNvPr id="6" name="Text 3"/>
          <p:cNvSpPr txBox="1"/>
          <p:nvPr/>
        </p:nvSpPr>
        <p:spPr>
          <a:xfrm>
            <a:off x="1245718" y="3396082"/>
            <a:ext cx="7506005" cy="1483157"/>
          </a:xfrm>
          <a:prstGeom prst="rect">
            <a:avLst/>
          </a:prstGeom>
          <a:noFill/>
          <a:ln/>
        </p:spPr>
        <p:txBody>
          <a:bodyPr wrap="square" lIns="0" tIns="0" rIns="0" bIns="0" rtlCol="0" anchor="t"/>
          <a:lstStyle/>
          <a:p>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別Supabase プロジェクトが本番と完全に分離されているか</a:t>
            </a:r>
            <a:pPr algn="l" marL="266700" indent="-266700">
              <a:lnSpc>
                <a:spcPts val="2805"/>
              </a:lnSpc>
              <a:buSzPct val="100000"/>
              <a:buChar char="•"/>
            </a:pPr>
            <a:endParaRPr lang="en-US" sz="1650" dirty="0"/>
          </a:p>
          <a:p>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架空ユーザーが複数人分、シードされているか</a:t>
            </a:r>
            <a:pPr algn="l" marL="266700" indent="-266700">
              <a:lnSpc>
                <a:spcPts val="2805"/>
              </a:lnSpc>
              <a:buSzPct val="100000"/>
              <a:buChar char="•"/>
            </a:pPr>
            <a:endParaRPr lang="en-US" sz="1650" dirty="0"/>
          </a:p>
          <a:p>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参加コードと参加者名の発行フローが用意されているか</a:t>
            </a:r>
            <a:pPr algn="l" marL="266700" indent="-266700">
              <a:lnSpc>
                <a:spcPts val="2805"/>
              </a:lnSpc>
              <a:buSzPct val="100000"/>
              <a:buChar char="•"/>
            </a:pPr>
            <a:endParaRPr lang="en-US" sz="1650" dirty="0"/>
          </a:p>
          <a:p>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教材URL、招待リンク、当日使うチャットへ記載済か</a:t>
            </a:r>
            <a:endParaRPr lang="en-US" sz="1650" dirty="0"/>
          </a:p>
        </p:txBody>
      </p:sp>
      <p:pic>
        <p:nvPicPr>
          <p:cNvPr id="7" name="Image 0" descr="gen-dedup-c2560a09bcb4aac1fff0ad443406f79b.png">    </p:cNvPr>
          <p:cNvPicPr>
            <a:picLocks noChangeAspect="1"/>
          </p:cNvPicPr>
          <p:nvPr/>
        </p:nvPicPr>
        <p:blipFill>
          <a:blip r:embed="rId1"/>
          <a:srcRect l="-2083" r="-2083" t="0" b="0"/>
          <a:stretch/>
        </p:blipFill>
        <p:spPr>
          <a:xfrm>
            <a:off x="1218895" y="5044745"/>
            <a:ext cx="7524598" cy="9144"/>
          </a:xfrm>
          <a:prstGeom prst="rect">
            <a:avLst/>
          </a:prstGeom>
        </p:spPr>
      </p:pic>
      <p:sp>
        <p:nvSpPr>
          <p:cNvPr id="8" name="Text 4"/>
          <p:cNvSpPr txBox="1"/>
          <p:nvPr/>
        </p:nvSpPr>
        <p:spPr>
          <a:xfrm>
            <a:off x="1218895" y="5225796"/>
            <a:ext cx="7525512" cy="191110"/>
          </a:xfrm>
          <a:prstGeom prst="rect">
            <a:avLst/>
          </a:prstGeom>
          <a:noFill/>
          <a:ln/>
        </p:spPr>
        <p:txBody>
          <a:bodyPr wrap="none" lIns="0" tIns="0" rIns="0" bIns="0" rtlCol="0" anchor="ctr"/>
          <a:lstStyle/>
          <a:p>
            <a:pPr algn="l" indent="0" marL="0">
              <a:buNone/>
            </a:pPr>
            <a:r>
              <a:rPr lang="en-US" sz="1050" spc="189" kern="0" dirty="0">
                <a:solidFill>
                  <a:srgbClr val="5A4F3F"/>
                </a:solidFill>
                <a:latin typeface="JetBrains Mono" pitchFamily="34" charset="0"/>
                <a:ea typeface="JetBrains Mono" pitchFamily="34" charset="-122"/>
                <a:cs typeface="JetBrains Mono" pitchFamily="34" charset="-120"/>
              </a:rPr>
              <a:t>前日</a:t>
            </a:r>
            <a:endParaRPr lang="en-US" sz="1050" dirty="0"/>
          </a:p>
        </p:txBody>
      </p:sp>
      <p:sp>
        <p:nvSpPr>
          <p:cNvPr id="9" name="Text 5"/>
          <p:cNvSpPr txBox="1"/>
          <p:nvPr/>
        </p:nvSpPr>
        <p:spPr>
          <a:xfrm>
            <a:off x="1245718" y="5497373"/>
            <a:ext cx="7506005" cy="1483157"/>
          </a:xfrm>
          <a:prstGeom prst="rect">
            <a:avLst/>
          </a:prstGeom>
          <a:noFill/>
          <a:ln/>
        </p:spPr>
        <p:txBody>
          <a:bodyPr wrap="square" lIns="0" tIns="0" rIns="0" bIns="0" rtlCol="0" anchor="t"/>
          <a:lstStyle/>
          <a:p>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自分用に1アカウントで動作確認（5分で全課題をなぞる）</a:t>
            </a:r>
            <a:pPr algn="l" marL="266700" indent="-266700">
              <a:lnSpc>
                <a:spcPts val="2805"/>
              </a:lnSpc>
              <a:buSzPct val="100000"/>
              <a:buChar char="•"/>
            </a:pPr>
            <a:endParaRPr lang="en-US" sz="1650" dirty="0"/>
          </a:p>
          <a:p>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celebrate() が想定通り動くか、紙吹雪が見えるか</a:t>
            </a:r>
            <a:pPr algn="l" marL="266700" indent="-266700">
              <a:lnSpc>
                <a:spcPts val="2805"/>
              </a:lnSpc>
              <a:buSzPct val="100000"/>
              <a:buChar char="•"/>
            </a:pPr>
            <a:endParaRPr lang="en-US" sz="1650" dirty="0"/>
          </a:p>
          <a:p>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修正版が同じ画面で実際にどう見えるかを記録</a:t>
            </a:r>
            <a:pPr algn="l" marL="266700" indent="-266700">
              <a:lnSpc>
                <a:spcPts val="2805"/>
              </a:lnSpc>
              <a:buSzPct val="100000"/>
              <a:buChar char="•"/>
            </a:pPr>
            <a:endParaRPr lang="en-US" sz="1650" dirty="0"/>
          </a:p>
          <a:p>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不明な挙動・未検証箇所をスライドに反映</a:t>
            </a:r>
            <a:endParaRPr lang="en-US" sz="1650" dirty="0"/>
          </a:p>
        </p:txBody>
      </p:sp>
      <p:sp>
        <p:nvSpPr>
          <p:cNvPr id="10" name="Text 6"/>
          <p:cNvSpPr txBox="1"/>
          <p:nvPr/>
        </p:nvSpPr>
        <p:spPr>
          <a:xfrm>
            <a:off x="9581998" y="3124505"/>
            <a:ext cx="7525512" cy="191110"/>
          </a:xfrm>
          <a:prstGeom prst="rect">
            <a:avLst/>
          </a:prstGeom>
          <a:noFill/>
          <a:ln/>
        </p:spPr>
        <p:txBody>
          <a:bodyPr wrap="none" lIns="0" tIns="0" rIns="0" bIns="0" rtlCol="0" anchor="ctr"/>
          <a:lstStyle/>
          <a:p>
            <a:pPr algn="l" indent="0" marL="0">
              <a:buNone/>
            </a:pPr>
            <a:r>
              <a:rPr lang="en-US" sz="1050" spc="189" kern="0" dirty="0">
                <a:solidFill>
                  <a:srgbClr val="5A4F3F"/>
                </a:solidFill>
                <a:latin typeface="JetBrains Mono" pitchFamily="34" charset="0"/>
                <a:ea typeface="JetBrains Mono" pitchFamily="34" charset="-122"/>
                <a:cs typeface="JetBrains Mono" pitchFamily="34" charset="-120"/>
              </a:rPr>
              <a:t>当日 · 開始 30 分前</a:t>
            </a:r>
            <a:endParaRPr lang="en-US" sz="1050" dirty="0"/>
          </a:p>
        </p:txBody>
      </p:sp>
      <p:sp>
        <p:nvSpPr>
          <p:cNvPr id="11" name="Text 7"/>
          <p:cNvSpPr txBox="1"/>
          <p:nvPr/>
        </p:nvSpPr>
        <p:spPr>
          <a:xfrm>
            <a:off x="9608820" y="3396082"/>
            <a:ext cx="7506005" cy="1483157"/>
          </a:xfrm>
          <a:prstGeom prst="rect">
            <a:avLst/>
          </a:prstGeom>
          <a:noFill/>
          <a:ln/>
        </p:spPr>
        <p:txBody>
          <a:bodyPr wrap="square" lIns="0" tIns="0" rIns="0" bIns="0" rtlCol="0" anchor="t"/>
          <a:lstStyle/>
          <a:p>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プロジェクタでスライドを開き、Network パネルが大きく見えるか</a:t>
            </a:r>
            <a:pPr algn="l" marL="266700" indent="-266700">
              <a:lnSpc>
                <a:spcPts val="2805"/>
              </a:lnSpc>
              <a:buSzPct val="100000"/>
              <a:buChar char="•"/>
            </a:pPr>
            <a:endParaRPr lang="en-US" sz="1650" dirty="0"/>
          </a:p>
          <a:p>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別Supabaseへの接続を講師の端末で確認</a:t>
            </a:r>
            <a:pPr algn="l" marL="266700" indent="-266700">
              <a:lnSpc>
                <a:spcPts val="2805"/>
              </a:lnSpc>
              <a:buSzPct val="100000"/>
              <a:buChar char="•"/>
            </a:pPr>
            <a:endParaRPr lang="en-US" sz="1650" dirty="0"/>
          </a:p>
          <a:p>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参加者用招待リンクを配布 — 同じコードでも個別分離される点を添える</a:t>
            </a:r>
            <a:pPr algn="l" marL="266700" indent="-266700">
              <a:lnSpc>
                <a:spcPts val="2805"/>
              </a:lnSpc>
              <a:buSzPct val="100000"/>
              <a:buChar char="•"/>
            </a:pPr>
            <a:endParaRPr lang="en-US" sz="1650" dirty="0"/>
          </a:p>
          <a:p>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DevToolsショートカットを書き出せるようボード・黒板・チャットに記載</a:t>
            </a:r>
            <a:endParaRPr lang="en-US" sz="1650" dirty="0"/>
          </a:p>
        </p:txBody>
      </p:sp>
      <p:pic>
        <p:nvPicPr>
          <p:cNvPr id="12" name="Image 1" descr="gen-dedup-c2560a09bcb4aac1fff0ad443406f79b.png">    </p:cNvPr>
          <p:cNvPicPr>
            <a:picLocks noChangeAspect="1"/>
          </p:cNvPicPr>
          <p:nvPr/>
        </p:nvPicPr>
        <p:blipFill>
          <a:blip r:embed="rId2"/>
          <a:srcRect l="-2083" r="-2083" t="0" b="0"/>
          <a:stretch/>
        </p:blipFill>
        <p:spPr>
          <a:xfrm>
            <a:off x="9581998" y="5044745"/>
            <a:ext cx="7524598" cy="9144"/>
          </a:xfrm>
          <a:prstGeom prst="rect">
            <a:avLst/>
          </a:prstGeom>
        </p:spPr>
      </p:pic>
      <p:sp>
        <p:nvSpPr>
          <p:cNvPr id="13" name="Text 8"/>
          <p:cNvSpPr txBox="1"/>
          <p:nvPr/>
        </p:nvSpPr>
        <p:spPr>
          <a:xfrm>
            <a:off x="9581998" y="5225796"/>
            <a:ext cx="7525512" cy="191110"/>
          </a:xfrm>
          <a:prstGeom prst="rect">
            <a:avLst/>
          </a:prstGeom>
          <a:noFill/>
          <a:ln/>
        </p:spPr>
        <p:txBody>
          <a:bodyPr wrap="none" lIns="0" tIns="0" rIns="0" bIns="0" rtlCol="0" anchor="ctr"/>
          <a:lstStyle/>
          <a:p>
            <a:pPr algn="l" indent="0" marL="0">
              <a:buNone/>
            </a:pPr>
            <a:r>
              <a:rPr lang="en-US" sz="1050" spc="189" kern="0" dirty="0">
                <a:solidFill>
                  <a:srgbClr val="5A4F3F"/>
                </a:solidFill>
                <a:latin typeface="JetBrains Mono" pitchFamily="34" charset="0"/>
                <a:ea typeface="JetBrains Mono" pitchFamily="34" charset="-122"/>
                <a:cs typeface="JetBrains Mono" pitchFamily="34" charset="-120"/>
              </a:rPr>
              <a:t>当日 · 終了直後</a:t>
            </a:r>
            <a:endParaRPr lang="en-US" sz="1050" dirty="0"/>
          </a:p>
        </p:txBody>
      </p:sp>
      <p:sp>
        <p:nvSpPr>
          <p:cNvPr id="14" name="Text 9"/>
          <p:cNvSpPr txBox="1"/>
          <p:nvPr/>
        </p:nvSpPr>
        <p:spPr>
          <a:xfrm>
            <a:off x="9608820" y="5497373"/>
            <a:ext cx="7506005" cy="1127455"/>
          </a:xfrm>
          <a:prstGeom prst="rect">
            <a:avLst/>
          </a:prstGeom>
          <a:noFill/>
          <a:ln/>
        </p:spPr>
        <p:txBody>
          <a:bodyPr wrap="square" lIns="0" tIns="0" rIns="0" bIns="0" rtlCol="0" anchor="t"/>
          <a:lstStyle/>
          <a:p>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教材Supabaseの方針に従いデータを初期化、または凍結</a:t>
            </a:r>
            <a:pPr algn="l" marL="266700" indent="-266700">
              <a:lnSpc>
                <a:spcPts val="2805"/>
              </a:lnSpc>
              <a:buSzPct val="100000"/>
              <a:buChar char="•"/>
            </a:pPr>
            <a:endParaRPr lang="en-US" sz="1650" dirty="0"/>
          </a:p>
          <a:p>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参加者からの所感をメモ（質問・誤解・感想）</a:t>
            </a:r>
            <a:pPr algn="l" marL="266700" indent="-266700">
              <a:lnSpc>
                <a:spcPts val="2805"/>
              </a:lnSpc>
              <a:buSzPct val="100000"/>
              <a:buChar char="•"/>
            </a:pPr>
            <a:endParaRPr lang="en-US" sz="1650" dirty="0"/>
          </a:p>
          <a:p>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a:t>
            </a:r>
            <a:pPr algn="l" marL="266700" indent="-266700">
              <a:lnSpc>
                <a:spcPts val="2805"/>
              </a:lnSpc>
              <a:buSzPct val="100000"/>
              <a:buChar char="•"/>
            </a:pPr>
            <a:r>
              <a:rPr lang="en-US" sz="1650" dirty="0">
                <a:solidFill>
                  <a:srgbClr val="211C13"/>
                </a:solidFill>
                <a:latin typeface="Noto Sans JP" pitchFamily="34" charset="0"/>
                <a:ea typeface="Noto Sans JP" pitchFamily="34" charset="-122"/>
                <a:cs typeface="Noto Sans JP" pitchFamily="34" charset="-120"/>
              </a:rPr>
              <a:t>次回への改善メモ — どのスライドが分かりにくかったか</a:t>
            </a:r>
            <a:endParaRPr lang="en-US" sz="1650" dirty="0"/>
          </a:p>
        </p:txBody>
      </p:sp>
      <p:pic>
        <p:nvPicPr>
          <p:cNvPr id="15" name="Image 2" descr="gen-dedup-ff3b843c62efd2578b331bdfc9bb7c8f.png">    </p:cNvPr>
          <p:cNvPicPr>
            <a:picLocks noChangeAspect="1"/>
          </p:cNvPicPr>
          <p:nvPr/>
        </p:nvPicPr>
        <p:blipFill>
          <a:blip r:embed="rId3"/>
          <a:srcRect l="-2083" r="-2083" t="0" b="0"/>
          <a:stretch/>
        </p:blipFill>
        <p:spPr>
          <a:xfrm>
            <a:off x="914400" y="9334195"/>
            <a:ext cx="16459200" cy="9144"/>
          </a:xfrm>
          <a:prstGeom prst="rect">
            <a:avLst/>
          </a:prstGeom>
        </p:spPr>
      </p:pic>
      <p:sp>
        <p:nvSpPr>
          <p:cNvPr id="16" name="Shape 10"/>
          <p:cNvSpPr/>
          <p:nvPr/>
        </p:nvSpPr>
        <p:spPr>
          <a:xfrm>
            <a:off x="914400" y="609905"/>
            <a:ext cx="2286000" cy="381305"/>
          </a:xfrm>
          <a:prstGeom prst="roundRect">
            <a:avLst>
              <a:gd name="adj" fmla="val 49880"/>
            </a:avLst>
          </a:prstGeom>
          <a:solidFill>
            <a:srgbClr val="211C13"/>
          </a:solidFill>
          <a:ln w="12700">
            <a:solidFill>
              <a:srgbClr val="FFFFFF">
                <a:alpha val="0"/>
              </a:srgbClr>
            </a:solidFill>
            <a:prstDash val="solid"/>
          </a:ln>
        </p:spPr>
      </p:sp>
      <p:sp>
        <p:nvSpPr>
          <p:cNvPr id="17" name="Text 11"/>
          <p:cNvSpPr txBox="1"/>
          <p:nvPr/>
        </p:nvSpPr>
        <p:spPr>
          <a:xfrm>
            <a:off x="914400" y="1238098"/>
            <a:ext cx="16459200" cy="247802"/>
          </a:xfrm>
          <a:prstGeom prst="rect">
            <a:avLst/>
          </a:prstGeom>
          <a:noFill/>
          <a:ln/>
        </p:spPr>
        <p:txBody>
          <a:bodyPr wrap="none" lIns="0" tIns="0" rIns="0" bIns="0" rtlCol="0" anchor="ctr"/>
          <a:lstStyle/>
          <a:p>
            <a:pPr algn="l" indent="0" marL="0">
              <a:buNone/>
            </a:pPr>
            <a:r>
              <a:rPr lang="en-US" sz="1350" spc="324" kern="0" dirty="0">
                <a:solidFill>
                  <a:srgbClr val="5A4F3F"/>
                </a:solidFill>
                <a:latin typeface="JetBrains Mono" pitchFamily="34" charset="0"/>
                <a:ea typeface="JetBrains Mono" pitchFamily="34" charset="-122"/>
                <a:cs typeface="JetBrains Mono" pitchFamily="34" charset="-120"/>
              </a:rPr>
              <a:t>30 · 開催日前の点検</a:t>
            </a:r>
            <a:endParaRPr lang="en-US" sz="1350" dirty="0"/>
          </a:p>
        </p:txBody>
      </p:sp>
      <p:sp>
        <p:nvSpPr>
          <p:cNvPr id="18" name="Text 12"/>
          <p:cNvSpPr txBox="1"/>
          <p:nvPr/>
        </p:nvSpPr>
        <p:spPr>
          <a:xfrm>
            <a:off x="914400" y="1561795"/>
            <a:ext cx="16459200" cy="800100"/>
          </a:xfrm>
          <a:prstGeom prst="rect">
            <a:avLst/>
          </a:prstGeom>
          <a:noFill/>
          <a:ln/>
        </p:spPr>
        <p:txBody>
          <a:bodyPr wrap="none" lIns="0" tIns="0" rIns="0" bIns="0" rtlCol="0" anchor="ctr"/>
          <a:lstStyle/>
          <a:p>
            <a:pPr algn="l" indent="0" marL="0">
              <a:buNone/>
            </a:pPr>
            <a:r>
              <a:rPr lang="en-US" sz="6000" b="1" spc="-120" kern="0" dirty="0">
                <a:solidFill>
                  <a:srgbClr val="211C13"/>
                </a:solidFill>
                <a:latin typeface="Zen Kaku Gothic Antique" pitchFamily="34" charset="0"/>
                <a:ea typeface="Zen Kaku Gothic Antique" pitchFamily="34" charset="-122"/>
                <a:cs typeface="Zen Kaku Gothic Antique" pitchFamily="34" charset="-120"/>
              </a:rPr>
              <a:t>事前確認チェックリスト</a:t>
            </a:r>
            <a:endParaRPr lang="en-US" sz="6000" dirty="0"/>
          </a:p>
        </p:txBody>
      </p:sp>
      <p:sp>
        <p:nvSpPr>
          <p:cNvPr id="19" name="Text 13"/>
          <p:cNvSpPr txBox="1"/>
          <p:nvPr/>
        </p:nvSpPr>
        <p:spPr>
          <a:xfrm>
            <a:off x="914400" y="9562795"/>
            <a:ext cx="12382805" cy="228600"/>
          </a:xfrm>
          <a:prstGeom prst="rect">
            <a:avLst/>
          </a:prstGeom>
          <a:noFill/>
          <a:ln/>
        </p:spPr>
        <p:txBody>
          <a:bodyPr wrap="none" lIns="0" tIns="0" rIns="0" bIns="0" rtlCol="0" anchor="ctr"/>
          <a:lstStyle/>
          <a:p>
            <a:pPr algn="l" indent="0" marL="0">
              <a:buNone/>
            </a:pPr>
            <a:r>
              <a:rPr lang="en-US" sz="1200" spc="72" kern="0" dirty="0">
                <a:solidFill>
                  <a:srgbClr val="5A4F3F"/>
                </a:solidFill>
                <a:latin typeface="JetBrains Mono" pitchFamily="34" charset="0"/>
                <a:ea typeface="JetBrains Mono" pitchFamily="34" charset="-122"/>
                <a:cs typeface="JetBrains Mono" pitchFamily="34" charset="-120"/>
              </a:rPr>
              <a:t>※ 「未確認」と「確認済」のラベルを混在させない — 確認できなかった箇所は「未確認」とメモしたうえでスライドに反映</a:t>
            </a:r>
            <a:endParaRPr lang="en-US" sz="1200" dirty="0"/>
          </a:p>
        </p:txBody>
      </p:sp>
      <p:sp>
        <p:nvSpPr>
          <p:cNvPr id="20" name="Text 14"/>
          <p:cNvSpPr txBox="1"/>
          <p:nvPr/>
        </p:nvSpPr>
        <p:spPr>
          <a:xfrm>
            <a:off x="15468905" y="9562795"/>
            <a:ext cx="1905610" cy="200254"/>
          </a:xfrm>
          <a:prstGeom prst="rect">
            <a:avLst/>
          </a:prstGeom>
          <a:noFill/>
          <a:ln/>
        </p:spPr>
        <p:txBody>
          <a:bodyPr wrap="none" lIns="0" tIns="0" rIns="0" bIns="0" rtlCol="0" anchor="ctr"/>
          <a:lstStyle/>
          <a:p>
            <a:pPr algn="r" indent="0" marL="0">
              <a:buNone/>
            </a:pPr>
            <a:r>
              <a:rPr lang="en-US" sz="1200" spc="72" kern="0" dirty="0">
                <a:solidFill>
                  <a:srgbClr val="5A4F3F"/>
                </a:solidFill>
                <a:latin typeface="JetBrains Mono" pitchFamily="34" charset="0"/>
                <a:ea typeface="JetBrains Mono" pitchFamily="34" charset="-122"/>
                <a:cs typeface="JetBrains Mono" pitchFamily="34" charset="-120"/>
              </a:rPr>
              <a:t>30 / 32</a:t>
            </a:r>
            <a:endParaRPr lang="en-US" sz="1200" dirty="0"/>
          </a:p>
        </p:txBody>
      </p:sp>
      <p:sp>
        <p:nvSpPr>
          <p:cNvPr id="21" name="Text 15"/>
          <p:cNvSpPr txBox="1"/>
          <p:nvPr/>
        </p:nvSpPr>
        <p:spPr>
          <a:xfrm>
            <a:off x="914400" y="609905"/>
            <a:ext cx="2286000" cy="762610"/>
          </a:xfrm>
          <a:prstGeom prst="rect">
            <a:avLst/>
          </a:prstGeom>
          <a:noFill/>
          <a:ln/>
        </p:spPr>
        <p:txBody>
          <a:bodyPr wrap="square" lIns="0" tIns="0" rIns="0" bIns="0" rtlCol="0" anchor="ctr"/>
          <a:lstStyle/>
          <a:p>
            <a:pPr algn="ctr" indent="0" marL="0">
              <a:lnSpc>
                <a:spcPts val="3000"/>
              </a:lnSpc>
              <a:buNone/>
            </a:pPr>
            <a:r>
              <a:rPr lang="en-US" sz="1050" spc="231" kern="0" dirty="0">
                <a:solidFill>
                  <a:srgbClr val="F5EFDD"/>
                </a:solidFill>
                <a:latin typeface="JetBrains Mono" pitchFamily="34" charset="0"/>
                <a:ea typeface="JetBrains Mono" pitchFamily="34" charset="-122"/>
                <a:cs typeface="JetBrains Mono" pitchFamily="34" charset="-120"/>
              </a:rPr>
              <a:t>INSTRUCTOR · PRECHECK</a:t>
            </a:r>
            <a:endParaRPr lang="en-US" sz="1050" dirty="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FE7D4"/>
        </a:solidFill>
      </p:bgPr>
    </p:bg>
    <p:spTree>
      <p:nvGrpSpPr>
        <p:cNvPr id="1" name=""/>
        <p:cNvGrpSpPr/>
        <p:nvPr/>
      </p:nvGrpSpPr>
      <p:grpSpPr/>
      <p:sp>
        <p:nvSpPr>
          <p:cNvPr id="3" name="Shape 0"/>
          <p:cNvSpPr/>
          <p:nvPr/>
        </p:nvSpPr>
        <p:spPr>
          <a:xfrm>
            <a:off x="914400" y="3238805"/>
            <a:ext cx="8096098" cy="2667305"/>
          </a:xfrm>
          <a:prstGeom prst="roundRect">
            <a:avLst>
              <a:gd name="adj" fmla="val 1440"/>
            </a:avLst>
          </a:prstGeom>
          <a:solidFill>
            <a:srgbClr val="E5DBC4"/>
          </a:solidFill>
          <a:ln w="12700">
            <a:solidFill>
              <a:srgbClr val="FFFFFF">
                <a:alpha val="0"/>
              </a:srgbClr>
            </a:solidFill>
            <a:prstDash val="solid"/>
          </a:ln>
        </p:spPr>
      </p:sp>
      <p:sp>
        <p:nvSpPr>
          <p:cNvPr id="4" name="Shape 1"/>
          <p:cNvSpPr/>
          <p:nvPr/>
        </p:nvSpPr>
        <p:spPr>
          <a:xfrm>
            <a:off x="9277502" y="3238805"/>
            <a:ext cx="8096098" cy="2667305"/>
          </a:xfrm>
          <a:prstGeom prst="roundRect">
            <a:avLst>
              <a:gd name="adj" fmla="val 1440"/>
            </a:avLst>
          </a:prstGeom>
          <a:solidFill>
            <a:srgbClr val="E5DBC4"/>
          </a:solidFill>
          <a:ln w="12700">
            <a:solidFill>
              <a:srgbClr val="FFFFFF">
                <a:alpha val="0"/>
              </a:srgbClr>
            </a:solidFill>
            <a:prstDash val="solid"/>
          </a:ln>
        </p:spPr>
      </p:sp>
      <p:sp>
        <p:nvSpPr>
          <p:cNvPr id="5" name="Shape 2"/>
          <p:cNvSpPr/>
          <p:nvPr/>
        </p:nvSpPr>
        <p:spPr>
          <a:xfrm>
            <a:off x="914400" y="6096305"/>
            <a:ext cx="8096098" cy="2667305"/>
          </a:xfrm>
          <a:prstGeom prst="roundRect">
            <a:avLst>
              <a:gd name="adj" fmla="val 1440"/>
            </a:avLst>
          </a:prstGeom>
          <a:solidFill>
            <a:srgbClr val="1B1F25"/>
          </a:solidFill>
          <a:ln w="12700">
            <a:solidFill>
              <a:srgbClr val="FFFFFF">
                <a:alpha val="0"/>
              </a:srgbClr>
            </a:solidFill>
            <a:prstDash val="solid"/>
          </a:ln>
        </p:spPr>
      </p:sp>
      <p:sp>
        <p:nvSpPr>
          <p:cNvPr id="6" name="Shape 3"/>
          <p:cNvSpPr/>
          <p:nvPr/>
        </p:nvSpPr>
        <p:spPr>
          <a:xfrm>
            <a:off x="9277502" y="6096305"/>
            <a:ext cx="8096098" cy="2667305"/>
          </a:xfrm>
          <a:prstGeom prst="roundRect">
            <a:avLst>
              <a:gd name="adj" fmla="val 1440"/>
            </a:avLst>
          </a:prstGeom>
          <a:solidFill>
            <a:srgbClr val="E5DBC4"/>
          </a:solidFill>
          <a:ln w="12700">
            <a:solidFill>
              <a:srgbClr val="FFFFFF">
                <a:alpha val="0"/>
              </a:srgbClr>
            </a:solidFill>
            <a:prstDash val="solid"/>
          </a:ln>
        </p:spPr>
      </p:sp>
      <p:pic>
        <p:nvPicPr>
          <p:cNvPr id="7" name="Image 0" descr="gen-dedup-401735b07a29f3ed26dcd4b6350017b0.png">    </p:cNvPr>
          <p:cNvPicPr>
            <a:picLocks noChangeAspect="1"/>
          </p:cNvPicPr>
          <p:nvPr/>
        </p:nvPicPr>
        <p:blipFill>
          <a:blip r:embed="rId2"/>
          <a:srcRect l="0" r="0" t="-401" b="-401"/>
          <a:stretch/>
        </p:blipFill>
        <p:spPr>
          <a:xfrm>
            <a:off x="914400" y="3238805"/>
            <a:ext cx="8096098" cy="57607"/>
          </a:xfrm>
          <a:prstGeom prst="rect">
            <a:avLst/>
          </a:prstGeom>
        </p:spPr>
      </p:pic>
      <p:pic>
        <p:nvPicPr>
          <p:cNvPr id="8" name="Image 1" descr="gen-dedup-401735b07a29f3ed26dcd4b6350017b0.png">    </p:cNvPr>
          <p:cNvPicPr>
            <a:picLocks noChangeAspect="1"/>
          </p:cNvPicPr>
          <p:nvPr/>
        </p:nvPicPr>
        <p:blipFill>
          <a:blip r:embed="rId2"/>
          <a:srcRect l="0" r="0" t="-401" b="-401"/>
          <a:stretch/>
        </p:blipFill>
        <p:spPr>
          <a:xfrm>
            <a:off x="9277502" y="3238805"/>
            <a:ext cx="8096098" cy="57607"/>
          </a:xfrm>
          <a:prstGeom prst="rect">
            <a:avLst/>
          </a:prstGeom>
        </p:spPr>
      </p:pic>
      <p:pic>
        <p:nvPicPr>
          <p:cNvPr id="9" name="Image 2" descr="gen-dedup-e79f1b2628d7b72f899c930aeec3b5f9.png">    </p:cNvPr>
          <p:cNvPicPr>
            <a:picLocks noChangeAspect="1"/>
          </p:cNvPicPr>
          <p:nvPr/>
        </p:nvPicPr>
        <p:blipFill>
          <a:blip r:embed="rId3"/>
          <a:srcRect l="0" r="0" t="-401" b="-401"/>
          <a:stretch/>
        </p:blipFill>
        <p:spPr>
          <a:xfrm>
            <a:off x="914400" y="6096305"/>
            <a:ext cx="8096098" cy="57607"/>
          </a:xfrm>
          <a:prstGeom prst="rect">
            <a:avLst/>
          </a:prstGeom>
        </p:spPr>
      </p:pic>
      <p:pic>
        <p:nvPicPr>
          <p:cNvPr id="10" name="Image 3" descr="gen-dedup-401735b07a29f3ed26dcd4b6350017b0.png">    </p:cNvPr>
          <p:cNvPicPr>
            <a:picLocks noChangeAspect="1"/>
          </p:cNvPicPr>
          <p:nvPr/>
        </p:nvPicPr>
        <p:blipFill>
          <a:blip r:embed="rId2"/>
          <a:srcRect l="0" r="0" t="-401" b="-401"/>
          <a:stretch/>
        </p:blipFill>
        <p:spPr>
          <a:xfrm>
            <a:off x="9277502" y="6096305"/>
            <a:ext cx="8096098" cy="57607"/>
          </a:xfrm>
          <a:prstGeom prst="rect">
            <a:avLst/>
          </a:prstGeom>
        </p:spPr>
      </p:pic>
      <p:sp>
        <p:nvSpPr>
          <p:cNvPr id="11" name="Text 4"/>
          <p:cNvSpPr txBox="1"/>
          <p:nvPr/>
        </p:nvSpPr>
        <p:spPr>
          <a:xfrm>
            <a:off x="1218895" y="3504895"/>
            <a:ext cx="7525512" cy="191110"/>
          </a:xfrm>
          <a:prstGeom prst="rect">
            <a:avLst/>
          </a:prstGeom>
          <a:noFill/>
          <a:ln/>
        </p:spPr>
        <p:txBody>
          <a:bodyPr wrap="none" lIns="0" tIns="0" rIns="0" bIns="0" rtlCol="0" anchor="ctr"/>
          <a:lstStyle/>
          <a:p>
            <a:pPr algn="l" indent="0" marL="0">
              <a:buNone/>
            </a:pPr>
            <a:r>
              <a:rPr lang="en-US" sz="1050" spc="189" kern="0" dirty="0">
                <a:solidFill>
                  <a:srgbClr val="211C13"/>
                </a:solidFill>
                <a:latin typeface="JetBrains Mono" pitchFamily="34" charset="0"/>
                <a:ea typeface="JetBrains Mono" pitchFamily="34" charset="-122"/>
                <a:cs typeface="JetBrains Mono" pitchFamily="34" charset="-120"/>
              </a:rPr>
              <a:t>代替 A · 読み物モード</a:t>
            </a:r>
            <a:endParaRPr lang="en-US" sz="1050" dirty="0"/>
          </a:p>
        </p:txBody>
      </p:sp>
      <p:sp>
        <p:nvSpPr>
          <p:cNvPr id="12" name="Text 5"/>
          <p:cNvSpPr txBox="1"/>
          <p:nvPr/>
        </p:nvSpPr>
        <p:spPr>
          <a:xfrm>
            <a:off x="1218895" y="3771900"/>
            <a:ext cx="7525512" cy="438912"/>
          </a:xfrm>
          <a:prstGeom prst="rect">
            <a:avLst/>
          </a:prstGeom>
          <a:noFill/>
          <a:ln/>
        </p:spPr>
        <p:txBody>
          <a:bodyPr wrap="none" lIns="0" tIns="0" rIns="0" bIns="0" rtlCol="0" anchor="ctr"/>
          <a:lstStyle/>
          <a:p>
            <a:pPr algn="l" indent="0" marL="0">
              <a:buNone/>
            </a:pPr>
            <a:r>
              <a:rPr lang="en-US" sz="2400" b="1" dirty="0">
                <a:solidFill>
                  <a:srgbClr val="211C13"/>
                </a:solidFill>
                <a:latin typeface="Zen Kaku Gothic Antique" pitchFamily="34" charset="0"/>
                <a:ea typeface="Zen Kaku Gothic Antique" pitchFamily="34" charset="-122"/>
                <a:cs typeface="Zen Kaku Gothic Antique" pitchFamily="34" charset="-120"/>
              </a:rPr>
              <a:t>教材画面のスクリーンショットを配布</a:t>
            </a:r>
            <a:endParaRPr lang="en-US" sz="2400" dirty="0"/>
          </a:p>
        </p:txBody>
      </p:sp>
      <p:sp>
        <p:nvSpPr>
          <p:cNvPr id="13" name="Text 6"/>
          <p:cNvSpPr txBox="1"/>
          <p:nvPr/>
        </p:nvSpPr>
        <p:spPr>
          <a:xfrm>
            <a:off x="1218895" y="4312310"/>
            <a:ext cx="7525512" cy="660197"/>
          </a:xfrm>
          <a:prstGeom prst="rect">
            <a:avLst/>
          </a:prstGeom>
          <a:noFill/>
          <a:ln/>
        </p:spPr>
        <p:txBody>
          <a:bodyPr wrap="square" lIns="0" tIns="0" rIns="0" bIns="0" rtlCol="0" anchor="t"/>
          <a:lstStyle/>
          <a:p>
            <a:pPr algn="l" indent="0" marL="0">
              <a:lnSpc>
                <a:spcPts val="2475"/>
              </a:lnSpc>
              <a:buNone/>
            </a:pPr>
            <a:r>
              <a:rPr lang="en-US" sz="1650" dirty="0">
                <a:solidFill>
                  <a:srgbClr val="211C13"/>
                </a:solidFill>
                <a:latin typeface="Noto Sans JP" pitchFamily="34" charset="0"/>
                <a:ea typeface="Noto Sans JP" pitchFamily="34" charset="-122"/>
                <a:cs typeface="Noto Sans JP" pitchFamily="34" charset="-120"/>
              </a:rPr>
              <a:t>コード比較・修正版スライドを見ながら、講師が口頭で進行。</a:t>
            </a:r>
            <a:pPr algn="l" indent="0" marL="0">
              <a:lnSpc>
                <a:spcPts val="2475"/>
              </a:lnSpc>
              <a:buNone/>
            </a:pPr>
            <a:endParaRPr lang="en-US" sz="1650" dirty="0"/>
          </a:p>
          <a:p>
            <a:pPr algn="l" indent="0" marL="0">
              <a:lnSpc>
                <a:spcPts val="2475"/>
              </a:lnSpc>
              <a:buNone/>
            </a:pPr>
            <a:r>
              <a:rPr lang="en-US" sz="1650" dirty="0">
                <a:solidFill>
                  <a:srgbClr val="211C13"/>
                </a:solidFill>
                <a:latin typeface="Noto Sans JP" pitchFamily="34" charset="0"/>
                <a:ea typeface="Noto Sans JP" pitchFamily="34" charset="-122"/>
                <a:cs typeface="Noto Sans JP" pitchFamily="34" charset="-120"/>
              </a:rPr>
              <a:t>「どこに何が書いてあるか」の観察にする。</a:t>
            </a:r>
            <a:endParaRPr lang="en-US" sz="1650" dirty="0"/>
          </a:p>
        </p:txBody>
      </p:sp>
      <p:sp>
        <p:nvSpPr>
          <p:cNvPr id="14" name="Text 7"/>
          <p:cNvSpPr txBox="1"/>
          <p:nvPr/>
        </p:nvSpPr>
        <p:spPr>
          <a:xfrm>
            <a:off x="9581998" y="3504895"/>
            <a:ext cx="7525512" cy="191110"/>
          </a:xfrm>
          <a:prstGeom prst="rect">
            <a:avLst/>
          </a:prstGeom>
          <a:noFill/>
          <a:ln/>
        </p:spPr>
        <p:txBody>
          <a:bodyPr wrap="none" lIns="0" tIns="0" rIns="0" bIns="0" rtlCol="0" anchor="ctr"/>
          <a:lstStyle/>
          <a:p>
            <a:pPr algn="l" indent="0" marL="0">
              <a:buNone/>
            </a:pPr>
            <a:r>
              <a:rPr lang="en-US" sz="1050" spc="189" kern="0" dirty="0">
                <a:solidFill>
                  <a:srgbClr val="211C13"/>
                </a:solidFill>
                <a:latin typeface="JetBrains Mono" pitchFamily="34" charset="0"/>
                <a:ea typeface="JetBrains Mono" pitchFamily="34" charset="-122"/>
                <a:cs typeface="JetBrains Mono" pitchFamily="34" charset="-120"/>
              </a:rPr>
              <a:t>代替 B · スニペット中心</a:t>
            </a:r>
            <a:endParaRPr lang="en-US" sz="1050" dirty="0"/>
          </a:p>
        </p:txBody>
      </p:sp>
      <p:sp>
        <p:nvSpPr>
          <p:cNvPr id="15" name="Text 8"/>
          <p:cNvSpPr txBox="1"/>
          <p:nvPr/>
        </p:nvSpPr>
        <p:spPr>
          <a:xfrm>
            <a:off x="9581998" y="3771900"/>
            <a:ext cx="7525512" cy="438912"/>
          </a:xfrm>
          <a:prstGeom prst="rect">
            <a:avLst/>
          </a:prstGeom>
          <a:noFill/>
          <a:ln/>
        </p:spPr>
        <p:txBody>
          <a:bodyPr wrap="none" lIns="0" tIns="0" rIns="0" bIns="0" rtlCol="0" anchor="ctr"/>
          <a:lstStyle/>
          <a:p>
            <a:pPr algn="l" indent="0" marL="0">
              <a:buNone/>
            </a:pPr>
            <a:r>
              <a:rPr lang="en-US" sz="2400" b="1" dirty="0">
                <a:solidFill>
                  <a:srgbClr val="211C13"/>
                </a:solidFill>
                <a:latin typeface="Zen Kaku Gothic Antique" pitchFamily="34" charset="0"/>
                <a:ea typeface="Zen Kaku Gothic Antique" pitchFamily="34" charset="-122"/>
                <a:cs typeface="Zen Kaku Gothic Antique" pitchFamily="34" charset="-120"/>
              </a:rPr>
              <a:t>各自エディタで写経して試す</a:t>
            </a:r>
            <a:endParaRPr lang="en-US" sz="2400" dirty="0"/>
          </a:p>
        </p:txBody>
      </p:sp>
      <p:sp>
        <p:nvSpPr>
          <p:cNvPr id="16" name="Text 9"/>
          <p:cNvSpPr txBox="1"/>
          <p:nvPr/>
        </p:nvSpPr>
        <p:spPr>
          <a:xfrm>
            <a:off x="9581998" y="4312310"/>
            <a:ext cx="7525512" cy="660197"/>
          </a:xfrm>
          <a:prstGeom prst="rect">
            <a:avLst/>
          </a:prstGeom>
          <a:noFill/>
          <a:ln/>
        </p:spPr>
        <p:txBody>
          <a:bodyPr wrap="square" lIns="0" tIns="0" rIns="0" bIns="0" rtlCol="0" anchor="t"/>
          <a:lstStyle/>
          <a:p>
            <a:pPr algn="l" indent="0" marL="0">
              <a:lnSpc>
                <a:spcPts val="2475"/>
              </a:lnSpc>
              <a:buNone/>
            </a:pPr>
            <a:r>
              <a:rPr lang="en-US" sz="1650" dirty="0">
                <a:solidFill>
                  <a:srgbClr val="211C13"/>
                </a:solidFill>
                <a:latin typeface="Noto Sans JP" pitchFamily="34" charset="0"/>
                <a:ea typeface="Noto Sans JP" pitchFamily="34" charset="-122"/>
                <a:cs typeface="Noto Sans JP" pitchFamily="34" charset="-120"/>
              </a:rPr>
              <a:t>スライド内のコード例をそのまま写してローカルで動作確認。</a:t>
            </a:r>
            <a:pPr algn="l" indent="0" marL="0">
              <a:lnSpc>
                <a:spcPts val="2475"/>
              </a:lnSpc>
              <a:buNone/>
            </a:pPr>
            <a:endParaRPr lang="en-US" sz="1650" dirty="0"/>
          </a:p>
          <a:p>
            <a:pPr algn="l" indent="0" marL="0">
              <a:lnSpc>
                <a:spcPts val="2475"/>
              </a:lnSpc>
              <a:buNone/>
            </a:pPr>
            <a:r>
              <a:rPr lang="en-US" sz="1650" dirty="0">
                <a:solidFill>
                  <a:srgbClr val="211C13"/>
                </a:solidFill>
                <a:latin typeface="Noto Sans JP" pitchFamily="34" charset="0"/>
                <a:ea typeface="Noto Sans JP" pitchFamily="34" charset="-122"/>
                <a:cs typeface="Noto Sans JP" pitchFamily="34" charset="-120"/>
              </a:rPr>
              <a:t>クリック作業より、紙ベースでの観察を優先。</a:t>
            </a:r>
            <a:endParaRPr lang="en-US" sz="1650" dirty="0"/>
          </a:p>
        </p:txBody>
      </p:sp>
      <p:sp>
        <p:nvSpPr>
          <p:cNvPr id="17" name="Text 10"/>
          <p:cNvSpPr txBox="1"/>
          <p:nvPr/>
        </p:nvSpPr>
        <p:spPr>
          <a:xfrm>
            <a:off x="1218895" y="6362395"/>
            <a:ext cx="7525512" cy="191110"/>
          </a:xfrm>
          <a:prstGeom prst="rect">
            <a:avLst/>
          </a:prstGeom>
          <a:noFill/>
          <a:ln/>
        </p:spPr>
        <p:txBody>
          <a:bodyPr wrap="none" lIns="0" tIns="0" rIns="0" bIns="0" rtlCol="0" anchor="ctr"/>
          <a:lstStyle/>
          <a:p>
            <a:pPr algn="l" indent="0" marL="0">
              <a:buNone/>
            </a:pPr>
            <a:r>
              <a:rPr lang="en-US" sz="1050" spc="189" kern="0" dirty="0">
                <a:solidFill>
                  <a:srgbClr val="D4922A"/>
                </a:solidFill>
                <a:latin typeface="JetBrains Mono" pitchFamily="34" charset="0"/>
                <a:ea typeface="JetBrains Mono" pitchFamily="34" charset="-122"/>
                <a:cs typeface="JetBrains Mono" pitchFamily="34" charset="-120"/>
              </a:rPr>
              <a:t>代替 C · 口頭ロールプレイ</a:t>
            </a:r>
            <a:endParaRPr lang="en-US" sz="1050" dirty="0"/>
          </a:p>
        </p:txBody>
      </p:sp>
      <p:sp>
        <p:nvSpPr>
          <p:cNvPr id="18" name="Text 11"/>
          <p:cNvSpPr txBox="1"/>
          <p:nvPr/>
        </p:nvSpPr>
        <p:spPr>
          <a:xfrm>
            <a:off x="1218895" y="6629400"/>
            <a:ext cx="7525512" cy="438912"/>
          </a:xfrm>
          <a:prstGeom prst="rect">
            <a:avLst/>
          </a:prstGeom>
          <a:noFill/>
          <a:ln/>
        </p:spPr>
        <p:txBody>
          <a:bodyPr wrap="none" lIns="0" tIns="0" rIns="0" bIns="0" rtlCol="0" anchor="ctr"/>
          <a:lstStyle/>
          <a:p>
            <a:pPr algn="l" indent="0" marL="0">
              <a:buNone/>
            </a:pPr>
            <a:r>
              <a:rPr lang="en-US" sz="2400" b="1" dirty="0">
                <a:solidFill>
                  <a:srgbClr val="F5EFDD"/>
                </a:solidFill>
                <a:latin typeface="Zen Kaku Gothic Antique" pitchFamily="34" charset="0"/>
                <a:ea typeface="Zen Kaku Gothic Antique" pitchFamily="34" charset="-122"/>
                <a:cs typeface="Zen Kaku Gothic Antique" pitchFamily="34" charset="-120"/>
              </a:rPr>
              <a:t>「リクエスト文を声に出して読み合う」</a:t>
            </a:r>
            <a:endParaRPr lang="en-US" sz="2400" dirty="0"/>
          </a:p>
        </p:txBody>
      </p:sp>
      <p:sp>
        <p:nvSpPr>
          <p:cNvPr id="19" name="Text 12"/>
          <p:cNvSpPr txBox="1"/>
          <p:nvPr/>
        </p:nvSpPr>
        <p:spPr>
          <a:xfrm>
            <a:off x="1218895" y="7169810"/>
            <a:ext cx="7525512" cy="660197"/>
          </a:xfrm>
          <a:prstGeom prst="rect">
            <a:avLst/>
          </a:prstGeom>
          <a:noFill/>
          <a:ln/>
        </p:spPr>
        <p:txBody>
          <a:bodyPr wrap="square" lIns="0" tIns="0" rIns="0" bIns="0" rtlCol="0" anchor="t"/>
          <a:lstStyle/>
          <a:p>
            <a:pPr algn="l" indent="0" marL="0">
              <a:lnSpc>
                <a:spcPts val="2475"/>
              </a:lnSpc>
              <a:buNone/>
            </a:pPr>
            <a:r>
              <a:rPr lang="en-US" sz="1650" dirty="0">
                <a:solidFill>
                  <a:srgbClr val="ECE4D2"/>
                </a:solidFill>
                <a:latin typeface="Noto Sans JP" pitchFamily="34" charset="0"/>
                <a:ea typeface="Noto Sans JP" pitchFamily="34" charset="-122"/>
                <a:cs typeface="Noto Sans JP" pitchFamily="34" charset="-120"/>
              </a:rPr>
              <a:t>講師が声を掛け、参加者と交互に「次のリクエスト」を組み立てる。</a:t>
            </a:r>
            <a:pPr algn="l" indent="0" marL="0">
              <a:lnSpc>
                <a:spcPts val="2475"/>
              </a:lnSpc>
              <a:buNone/>
            </a:pPr>
            <a:endParaRPr lang="en-US" sz="1650" dirty="0"/>
          </a:p>
          <a:p>
            <a:pPr algn="l" indent="0" marL="0">
              <a:lnSpc>
                <a:spcPts val="2475"/>
              </a:lnSpc>
              <a:buNone/>
            </a:pPr>
            <a:r>
              <a:rPr lang="en-US" sz="1650" dirty="0">
                <a:solidFill>
                  <a:srgbClr val="ECE4D2"/>
                </a:solidFill>
                <a:latin typeface="Noto Sans JP" pitchFamily="34" charset="0"/>
                <a:ea typeface="Noto Sans JP" pitchFamily="34" charset="-122"/>
                <a:cs typeface="Noto Sans JP" pitchFamily="34" charset="-120"/>
              </a:rPr>
              <a:t>概念がこだわれるなら、画面なしでも議論は成立する。</a:t>
            </a:r>
            <a:endParaRPr lang="en-US" sz="1650" dirty="0"/>
          </a:p>
        </p:txBody>
      </p:sp>
      <p:sp>
        <p:nvSpPr>
          <p:cNvPr id="20" name="Text 13"/>
          <p:cNvSpPr txBox="1"/>
          <p:nvPr/>
        </p:nvSpPr>
        <p:spPr>
          <a:xfrm>
            <a:off x="9581998" y="6362395"/>
            <a:ext cx="7525512" cy="191110"/>
          </a:xfrm>
          <a:prstGeom prst="rect">
            <a:avLst/>
          </a:prstGeom>
          <a:noFill/>
          <a:ln/>
        </p:spPr>
        <p:txBody>
          <a:bodyPr wrap="none" lIns="0" tIns="0" rIns="0" bIns="0" rtlCol="0" anchor="ctr"/>
          <a:lstStyle/>
          <a:p>
            <a:pPr algn="l" indent="0" marL="0">
              <a:buNone/>
            </a:pPr>
            <a:r>
              <a:rPr lang="en-US" sz="1050" spc="189" kern="0" dirty="0">
                <a:solidFill>
                  <a:srgbClr val="211C13"/>
                </a:solidFill>
                <a:latin typeface="JetBrains Mono" pitchFamily="34" charset="0"/>
                <a:ea typeface="JetBrains Mono" pitchFamily="34" charset="-122"/>
                <a:cs typeface="JetBrains Mono" pitchFamily="34" charset="-120"/>
              </a:rPr>
              <a:t>代替 D · 課題数を絞る</a:t>
            </a:r>
            <a:endParaRPr lang="en-US" sz="1050" dirty="0"/>
          </a:p>
        </p:txBody>
      </p:sp>
      <p:sp>
        <p:nvSpPr>
          <p:cNvPr id="21" name="Text 14"/>
          <p:cNvSpPr txBox="1"/>
          <p:nvPr/>
        </p:nvSpPr>
        <p:spPr>
          <a:xfrm>
            <a:off x="9581998" y="6629400"/>
            <a:ext cx="7525512" cy="438912"/>
          </a:xfrm>
          <a:prstGeom prst="rect">
            <a:avLst/>
          </a:prstGeom>
          <a:noFill/>
          <a:ln/>
        </p:spPr>
        <p:txBody>
          <a:bodyPr wrap="none" lIns="0" tIns="0" rIns="0" bIns="0" rtlCol="0" anchor="ctr"/>
          <a:lstStyle/>
          <a:p>
            <a:pPr algn="l" indent="0" marL="0">
              <a:buNone/>
            </a:pPr>
            <a:r>
              <a:rPr lang="en-US" sz="2400" b="1" dirty="0">
                <a:solidFill>
                  <a:srgbClr val="211C13"/>
                </a:solidFill>
                <a:latin typeface="Zen Kaku Gothic Antique" pitchFamily="34" charset="0"/>
                <a:ea typeface="Zen Kaku Gothic Antique" pitchFamily="34" charset="-122"/>
                <a:cs typeface="Zen Kaku Gothic Antique" pitchFamily="34" charset="-120"/>
              </a:rPr>
              <a:t>1課題に時間を寄せる</a:t>
            </a:r>
            <a:endParaRPr lang="en-US" sz="2400" dirty="0"/>
          </a:p>
        </p:txBody>
      </p:sp>
      <p:sp>
        <p:nvSpPr>
          <p:cNvPr id="22" name="Text 15"/>
          <p:cNvSpPr txBox="1"/>
          <p:nvPr/>
        </p:nvSpPr>
        <p:spPr>
          <a:xfrm>
            <a:off x="9581998" y="7169810"/>
            <a:ext cx="7525512" cy="660197"/>
          </a:xfrm>
          <a:prstGeom prst="rect">
            <a:avLst/>
          </a:prstGeom>
          <a:noFill/>
          <a:ln/>
        </p:spPr>
        <p:txBody>
          <a:bodyPr wrap="square" lIns="0" tIns="0" rIns="0" bIns="0" rtlCol="0" anchor="t"/>
          <a:lstStyle/>
          <a:p>
            <a:pPr algn="l" indent="0" marL="0">
              <a:lnSpc>
                <a:spcPts val="2475"/>
              </a:lnSpc>
              <a:buNone/>
            </a:pPr>
            <a:r>
              <a:rPr lang="en-US" sz="1650" dirty="0">
                <a:solidFill>
                  <a:srgbClr val="211C13"/>
                </a:solidFill>
                <a:latin typeface="Noto Sans JP" pitchFamily="34" charset="0"/>
                <a:ea typeface="Noto Sans JP" pitchFamily="34" charset="-122"/>
                <a:cs typeface="Noto Sans JP" pitchFamily="34" charset="-120"/>
              </a:rPr>
              <a:t>SQLi のみ、または XSS のみを 40 分。</a:t>
            </a:r>
            <a:pPr algn="l" indent="0" marL="0">
              <a:lnSpc>
                <a:spcPts val="2475"/>
              </a:lnSpc>
              <a:buNone/>
            </a:pPr>
            <a:endParaRPr lang="en-US" sz="1650" dirty="0"/>
          </a:p>
          <a:p>
            <a:pPr algn="l" indent="0" marL="0">
              <a:lnSpc>
                <a:spcPts val="2475"/>
              </a:lnSpc>
              <a:buNone/>
            </a:pPr>
            <a:r>
              <a:rPr lang="en-US" sz="1650" dirty="0">
                <a:solidFill>
                  <a:srgbClr val="211C13"/>
                </a:solidFill>
                <a:latin typeface="Noto Sans JP" pitchFamily="34" charset="0"/>
                <a:ea typeface="Noto Sans JP" pitchFamily="34" charset="-122"/>
                <a:cs typeface="Noto Sans JP" pitchFamily="34" charset="-120"/>
              </a:rPr>
              <a:t>IDOR は「次回に持ち越し」と講義で伝える。</a:t>
            </a:r>
            <a:endParaRPr lang="en-US" sz="1650" dirty="0"/>
          </a:p>
        </p:txBody>
      </p:sp>
      <p:pic>
        <p:nvPicPr>
          <p:cNvPr id="23" name="Image 4" descr="gen-dedup-ff3b843c62efd2578b331bdfc9bb7c8f.png">    </p:cNvPr>
          <p:cNvPicPr>
            <a:picLocks noChangeAspect="1"/>
          </p:cNvPicPr>
          <p:nvPr/>
        </p:nvPicPr>
        <p:blipFill>
          <a:blip r:embed="rId4"/>
          <a:srcRect l="-2083" r="-2083" t="0" b="0"/>
          <a:stretch/>
        </p:blipFill>
        <p:spPr>
          <a:xfrm>
            <a:off x="914400" y="9334195"/>
            <a:ext cx="16459200" cy="9144"/>
          </a:xfrm>
          <a:prstGeom prst="rect">
            <a:avLst/>
          </a:prstGeom>
        </p:spPr>
      </p:pic>
      <p:sp>
        <p:nvSpPr>
          <p:cNvPr id="24" name="Shape 16"/>
          <p:cNvSpPr/>
          <p:nvPr/>
        </p:nvSpPr>
        <p:spPr>
          <a:xfrm>
            <a:off x="914400" y="609905"/>
            <a:ext cx="2286000" cy="381305"/>
          </a:xfrm>
          <a:prstGeom prst="roundRect">
            <a:avLst>
              <a:gd name="adj" fmla="val 49880"/>
            </a:avLst>
          </a:prstGeom>
          <a:solidFill>
            <a:srgbClr val="211C13"/>
          </a:solidFill>
          <a:ln w="12700">
            <a:solidFill>
              <a:srgbClr val="FFFFFF">
                <a:alpha val="0"/>
              </a:srgbClr>
            </a:solidFill>
            <a:prstDash val="solid"/>
          </a:ln>
        </p:spPr>
      </p:sp>
      <p:sp>
        <p:nvSpPr>
          <p:cNvPr id="25" name="Text 17"/>
          <p:cNvSpPr txBox="1"/>
          <p:nvPr/>
        </p:nvSpPr>
        <p:spPr>
          <a:xfrm>
            <a:off x="914400" y="1238098"/>
            <a:ext cx="16459200" cy="219456"/>
          </a:xfrm>
          <a:prstGeom prst="rect">
            <a:avLst/>
          </a:prstGeom>
          <a:noFill/>
          <a:ln/>
        </p:spPr>
        <p:txBody>
          <a:bodyPr wrap="none" lIns="0" tIns="0" rIns="0" bIns="0" rtlCol="0" anchor="ctr"/>
          <a:lstStyle/>
          <a:p>
            <a:pPr algn="l" indent="0" marL="0">
              <a:buNone/>
            </a:pPr>
            <a:r>
              <a:rPr lang="en-US" sz="1350" spc="324" kern="0" dirty="0">
                <a:solidFill>
                  <a:srgbClr val="5A4F3F"/>
                </a:solidFill>
                <a:latin typeface="JetBrains Mono" pitchFamily="34" charset="0"/>
                <a:ea typeface="JetBrains Mono" pitchFamily="34" charset="-122"/>
                <a:cs typeface="JetBrains Mono" pitchFamily="34" charset="-120"/>
              </a:rPr>
              <a:t>31 · When the network goes down</a:t>
            </a:r>
            <a:endParaRPr lang="en-US" sz="1350" dirty="0"/>
          </a:p>
        </p:txBody>
      </p:sp>
      <p:sp>
        <p:nvSpPr>
          <p:cNvPr id="26" name="Text 18"/>
          <p:cNvSpPr txBox="1"/>
          <p:nvPr/>
        </p:nvSpPr>
        <p:spPr>
          <a:xfrm>
            <a:off x="914400" y="1533449"/>
            <a:ext cx="16459200" cy="800100"/>
          </a:xfrm>
          <a:prstGeom prst="rect">
            <a:avLst/>
          </a:prstGeom>
          <a:noFill/>
          <a:ln/>
        </p:spPr>
        <p:txBody>
          <a:bodyPr wrap="none" lIns="0" tIns="0" rIns="0" bIns="0" rtlCol="0" anchor="ctr"/>
          <a:lstStyle/>
          <a:p>
            <a:pPr algn="l" indent="0" marL="0">
              <a:buNone/>
            </a:pPr>
            <a:r>
              <a:rPr lang="en-US" sz="6000" b="1" spc="-120" kern="0" dirty="0">
                <a:solidFill>
                  <a:srgbClr val="211C13"/>
                </a:solidFill>
                <a:latin typeface="Zen Kaku Gothic Antique" pitchFamily="34" charset="0"/>
                <a:ea typeface="Zen Kaku Gothic Antique" pitchFamily="34" charset="-122"/>
                <a:cs typeface="Zen Kaku Gothic Antique" pitchFamily="34" charset="-120"/>
              </a:rPr>
              <a:t>通信障害時の代替案</a:t>
            </a:r>
            <a:endParaRPr lang="en-US" sz="6000" dirty="0"/>
          </a:p>
        </p:txBody>
      </p:sp>
      <p:sp>
        <p:nvSpPr>
          <p:cNvPr id="27" name="Text 19"/>
          <p:cNvSpPr txBox="1"/>
          <p:nvPr/>
        </p:nvSpPr>
        <p:spPr>
          <a:xfrm>
            <a:off x="914400" y="2467051"/>
            <a:ext cx="16459200" cy="314554"/>
          </a:xfrm>
          <a:prstGeom prst="rect">
            <a:avLst/>
          </a:prstGeom>
          <a:noFill/>
          <a:ln/>
        </p:spPr>
        <p:txBody>
          <a:bodyPr wrap="none" lIns="0" tIns="0" rIns="0" bIns="0" rtlCol="0" anchor="ctr"/>
          <a:lstStyle/>
          <a:p>
            <a:pPr algn="l" indent="0" marL="0">
              <a:buNone/>
            </a:pPr>
            <a:r>
              <a:rPr lang="en-US" sz="1650" dirty="0">
                <a:solidFill>
                  <a:srgbClr val="5A4F3F"/>
                </a:solidFill>
                <a:latin typeface="Noto Sans JP" pitchFamily="34" charset="0"/>
                <a:ea typeface="Noto Sans JP" pitchFamily="34" charset="-122"/>
                <a:cs typeface="Noto Sans JP" pitchFamily="34" charset="-120"/>
              </a:rPr>
              <a:t>「動かない」を学びにしないため、当日故障やSupabase不調でも進められる4つの形を並べます。</a:t>
            </a:r>
            <a:endParaRPr lang="en-US" sz="1650" dirty="0"/>
          </a:p>
        </p:txBody>
      </p:sp>
      <p:sp>
        <p:nvSpPr>
          <p:cNvPr id="28" name="Text 20"/>
          <p:cNvSpPr txBox="1"/>
          <p:nvPr/>
        </p:nvSpPr>
        <p:spPr>
          <a:xfrm>
            <a:off x="914400" y="9562795"/>
            <a:ext cx="12382805" cy="228600"/>
          </a:xfrm>
          <a:prstGeom prst="rect">
            <a:avLst/>
          </a:prstGeom>
          <a:noFill/>
          <a:ln/>
        </p:spPr>
        <p:txBody>
          <a:bodyPr wrap="none" lIns="0" tIns="0" rIns="0" bIns="0" rtlCol="0" anchor="ctr"/>
          <a:lstStyle/>
          <a:p>
            <a:pPr algn="l" indent="0" marL="0">
              <a:buNone/>
            </a:pPr>
            <a:r>
              <a:rPr lang="en-US" sz="1200" spc="72" kern="0" dirty="0">
                <a:solidFill>
                  <a:srgbClr val="5A4F3F"/>
                </a:solidFill>
                <a:latin typeface="JetBrains Mono" pitchFamily="34" charset="0"/>
                <a:ea typeface="JetBrains Mono" pitchFamily="34" charset="-122"/>
                <a:cs typeface="JetBrains Mono" pitchFamily="34" charset="-120"/>
              </a:rPr>
              <a:t>「動かないから中止」ではなく「動かないでも進められる」を持つこと自体が、教える側の学びになります</a:t>
            </a:r>
            <a:endParaRPr lang="en-US" sz="1200" dirty="0"/>
          </a:p>
        </p:txBody>
      </p:sp>
      <p:sp>
        <p:nvSpPr>
          <p:cNvPr id="29" name="Text 21"/>
          <p:cNvSpPr txBox="1"/>
          <p:nvPr/>
        </p:nvSpPr>
        <p:spPr>
          <a:xfrm>
            <a:off x="15468905" y="9562795"/>
            <a:ext cx="1905610" cy="200254"/>
          </a:xfrm>
          <a:prstGeom prst="rect">
            <a:avLst/>
          </a:prstGeom>
          <a:noFill/>
          <a:ln/>
        </p:spPr>
        <p:txBody>
          <a:bodyPr wrap="none" lIns="0" tIns="0" rIns="0" bIns="0" rtlCol="0" anchor="ctr"/>
          <a:lstStyle/>
          <a:p>
            <a:pPr algn="r" indent="0" marL="0">
              <a:buNone/>
            </a:pPr>
            <a:r>
              <a:rPr lang="en-US" sz="1200" spc="72" kern="0" dirty="0">
                <a:solidFill>
                  <a:srgbClr val="5A4F3F"/>
                </a:solidFill>
                <a:latin typeface="JetBrains Mono" pitchFamily="34" charset="0"/>
                <a:ea typeface="JetBrains Mono" pitchFamily="34" charset="-122"/>
                <a:cs typeface="JetBrains Mono" pitchFamily="34" charset="-120"/>
              </a:rPr>
              <a:t>31 / 32</a:t>
            </a:r>
            <a:endParaRPr lang="en-US" sz="1200" dirty="0"/>
          </a:p>
        </p:txBody>
      </p:sp>
      <p:sp>
        <p:nvSpPr>
          <p:cNvPr id="30" name="Text 22"/>
          <p:cNvSpPr txBox="1"/>
          <p:nvPr/>
        </p:nvSpPr>
        <p:spPr>
          <a:xfrm>
            <a:off x="914400" y="609905"/>
            <a:ext cx="2286000" cy="762610"/>
          </a:xfrm>
          <a:prstGeom prst="rect">
            <a:avLst/>
          </a:prstGeom>
          <a:noFill/>
          <a:ln/>
        </p:spPr>
        <p:txBody>
          <a:bodyPr wrap="square" lIns="0" tIns="0" rIns="0" bIns="0" rtlCol="0" anchor="ctr"/>
          <a:lstStyle/>
          <a:p>
            <a:pPr algn="ctr" indent="0" marL="0">
              <a:lnSpc>
                <a:spcPts val="3000"/>
              </a:lnSpc>
              <a:buNone/>
            </a:pPr>
            <a:r>
              <a:rPr lang="en-US" sz="1050" spc="231" kern="0" dirty="0">
                <a:solidFill>
                  <a:srgbClr val="F5EFDD"/>
                </a:solidFill>
                <a:latin typeface="JetBrains Mono" pitchFamily="34" charset="0"/>
                <a:ea typeface="JetBrains Mono" pitchFamily="34" charset="-122"/>
                <a:cs typeface="JetBrains Mono" pitchFamily="34" charset="-120"/>
              </a:rPr>
              <a:t>INSTRUCTOR · FALLBACK</a:t>
            </a:r>
            <a:endParaRPr lang="en-US" sz="1050" dirty="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EFE7D4"/>
        </a:solidFill>
      </p:bgPr>
    </p:bg>
    <p:spTree>
      <p:nvGrpSpPr>
        <p:cNvPr id="1" name=""/>
        <p:cNvGrpSpPr/>
        <p:nvPr/>
      </p:nvGrpSpPr>
      <p:grpSpPr/>
      <p:sp>
        <p:nvSpPr>
          <p:cNvPr id="3" name="Shape 0"/>
          <p:cNvSpPr/>
          <p:nvPr/>
        </p:nvSpPr>
        <p:spPr>
          <a:xfrm>
            <a:off x="914400" y="2762402"/>
            <a:ext cx="8096098" cy="3429000"/>
          </a:xfrm>
          <a:prstGeom prst="roundRect">
            <a:avLst>
              <a:gd name="adj" fmla="val 1120"/>
            </a:avLst>
          </a:prstGeom>
          <a:solidFill>
            <a:srgbClr val="1B1F25"/>
          </a:solidFill>
          <a:ln w="12700">
            <a:solidFill>
              <a:srgbClr val="FFFFFF">
                <a:alpha val="0"/>
              </a:srgbClr>
            </a:solidFill>
            <a:prstDash val="solid"/>
          </a:ln>
        </p:spPr>
      </p:sp>
      <p:sp>
        <p:nvSpPr>
          <p:cNvPr id="4" name="Shape 1"/>
          <p:cNvSpPr/>
          <p:nvPr/>
        </p:nvSpPr>
        <p:spPr>
          <a:xfrm>
            <a:off x="9277502" y="2762402"/>
            <a:ext cx="8096098" cy="3429000"/>
          </a:xfrm>
          <a:prstGeom prst="roundRect">
            <a:avLst>
              <a:gd name="adj" fmla="val 1120"/>
            </a:avLst>
          </a:prstGeom>
          <a:solidFill>
            <a:srgbClr val="E5DBC4"/>
          </a:solidFill>
          <a:ln w="12700">
            <a:solidFill>
              <a:srgbClr val="FFFFFF">
                <a:alpha val="0"/>
              </a:srgbClr>
            </a:solidFill>
            <a:prstDash val="solid"/>
          </a:ln>
        </p:spPr>
      </p:sp>
      <p:sp>
        <p:nvSpPr>
          <p:cNvPr id="5" name="Shape 2"/>
          <p:cNvSpPr/>
          <p:nvPr/>
        </p:nvSpPr>
        <p:spPr>
          <a:xfrm>
            <a:off x="914400" y="6476695"/>
            <a:ext cx="8096098" cy="2476195"/>
          </a:xfrm>
          <a:prstGeom prst="roundRect">
            <a:avLst>
              <a:gd name="adj" fmla="val 1551"/>
            </a:avLst>
          </a:prstGeom>
          <a:solidFill>
            <a:srgbClr val="E5DBC4"/>
          </a:solidFill>
          <a:ln w="12700">
            <a:solidFill>
              <a:srgbClr val="FFFFFF">
                <a:alpha val="0"/>
              </a:srgbClr>
            </a:solidFill>
            <a:prstDash val="solid"/>
          </a:ln>
        </p:spPr>
      </p:sp>
      <p:sp>
        <p:nvSpPr>
          <p:cNvPr id="6" name="Shape 3"/>
          <p:cNvSpPr/>
          <p:nvPr/>
        </p:nvSpPr>
        <p:spPr>
          <a:xfrm>
            <a:off x="9277502" y="6476695"/>
            <a:ext cx="8096098" cy="2476195"/>
          </a:xfrm>
          <a:prstGeom prst="roundRect">
            <a:avLst>
              <a:gd name="adj" fmla="val 1551"/>
            </a:avLst>
          </a:prstGeom>
          <a:solidFill>
            <a:srgbClr val="E5DBC4"/>
          </a:solidFill>
          <a:ln w="12700">
            <a:solidFill>
              <a:srgbClr val="FFFFFF">
                <a:alpha val="0"/>
              </a:srgbClr>
            </a:solidFill>
            <a:prstDash val="solid"/>
          </a:ln>
        </p:spPr>
      </p:sp>
      <p:sp>
        <p:nvSpPr>
          <p:cNvPr id="7" name="Text 4"/>
          <p:cNvSpPr txBox="1"/>
          <p:nvPr/>
        </p:nvSpPr>
        <p:spPr>
          <a:xfrm>
            <a:off x="1218895" y="3029407"/>
            <a:ext cx="7525512" cy="228600"/>
          </a:xfrm>
          <a:prstGeom prst="rect">
            <a:avLst/>
          </a:prstGeom>
          <a:noFill/>
          <a:ln/>
        </p:spPr>
        <p:txBody>
          <a:bodyPr wrap="none" lIns="0" tIns="0" rIns="0" bIns="0" rtlCol="0" anchor="ctr"/>
          <a:lstStyle/>
          <a:p>
            <a:pPr algn="l" indent="0" marL="0">
              <a:buNone/>
            </a:pPr>
            <a:r>
              <a:rPr lang="en-US" sz="1200" spc="216" kern="0" dirty="0">
                <a:solidFill>
                  <a:srgbClr val="D4922A"/>
                </a:solidFill>
                <a:latin typeface="JetBrains Mono" pitchFamily="34" charset="0"/>
                <a:ea typeface="JetBrains Mono" pitchFamily="34" charset="-122"/>
                <a:cs typeface="JetBrains Mono" pitchFamily="34" charset="-120"/>
              </a:rPr>
              <a:t>Base64 本文の扱い</a:t>
            </a:r>
            <a:endParaRPr lang="en-US" sz="1200" dirty="0"/>
          </a:p>
        </p:txBody>
      </p:sp>
      <p:sp>
        <p:nvSpPr>
          <p:cNvPr id="8" name="Text 5"/>
          <p:cNvSpPr txBox="1"/>
          <p:nvPr/>
        </p:nvSpPr>
        <p:spPr>
          <a:xfrm>
            <a:off x="1218895" y="3359506"/>
            <a:ext cx="7525512" cy="974750"/>
          </a:xfrm>
          <a:prstGeom prst="rect">
            <a:avLst/>
          </a:prstGeom>
          <a:noFill/>
          <a:ln/>
        </p:spPr>
        <p:txBody>
          <a:bodyPr wrap="square" lIns="0" tIns="0" rIns="0" bIns="0" rtlCol="0" anchor="t"/>
          <a:lstStyle/>
          <a:p>
            <a:pPr algn="l" indent="0" marL="0">
              <a:lnSpc>
                <a:spcPts val="2475"/>
              </a:lnSpc>
              <a:buNone/>
            </a:pPr>
            <a:r>
              <a:rPr lang="en-US" sz="1650" dirty="0">
                <a:solidFill>
                  <a:srgbClr val="F5EFDD"/>
                </a:solidFill>
                <a:latin typeface="Noto Sans JP" pitchFamily="34" charset="0"/>
                <a:ea typeface="Noto Sans JP" pitchFamily="34" charset="-122"/>
                <a:cs typeface="Noto Sans JP" pitchFamily="34" charset="-120"/>
              </a:rPr>
              <a:t>教材 API はリクエスト本文を Base64 で送ることがあります。</a:t>
            </a:r>
            <a:pPr algn="l" indent="0" marL="0">
              <a:lnSpc>
                <a:spcPts val="2475"/>
              </a:lnSpc>
              <a:buNone/>
            </a:pPr>
            <a:endParaRPr lang="en-US" sz="1650" dirty="0"/>
          </a:p>
          <a:p>
            <a:pPr algn="l" indent="0" marL="0">
              <a:lnSpc>
                <a:spcPts val="2475"/>
              </a:lnSpc>
              <a:buNone/>
            </a:pPr>
            <a:r>
              <a:rPr lang="en-US" sz="1650" dirty="0">
                <a:solidFill>
                  <a:srgbClr val="F5EFDD"/>
                </a:solidFill>
                <a:latin typeface="Noto Sans JP" pitchFamily="34" charset="0"/>
                <a:ea typeface="Noto Sans JP" pitchFamily="34" charset="-122"/>
                <a:cs typeface="Noto Sans JP" pitchFamily="34" charset="-120"/>
              </a:rPr>
              <a:t>これは</a:t>
            </a:r>
            <a:pPr algn="l" indent="0" marL="0">
              <a:lnSpc>
                <a:spcPts val="2475"/>
              </a:lnSpc>
              <a:buNone/>
            </a:pPr>
            <a:r>
              <a:rPr lang="en-US" sz="1650" b="1" dirty="0">
                <a:solidFill>
                  <a:srgbClr val="F5EFDD"/>
                </a:solidFill>
                <a:latin typeface="Noto Sans JP" pitchFamily="34" charset="0"/>
                <a:ea typeface="Noto Sans JP" pitchFamily="34" charset="-122"/>
                <a:cs typeface="Noto Sans JP" pitchFamily="34" charset="-120"/>
              </a:rPr>
              <a:t>難読化であって暗号化でも SQLi 対策でもありません</a:t>
            </a:r>
            <a:pPr algn="l" indent="0" marL="0">
              <a:lnSpc>
                <a:spcPts val="2475"/>
              </a:lnSpc>
              <a:buNone/>
            </a:pPr>
            <a:r>
              <a:rPr lang="en-US" sz="1650" dirty="0">
                <a:solidFill>
                  <a:srgbClr val="F5EFDD"/>
                </a:solidFill>
                <a:latin typeface="Noto Sans JP" pitchFamily="34" charset="0"/>
                <a:ea typeface="Noto Sans JP" pitchFamily="34" charset="-122"/>
                <a:cs typeface="Noto Sans JP" pitchFamily="34" charset="-120"/>
              </a:rPr>
              <a:t>。</a:t>
            </a:r>
            <a:pPr algn="l" indent="0" marL="0">
              <a:lnSpc>
                <a:spcPts val="2475"/>
              </a:lnSpc>
              <a:buNone/>
            </a:pPr>
            <a:endParaRPr lang="en-US" sz="1650" dirty="0"/>
          </a:p>
          <a:p>
            <a:pPr algn="l" indent="0" marL="0">
              <a:lnSpc>
                <a:spcPts val="2475"/>
              </a:lnSpc>
              <a:buNone/>
            </a:pPr>
            <a:r>
              <a:rPr lang="en-US" sz="1650" dirty="0">
                <a:solidFill>
                  <a:srgbClr val="F5EFDD"/>
                </a:solidFill>
                <a:latin typeface="Noto Sans JP" pitchFamily="34" charset="0"/>
                <a:ea typeface="Noto Sans JP" pitchFamily="34" charset="-122"/>
                <a:cs typeface="Noto Sans JP" pitchFamily="34" charset="-120"/>
              </a:rPr>
              <a:t>DevTools で読み替えるだけです。</a:t>
            </a:r>
            <a:endParaRPr lang="en-US" sz="1650" dirty="0"/>
          </a:p>
        </p:txBody>
      </p:sp>
      <p:sp>
        <p:nvSpPr>
          <p:cNvPr id="9" name="Text 6"/>
          <p:cNvSpPr txBox="1"/>
          <p:nvPr/>
        </p:nvSpPr>
        <p:spPr>
          <a:xfrm>
            <a:off x="1218895" y="4524451"/>
            <a:ext cx="7525512" cy="534010"/>
          </a:xfrm>
          <a:prstGeom prst="rect">
            <a:avLst/>
          </a:prstGeom>
          <a:noFill/>
          <a:ln/>
        </p:spPr>
        <p:txBody>
          <a:bodyPr wrap="square" lIns="0" tIns="0" rIns="0" bIns="0" rtlCol="0" anchor="ctr"/>
          <a:lstStyle/>
          <a:p>
            <a:pPr algn="l" indent="0" marL="0">
              <a:lnSpc>
                <a:spcPts val="2092"/>
              </a:lnSpc>
              <a:buNone/>
            </a:pPr>
            <a:r>
              <a:rPr lang="en-US" sz="1350" dirty="0">
                <a:solidFill>
                  <a:srgbClr val="ECE4D2"/>
                </a:solidFill>
                <a:latin typeface="JetBrains Mono" pitchFamily="34" charset="0"/>
                <a:ea typeface="JetBrains Mono" pitchFamily="34" charset="-122"/>
                <a:cs typeface="JetBrains Mono" pitchFamily="34" charset="-120"/>
              </a:rPr>
              <a:t>const decoded = atob(observedBody); console.log(decoded); // 組み立て直すとき btoa(JSON.stringify({ ... }))</a:t>
            </a:r>
            <a:endParaRPr lang="en-US" sz="1350" dirty="0"/>
          </a:p>
        </p:txBody>
      </p:sp>
      <p:sp>
        <p:nvSpPr>
          <p:cNvPr id="10" name="Text 7"/>
          <p:cNvSpPr txBox="1"/>
          <p:nvPr/>
        </p:nvSpPr>
        <p:spPr>
          <a:xfrm>
            <a:off x="9581998" y="3029407"/>
            <a:ext cx="7525512" cy="228600"/>
          </a:xfrm>
          <a:prstGeom prst="rect">
            <a:avLst/>
          </a:prstGeom>
          <a:noFill/>
          <a:ln/>
        </p:spPr>
        <p:txBody>
          <a:bodyPr wrap="none" lIns="0" tIns="0" rIns="0" bIns="0" rtlCol="0" anchor="ctr"/>
          <a:lstStyle/>
          <a:p>
            <a:pPr algn="l" indent="0" marL="0">
              <a:buNone/>
            </a:pPr>
            <a:r>
              <a:rPr lang="en-US" sz="1200" spc="216" kern="0" dirty="0">
                <a:solidFill>
                  <a:srgbClr val="5A4F3F"/>
                </a:solidFill>
                <a:latin typeface="JetBrains Mono" pitchFamily="34" charset="0"/>
                <a:ea typeface="JetBrains Mono" pitchFamily="34" charset="-122"/>
                <a:cs typeface="JetBrains Mono" pitchFamily="34" charset="-120"/>
              </a:rPr>
              <a:t>Console から投げる fetch</a:t>
            </a:r>
            <a:endParaRPr lang="en-US" sz="1200" dirty="0"/>
          </a:p>
        </p:txBody>
      </p:sp>
      <p:sp>
        <p:nvSpPr>
          <p:cNvPr id="11" name="Text 8"/>
          <p:cNvSpPr txBox="1"/>
          <p:nvPr/>
        </p:nvSpPr>
        <p:spPr>
          <a:xfrm>
            <a:off x="9581998" y="3354019"/>
            <a:ext cx="7525512" cy="694030"/>
          </a:xfrm>
          <a:prstGeom prst="rect">
            <a:avLst/>
          </a:prstGeom>
          <a:noFill/>
          <a:ln/>
        </p:spPr>
        <p:txBody>
          <a:bodyPr wrap="square" lIns="0" tIns="0" rIns="0" bIns="0" rtlCol="0" anchor="t"/>
          <a:lstStyle/>
          <a:p>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教材アプリの Console で、講師が実演してから各自で。</a:t>
            </a:r>
            <a:pPr algn="l" indent="0" marL="0">
              <a:lnSpc>
                <a:spcPts val="2558"/>
              </a:lnSpc>
              <a:buNone/>
            </a:pPr>
            <a:endParaRPr lang="en-US" sz="1650" dirty="0"/>
          </a:p>
          <a:p>
            <a:pPr algn="l" indent="0" marL="0">
              <a:lnSpc>
                <a:spcPts val="2558"/>
              </a:lnSpc>
              <a:buNone/>
            </a:pPr>
            <a:r>
              <a:rPr lang="en-US" sz="1650" b="1" dirty="0">
                <a:solidFill>
                  <a:srgbClr val="211C13"/>
                </a:solidFill>
                <a:latin typeface="Noto Sans JP" pitchFamily="34" charset="0"/>
                <a:ea typeface="Noto Sans JP" pitchFamily="34" charset="-122"/>
                <a:cs typeface="Noto Sans JP" pitchFamily="34" charset="-120"/>
              </a:rPr>
              <a:t>Preserve log</a:t>
            </a:r>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 を必ず有効にしておきます。</a:t>
            </a:r>
            <a:endParaRPr lang="en-US" sz="1650" dirty="0"/>
          </a:p>
        </p:txBody>
      </p:sp>
      <p:sp>
        <p:nvSpPr>
          <p:cNvPr id="12" name="Shape 9"/>
          <p:cNvSpPr/>
          <p:nvPr/>
        </p:nvSpPr>
        <p:spPr>
          <a:xfrm>
            <a:off x="9581998" y="4230929"/>
            <a:ext cx="7524598" cy="819302"/>
          </a:xfrm>
          <a:prstGeom prst="roundRect">
            <a:avLst>
              <a:gd name="adj" fmla="val 3460"/>
            </a:avLst>
          </a:prstGeom>
          <a:solidFill>
            <a:srgbClr val="211C13">
              <a:alpha val="6000"/>
            </a:srgbClr>
          </a:solidFill>
          <a:ln w="12700">
            <a:solidFill>
              <a:srgbClr val="FFFFFF">
                <a:alpha val="0"/>
              </a:srgbClr>
            </a:solidFill>
            <a:prstDash val="solid"/>
          </a:ln>
        </p:spPr>
      </p:sp>
      <p:sp>
        <p:nvSpPr>
          <p:cNvPr id="13" name="Text 10"/>
          <p:cNvSpPr txBox="1"/>
          <p:nvPr/>
        </p:nvSpPr>
        <p:spPr>
          <a:xfrm>
            <a:off x="9581998" y="4230929"/>
            <a:ext cx="7525512" cy="819302"/>
          </a:xfrm>
          <a:prstGeom prst="rect">
            <a:avLst/>
          </a:prstGeom>
          <a:solidFill>
            <a:srgbClr val="FFFFFF">
              <a:alpha val="0"/>
            </a:srgbClr>
          </a:solidFill>
          <a:ln>
            <a:solidFill>
              <a:srgbClr val="FFFFFF">
                <a:alpha val="0"/>
              </a:srgbClr>
            </a:solidFill>
          </a:ln>
        </p:spPr>
        <p:txBody>
          <a:bodyPr wrap="square" lIns="139700" tIns="139700" rIns="139700" bIns="139700" rtlCol="0" anchor="ctr"/>
          <a:lstStyle/>
          <a:p>
            <a:pPr algn="l" indent="0" marL="0">
              <a:lnSpc>
                <a:spcPts val="2160"/>
              </a:lnSpc>
              <a:buNone/>
            </a:pPr>
            <a:r>
              <a:rPr lang="en-US" sz="1350" dirty="0">
                <a:solidFill>
                  <a:srgbClr val="211C13"/>
                </a:solidFill>
                <a:latin typeface="JetBrains Mono" pitchFamily="34" charset="0"/>
                <a:ea typeface="JetBrains Mono" pitchFamily="34" charset="-122"/>
                <a:cs typeface="JetBrains Mono" pitchFamily="34" charset="-120"/>
              </a:rPr>
              <a:t>const r = await fetch(url, { headers: { Authorization: "Bearer " + token } }); const data = await r.json();</a:t>
            </a:r>
            <a:endParaRPr lang="en-US" sz="1350" dirty="0"/>
          </a:p>
        </p:txBody>
      </p:sp>
      <p:sp>
        <p:nvSpPr>
          <p:cNvPr id="14" name="Text 11"/>
          <p:cNvSpPr txBox="1"/>
          <p:nvPr/>
        </p:nvSpPr>
        <p:spPr>
          <a:xfrm>
            <a:off x="1218895" y="6743700"/>
            <a:ext cx="7525512" cy="228600"/>
          </a:xfrm>
          <a:prstGeom prst="rect">
            <a:avLst/>
          </a:prstGeom>
          <a:noFill/>
          <a:ln/>
        </p:spPr>
        <p:txBody>
          <a:bodyPr wrap="none" lIns="0" tIns="0" rIns="0" bIns="0" rtlCol="0" anchor="ctr"/>
          <a:lstStyle/>
          <a:p>
            <a:pPr algn="l" indent="0" marL="0">
              <a:buNone/>
            </a:pPr>
            <a:r>
              <a:rPr lang="en-US" sz="1200" spc="216" kern="0" dirty="0">
                <a:solidFill>
                  <a:srgbClr val="B63A2A"/>
                </a:solidFill>
                <a:latin typeface="JetBrains Mono" pitchFamily="34" charset="0"/>
                <a:ea typeface="JetBrains Mono" pitchFamily="34" charset="-122"/>
                <a:cs typeface="JetBrains Mono" pitchFamily="34" charset="-120"/>
              </a:rPr>
              <a:t>トークンの扱い</a:t>
            </a:r>
            <a:endParaRPr lang="en-US" sz="1200" dirty="0"/>
          </a:p>
        </p:txBody>
      </p:sp>
      <p:sp>
        <p:nvSpPr>
          <p:cNvPr id="15" name="Text 12"/>
          <p:cNvSpPr txBox="1"/>
          <p:nvPr/>
        </p:nvSpPr>
        <p:spPr>
          <a:xfrm>
            <a:off x="1218895" y="7069226"/>
            <a:ext cx="7525512" cy="1017727"/>
          </a:xfrm>
          <a:prstGeom prst="rect">
            <a:avLst/>
          </a:prstGeom>
          <a:noFill/>
          <a:ln/>
        </p:spPr>
        <p:txBody>
          <a:bodyPr wrap="square" lIns="0" tIns="0" rIns="0" bIns="0" rtlCol="0" anchor="t"/>
          <a:lstStyle/>
          <a:p>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認証トークンは</a:t>
            </a:r>
            <a:pPr algn="l" indent="0" marL="0">
              <a:lnSpc>
                <a:spcPts val="2558"/>
              </a:lnSpc>
              <a:buNone/>
            </a:pPr>
            <a:r>
              <a:rPr lang="en-US" sz="1650" b="1" dirty="0">
                <a:solidFill>
                  <a:srgbClr val="211C13"/>
                </a:solidFill>
                <a:latin typeface="Noto Sans JP" pitchFamily="34" charset="0"/>
                <a:ea typeface="Noto Sans JP" pitchFamily="34" charset="-122"/>
                <a:cs typeface="Noto Sans JP" pitchFamily="34" charset="-120"/>
              </a:rPr>
              <a:t>参加者各自の DevTools</a:t>
            </a:r>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から。</a:t>
            </a:r>
            <a:pPr algn="l" indent="0" marL="0">
              <a:lnSpc>
                <a:spcPts val="2558"/>
              </a:lnSpc>
              <a:buNone/>
            </a:pPr>
            <a:endParaRPr lang="en-US" sz="1650" dirty="0"/>
          </a:p>
          <a:p>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このスライド・チャット・画面投影に実値を写さない。</a:t>
            </a:r>
            <a:pPr algn="l" indent="0" marL="0">
              <a:lnSpc>
                <a:spcPts val="2558"/>
              </a:lnSpc>
              <a:buNone/>
            </a:pPr>
            <a:endParaRPr lang="en-US" sz="1650" dirty="0"/>
          </a:p>
          <a:p>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共有画面へ貼る必要がある場合は</a:t>
            </a:r>
            <a:pPr algn="l" indent="0" marL="0">
              <a:lnSpc>
                <a:spcPts val="2558"/>
              </a:lnSpc>
              <a:buNone/>
            </a:pPr>
            <a:r>
              <a:rPr lang="en-US" sz="1650" b="1" dirty="0">
                <a:solidFill>
                  <a:srgbClr val="211C13"/>
                </a:solidFill>
                <a:latin typeface="Noto Sans JP" pitchFamily="34" charset="0"/>
                <a:ea typeface="Noto Sans JP" pitchFamily="34" charset="-122"/>
                <a:cs typeface="Noto Sans JP" pitchFamily="34" charset="-120"/>
              </a:rPr>
              <a:t>即座に無効化</a:t>
            </a:r>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する。</a:t>
            </a:r>
            <a:endParaRPr lang="en-US" sz="1650" dirty="0"/>
          </a:p>
        </p:txBody>
      </p:sp>
      <p:sp>
        <p:nvSpPr>
          <p:cNvPr id="16" name="Text 13"/>
          <p:cNvSpPr txBox="1"/>
          <p:nvPr/>
        </p:nvSpPr>
        <p:spPr>
          <a:xfrm>
            <a:off x="9581998" y="6743700"/>
            <a:ext cx="7525512" cy="228600"/>
          </a:xfrm>
          <a:prstGeom prst="rect">
            <a:avLst/>
          </a:prstGeom>
          <a:noFill/>
          <a:ln/>
        </p:spPr>
        <p:txBody>
          <a:bodyPr wrap="none" lIns="0" tIns="0" rIns="0" bIns="0" rtlCol="0" anchor="ctr"/>
          <a:lstStyle/>
          <a:p>
            <a:pPr algn="l" indent="0" marL="0">
              <a:buNone/>
            </a:pPr>
            <a:r>
              <a:rPr lang="en-US" sz="1200" spc="216" kern="0" dirty="0">
                <a:solidFill>
                  <a:srgbClr val="5A4F3F"/>
                </a:solidFill>
                <a:latin typeface="JetBrains Mono" pitchFamily="34" charset="0"/>
                <a:ea typeface="JetBrains Mono" pitchFamily="34" charset="-122"/>
                <a:cs typeface="JetBrains Mono" pitchFamily="34" charset="-120"/>
              </a:rPr>
              <a:t>模式注記の運用</a:t>
            </a:r>
            <a:endParaRPr lang="en-US" sz="1200" dirty="0"/>
          </a:p>
        </p:txBody>
      </p:sp>
      <p:sp>
        <p:nvSpPr>
          <p:cNvPr id="17" name="Text 14"/>
          <p:cNvSpPr txBox="1"/>
          <p:nvPr/>
        </p:nvSpPr>
        <p:spPr>
          <a:xfrm>
            <a:off x="9581998" y="7069226"/>
            <a:ext cx="7525512" cy="1017727"/>
          </a:xfrm>
          <a:prstGeom prst="rect">
            <a:avLst/>
          </a:prstGeom>
          <a:noFill/>
          <a:ln/>
        </p:spPr>
        <p:txBody>
          <a:bodyPr wrap="square" lIns="0" tIns="0" rIns="0" bIns="0" rtlCol="0" anchor="t"/>
          <a:lstStyle/>
          <a:p>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実画面を確認できない箇所は</a:t>
            </a:r>
            <a:pPr algn="l" indent="0" marL="0">
              <a:lnSpc>
                <a:spcPts val="2558"/>
              </a:lnSpc>
              <a:buNone/>
            </a:pPr>
            <a:r>
              <a:rPr lang="en-US" sz="1650" b="1" dirty="0">
                <a:solidFill>
                  <a:srgbClr val="211C13"/>
                </a:solidFill>
                <a:latin typeface="Noto Sans JP" pitchFamily="34" charset="0"/>
                <a:ea typeface="Noto Sans JP" pitchFamily="34" charset="-122"/>
                <a:cs typeface="Noto Sans JP" pitchFamily="34" charset="-120"/>
              </a:rPr>
              <a:t>「模式図」</a:t>
            </a:r>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と明記。</a:t>
            </a:r>
            <a:pPr algn="l" indent="0" marL="0">
              <a:lnSpc>
                <a:spcPts val="2558"/>
              </a:lnSpc>
              <a:buNone/>
            </a:pPr>
            <a:endParaRPr lang="en-US" sz="1650" dirty="0"/>
          </a:p>
          <a:p>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確認できた範囲だけ「教材で確認した一例」と表現。</a:t>
            </a:r>
            <a:pPr algn="l" indent="0" marL="0">
              <a:lnSpc>
                <a:spcPts val="2558"/>
              </a:lnSpc>
              <a:buNone/>
            </a:pPr>
            <a:endParaRPr lang="en-US" sz="1650" dirty="0"/>
          </a:p>
          <a:p>
            <a:pPr algn="l" indent="0" marL="0">
              <a:lnSpc>
                <a:spcPts val="2558"/>
              </a:lnSpc>
              <a:buNone/>
            </a:pPr>
            <a:r>
              <a:rPr lang="en-US" sz="1650" dirty="0">
                <a:solidFill>
                  <a:srgbClr val="211C13"/>
                </a:solidFill>
                <a:latin typeface="Noto Sans JP" pitchFamily="34" charset="0"/>
                <a:ea typeface="Noto Sans JP" pitchFamily="34" charset="-122"/>
                <a:cs typeface="Noto Sans JP" pitchFamily="34" charset="-120"/>
              </a:rPr>
              <a:t>未実装・未確認の機能は確認済みと書かない。</a:t>
            </a:r>
            <a:endParaRPr lang="en-US" sz="1650" dirty="0"/>
          </a:p>
        </p:txBody>
      </p:sp>
      <p:pic>
        <p:nvPicPr>
          <p:cNvPr id="18" name="Image 0" descr="gen-dedup-ff3b843c62efd2578b331bdfc9bb7c8f.png">    </p:cNvPr>
          <p:cNvPicPr>
            <a:picLocks noChangeAspect="1"/>
          </p:cNvPicPr>
          <p:nvPr/>
        </p:nvPicPr>
        <p:blipFill>
          <a:blip r:embed="rId2"/>
          <a:srcRect l="-2083" r="-2083" t="0" b="0"/>
          <a:stretch/>
        </p:blipFill>
        <p:spPr>
          <a:xfrm>
            <a:off x="914400" y="9334195"/>
            <a:ext cx="16459200" cy="9144"/>
          </a:xfrm>
          <a:prstGeom prst="rect">
            <a:avLst/>
          </a:prstGeom>
        </p:spPr>
      </p:pic>
      <p:sp>
        <p:nvSpPr>
          <p:cNvPr id="19" name="Shape 15"/>
          <p:cNvSpPr/>
          <p:nvPr/>
        </p:nvSpPr>
        <p:spPr>
          <a:xfrm>
            <a:off x="914400" y="609905"/>
            <a:ext cx="2286000" cy="381305"/>
          </a:xfrm>
          <a:prstGeom prst="roundRect">
            <a:avLst>
              <a:gd name="adj" fmla="val 49880"/>
            </a:avLst>
          </a:prstGeom>
          <a:solidFill>
            <a:srgbClr val="211C13"/>
          </a:solidFill>
          <a:ln w="12700">
            <a:solidFill>
              <a:srgbClr val="FFFFFF">
                <a:alpha val="0"/>
              </a:srgbClr>
            </a:solidFill>
            <a:prstDash val="solid"/>
          </a:ln>
        </p:spPr>
      </p:sp>
      <p:sp>
        <p:nvSpPr>
          <p:cNvPr id="20" name="Text 16"/>
          <p:cNvSpPr txBox="1"/>
          <p:nvPr/>
        </p:nvSpPr>
        <p:spPr>
          <a:xfrm>
            <a:off x="914400" y="1238098"/>
            <a:ext cx="16459200" cy="219456"/>
          </a:xfrm>
          <a:prstGeom prst="rect">
            <a:avLst/>
          </a:prstGeom>
          <a:noFill/>
          <a:ln/>
        </p:spPr>
        <p:txBody>
          <a:bodyPr wrap="none" lIns="0" tIns="0" rIns="0" bIns="0" rtlCol="0" anchor="ctr"/>
          <a:lstStyle/>
          <a:p>
            <a:pPr algn="l" indent="0" marL="0">
              <a:buNone/>
            </a:pPr>
            <a:r>
              <a:rPr lang="en-US" sz="1350" spc="324" kern="0" dirty="0">
                <a:solidFill>
                  <a:srgbClr val="5A4F3F"/>
                </a:solidFill>
                <a:latin typeface="JetBrains Mono" pitchFamily="34" charset="0"/>
                <a:ea typeface="JetBrains Mono" pitchFamily="34" charset="-122"/>
                <a:cs typeface="JetBrains Mono" pitchFamily="34" charset="-120"/>
              </a:rPr>
              <a:t>32 · Supplementary notes</a:t>
            </a:r>
            <a:endParaRPr lang="en-US" sz="1350" dirty="0"/>
          </a:p>
        </p:txBody>
      </p:sp>
      <p:sp>
        <p:nvSpPr>
          <p:cNvPr id="21" name="Text 17"/>
          <p:cNvSpPr txBox="1"/>
          <p:nvPr/>
        </p:nvSpPr>
        <p:spPr>
          <a:xfrm>
            <a:off x="914400" y="1533449"/>
            <a:ext cx="16459200" cy="800100"/>
          </a:xfrm>
          <a:prstGeom prst="rect">
            <a:avLst/>
          </a:prstGeom>
          <a:noFill/>
          <a:ln/>
        </p:spPr>
        <p:txBody>
          <a:bodyPr wrap="none" lIns="0" tIns="0" rIns="0" bIns="0" rtlCol="0" anchor="ctr"/>
          <a:lstStyle/>
          <a:p>
            <a:pPr algn="l" indent="0" marL="0">
              <a:buNone/>
            </a:pPr>
            <a:r>
              <a:rPr lang="en-US" sz="6000" b="1" spc="-120" kern="0" dirty="0">
                <a:solidFill>
                  <a:srgbClr val="211C13"/>
                </a:solidFill>
                <a:latin typeface="Zen Kaku Gothic Antique" pitchFamily="34" charset="0"/>
                <a:ea typeface="Zen Kaku Gothic Antique" pitchFamily="34" charset="-122"/>
                <a:cs typeface="Zen Kaku Gothic Antique" pitchFamily="34" charset="-120"/>
              </a:rPr>
              <a:t>DevTools と本文の読み方</a:t>
            </a:r>
            <a:endParaRPr lang="en-US" sz="6000" dirty="0"/>
          </a:p>
        </p:txBody>
      </p:sp>
      <p:sp>
        <p:nvSpPr>
          <p:cNvPr id="22" name="Text 18"/>
          <p:cNvSpPr txBox="1"/>
          <p:nvPr/>
        </p:nvSpPr>
        <p:spPr>
          <a:xfrm>
            <a:off x="914400" y="9562795"/>
            <a:ext cx="12382805" cy="228600"/>
          </a:xfrm>
          <a:prstGeom prst="rect">
            <a:avLst/>
          </a:prstGeom>
          <a:noFill/>
          <a:ln/>
        </p:spPr>
        <p:txBody>
          <a:bodyPr wrap="none" lIns="0" tIns="0" rIns="0" bIns="0" rtlCol="0" anchor="ctr"/>
          <a:lstStyle/>
          <a:p>
            <a:pPr algn="l" indent="0" marL="0">
              <a:buNone/>
            </a:pPr>
            <a:r>
              <a:rPr lang="en-US" sz="1200" spc="72" kern="0" dirty="0">
                <a:solidFill>
                  <a:srgbClr val="5A4F3F"/>
                </a:solidFill>
                <a:latin typeface="JetBrains Mono" pitchFamily="34" charset="0"/>
                <a:ea typeface="JetBrains Mono" pitchFamily="34" charset="-122"/>
                <a:cs typeface="JetBrains Mono" pitchFamily="34" charset="-120"/>
              </a:rPr>
              <a:t>URL は文字列のまま — マークダウンリンクにしない。このデッキは Markdown からコピペされる前提ではない</a:t>
            </a:r>
            <a:endParaRPr lang="en-US" sz="1200" dirty="0"/>
          </a:p>
        </p:txBody>
      </p:sp>
      <p:sp>
        <p:nvSpPr>
          <p:cNvPr id="23" name="Text 19"/>
          <p:cNvSpPr txBox="1"/>
          <p:nvPr/>
        </p:nvSpPr>
        <p:spPr>
          <a:xfrm>
            <a:off x="15468905" y="9562795"/>
            <a:ext cx="1905610" cy="200254"/>
          </a:xfrm>
          <a:prstGeom prst="rect">
            <a:avLst/>
          </a:prstGeom>
          <a:noFill/>
          <a:ln/>
        </p:spPr>
        <p:txBody>
          <a:bodyPr wrap="none" lIns="0" tIns="0" rIns="0" bIns="0" rtlCol="0" anchor="ctr"/>
          <a:lstStyle/>
          <a:p>
            <a:pPr algn="r" indent="0" marL="0">
              <a:buNone/>
            </a:pPr>
            <a:r>
              <a:rPr lang="en-US" sz="1200" spc="72" kern="0" dirty="0">
                <a:solidFill>
                  <a:srgbClr val="5A4F3F"/>
                </a:solidFill>
                <a:latin typeface="JetBrains Mono" pitchFamily="34" charset="0"/>
                <a:ea typeface="JetBrains Mono" pitchFamily="34" charset="-122"/>
                <a:cs typeface="JetBrains Mono" pitchFamily="34" charset="-120"/>
              </a:rPr>
              <a:t>32 / 32</a:t>
            </a:r>
            <a:endParaRPr lang="en-US" sz="1200" dirty="0"/>
          </a:p>
        </p:txBody>
      </p:sp>
      <p:sp>
        <p:nvSpPr>
          <p:cNvPr id="24" name="Text 20"/>
          <p:cNvSpPr txBox="1"/>
          <p:nvPr/>
        </p:nvSpPr>
        <p:spPr>
          <a:xfrm>
            <a:off x="914400" y="609905"/>
            <a:ext cx="2286000" cy="762610"/>
          </a:xfrm>
          <a:prstGeom prst="rect">
            <a:avLst/>
          </a:prstGeom>
          <a:noFill/>
          <a:ln/>
        </p:spPr>
        <p:txBody>
          <a:bodyPr wrap="square" lIns="0" tIns="0" rIns="0" bIns="0" rtlCol="0" anchor="ctr"/>
          <a:lstStyle/>
          <a:p>
            <a:pPr algn="ctr" indent="0" marL="0">
              <a:lnSpc>
                <a:spcPts val="3000"/>
              </a:lnSpc>
              <a:buNone/>
            </a:pPr>
            <a:r>
              <a:rPr lang="en-US" sz="1050" spc="231" kern="0" dirty="0">
                <a:solidFill>
                  <a:srgbClr val="F5EFDD"/>
                </a:solidFill>
                <a:latin typeface="JetBrains Mono" pitchFamily="34" charset="0"/>
                <a:ea typeface="JetBrains Mono" pitchFamily="34" charset="-122"/>
                <a:cs typeface="JetBrains Mono" pitchFamily="34" charset="-120"/>
              </a:rPr>
              <a:t>INSTRUCTOR · DEVTOOLS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2026-10-18T22:49:06Z</dcterms:created>
  <dcterms:modified xsi:type="dcterms:W3CDTF">2026-10-18T22:49:06Z</dcterms:modified>
</cp:coreProperties>
</file>